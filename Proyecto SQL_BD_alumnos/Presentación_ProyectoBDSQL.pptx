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Roboto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fkZloB9sdkWCaPo9/gTJ9QcRl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RobotoMono-bold.fntdata"/><Relationship Id="rId21" Type="http://schemas.openxmlformats.org/officeDocument/2006/relationships/font" Target="fonts/RobotoMono-regular.fntdata"/><Relationship Id="rId24" Type="http://schemas.openxmlformats.org/officeDocument/2006/relationships/font" Target="fonts/RobotoMono-boldItalic.fntdata"/><Relationship Id="rId23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67634e47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8b67634e47_2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b67634e4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8b67634e47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b67634e47_1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8b67634e47_1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aw.io" TargetMode="External"/><Relationship Id="rId4" Type="http://schemas.openxmlformats.org/officeDocument/2006/relationships/hyperlink" Target="http://draw.io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205776" y="-290073"/>
            <a:ext cx="6157684" cy="10729336"/>
            <a:chOff x="0" y="-28575"/>
            <a:chExt cx="1621777" cy="282583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621777" cy="2797258"/>
            </a:xfrm>
            <a:custGeom>
              <a:rect b="b" l="l" r="r" t="t"/>
              <a:pathLst>
                <a:path extrusionOk="0" h="2797258" w="1621777">
                  <a:moveTo>
                    <a:pt x="28917" y="0"/>
                  </a:moveTo>
                  <a:lnTo>
                    <a:pt x="1592859" y="0"/>
                  </a:lnTo>
                  <a:cubicBezTo>
                    <a:pt x="1608830" y="0"/>
                    <a:pt x="1621777" y="12947"/>
                    <a:pt x="1621777" y="28917"/>
                  </a:cubicBezTo>
                  <a:lnTo>
                    <a:pt x="1621777" y="2768341"/>
                  </a:lnTo>
                  <a:cubicBezTo>
                    <a:pt x="1621777" y="2784311"/>
                    <a:pt x="1608830" y="2797258"/>
                    <a:pt x="1592859" y="2797258"/>
                  </a:cubicBezTo>
                  <a:lnTo>
                    <a:pt x="28917" y="2797258"/>
                  </a:lnTo>
                  <a:cubicBezTo>
                    <a:pt x="12947" y="2797258"/>
                    <a:pt x="0" y="2784311"/>
                    <a:pt x="0" y="2768341"/>
                  </a:cubicBezTo>
                  <a:lnTo>
                    <a:pt x="0" y="28917"/>
                  </a:lnTo>
                  <a:cubicBezTo>
                    <a:pt x="0" y="12947"/>
                    <a:pt x="12947" y="0"/>
                    <a:pt x="28917" y="0"/>
                  </a:cubicBezTo>
                  <a:close/>
                </a:path>
              </a:pathLst>
            </a:custGeom>
            <a:solidFill>
              <a:srgbClr val="2425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28575"/>
              <a:ext cx="1621777" cy="28258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808808" y="1028700"/>
            <a:ext cx="6286194" cy="8229600"/>
          </a:xfrm>
          <a:custGeom>
            <a:rect b="b" l="l" r="r" t="t"/>
            <a:pathLst>
              <a:path extrusionOk="0" h="1192309" w="910748">
                <a:moveTo>
                  <a:pt x="28326" y="0"/>
                </a:moveTo>
                <a:lnTo>
                  <a:pt x="882422" y="0"/>
                </a:lnTo>
                <a:cubicBezTo>
                  <a:pt x="898066" y="0"/>
                  <a:pt x="910748" y="12682"/>
                  <a:pt x="910748" y="28326"/>
                </a:cubicBezTo>
                <a:lnTo>
                  <a:pt x="910748" y="1163983"/>
                </a:lnTo>
                <a:cubicBezTo>
                  <a:pt x="910748" y="1179627"/>
                  <a:pt x="898066" y="1192309"/>
                  <a:pt x="882422" y="1192309"/>
                </a:cubicBezTo>
                <a:lnTo>
                  <a:pt x="28326" y="1192309"/>
                </a:lnTo>
                <a:cubicBezTo>
                  <a:pt x="12682" y="1192309"/>
                  <a:pt x="0" y="1179627"/>
                  <a:pt x="0" y="1163983"/>
                </a:cubicBezTo>
                <a:lnTo>
                  <a:pt x="0" y="28326"/>
                </a:lnTo>
                <a:cubicBezTo>
                  <a:pt x="0" y="12682"/>
                  <a:pt x="12682" y="0"/>
                  <a:pt x="28326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324" l="0" r="0" t="-7324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615392" y="5722425"/>
            <a:ext cx="37593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2523"/>
                </a:solidFill>
              </a:rPr>
              <a:t>Elena González</a:t>
            </a:r>
            <a:endParaRPr sz="2000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137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2523"/>
                </a:solidFill>
              </a:rPr>
              <a:t>Gian Marco Assandria</a:t>
            </a:r>
            <a:endParaRPr sz="2000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137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2523"/>
                </a:solidFill>
              </a:rPr>
              <a:t>Ariela Astorga</a:t>
            </a:r>
            <a:endParaRPr sz="2000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137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2523"/>
                </a:solidFill>
              </a:rPr>
              <a:t>Jaime Rubio</a:t>
            </a:r>
            <a:endParaRPr sz="2000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1370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42523"/>
                </a:solidFill>
              </a:rPr>
              <a:t>Dani Lavía</a:t>
            </a:r>
            <a:endParaRPr sz="2000">
              <a:solidFill>
                <a:srgbClr val="242523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9284276" y="2715507"/>
            <a:ext cx="30717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7" u="none" cap="none" strike="noStrike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PRESENTACIÓN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220201" y="3247848"/>
            <a:ext cx="749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PROYECTO BBDD</a:t>
            </a:r>
            <a:endParaRPr sz="4800"/>
          </a:p>
        </p:txBody>
      </p:sp>
      <p:sp>
        <p:nvSpPr>
          <p:cNvPr id="91" name="Google Shape;91;p1"/>
          <p:cNvSpPr txBox="1"/>
          <p:nvPr/>
        </p:nvSpPr>
        <p:spPr>
          <a:xfrm>
            <a:off x="9010651" y="5166943"/>
            <a:ext cx="614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42523"/>
                </a:solidFill>
              </a:rPr>
              <a:t>GRUPO D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1042435" y="2811882"/>
            <a:ext cx="9534395" cy="7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49" u="none" cap="none" strike="noStrike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TABLA DE CONTENIDOS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0451850" y="2716625"/>
            <a:ext cx="7089900" cy="3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FLUJO DE TRABAJO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ESTRUCTURA BBDD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MODELO ENTIDAD - RELACIÓN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MODELO LÓGICO DE LA BBDD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CREACIÓN DE TABLAS E INGRESO DE INFORMACIÓN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INFORMACIÓN INTERESANTE USANDO QUERYS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9397761" y="2716632"/>
            <a:ext cx="882515" cy="382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242523"/>
                </a:solidFill>
                <a:latin typeface="Arial"/>
                <a:ea typeface="Arial"/>
                <a:cs typeface="Arial"/>
                <a:sym typeface="Arial"/>
              </a:rPr>
              <a:t>01.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242523"/>
                </a:solidFill>
                <a:latin typeface="Arial"/>
                <a:ea typeface="Arial"/>
                <a:cs typeface="Arial"/>
                <a:sym typeface="Arial"/>
              </a:rPr>
              <a:t>02.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242523"/>
                </a:solidFill>
                <a:latin typeface="Arial"/>
                <a:ea typeface="Arial"/>
                <a:cs typeface="Arial"/>
                <a:sym typeface="Arial"/>
              </a:rPr>
              <a:t>03.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242523"/>
                </a:solidFill>
                <a:latin typeface="Arial"/>
                <a:ea typeface="Arial"/>
                <a:cs typeface="Arial"/>
                <a:sym typeface="Arial"/>
              </a:rPr>
              <a:t>04.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242523"/>
                </a:solidFill>
                <a:latin typeface="Arial"/>
                <a:ea typeface="Arial"/>
                <a:cs typeface="Arial"/>
                <a:sym typeface="Arial"/>
              </a:rPr>
              <a:t>05.</a:t>
            </a:r>
            <a:endParaRPr/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242523"/>
                </a:solidFill>
                <a:latin typeface="Arial"/>
                <a:ea typeface="Arial"/>
                <a:cs typeface="Arial"/>
                <a:sym typeface="Arial"/>
              </a:rPr>
              <a:t>06.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1042435" y="1001770"/>
            <a:ext cx="95343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FLUJO DE TRABAJO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042425" y="2004500"/>
            <a:ext cx="16243800" cy="81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1 - Abrir cuenta en </a:t>
            </a:r>
            <a:r>
              <a:rPr b="1" lang="en-US" sz="2000">
                <a:solidFill>
                  <a:srgbClr val="1D1C1D"/>
                </a:solidFill>
              </a:rPr>
              <a:t>Rende</a:t>
            </a:r>
            <a:r>
              <a:rPr lang="en-US" sz="2000">
                <a:solidFill>
                  <a:srgbClr val="1D1C1D"/>
                </a:solidFill>
              </a:rPr>
              <a:t>r para el despliegue de la base de datos (servidor </a:t>
            </a:r>
            <a:r>
              <a:rPr b="1" lang="en-US" sz="2000">
                <a:solidFill>
                  <a:srgbClr val="1D1C1D"/>
                </a:solidFill>
              </a:rPr>
              <a:t>Cloud</a:t>
            </a:r>
            <a:r>
              <a:rPr lang="en-US" sz="2000">
                <a:solidFill>
                  <a:srgbClr val="1D1C1D"/>
                </a:solidFill>
              </a:rPr>
              <a:t> donde se aloja la </a:t>
            </a:r>
            <a:r>
              <a:rPr b="1" lang="en-US" sz="2000">
                <a:solidFill>
                  <a:srgbClr val="1D1C1D"/>
                </a:solidFill>
              </a:rPr>
              <a:t>BBDD</a:t>
            </a:r>
            <a:r>
              <a:rPr lang="en-US" sz="2000">
                <a:solidFill>
                  <a:srgbClr val="1D1C1D"/>
                </a:solidFill>
              </a:rPr>
              <a:t>)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2 - Descargar </a:t>
            </a:r>
            <a:r>
              <a:rPr b="1" lang="en-US" sz="2000">
                <a:solidFill>
                  <a:srgbClr val="1D1C1D"/>
                </a:solidFill>
              </a:rPr>
              <a:t>PGAdmin</a:t>
            </a:r>
            <a:r>
              <a:rPr lang="en-US" sz="2000">
                <a:solidFill>
                  <a:srgbClr val="1D1C1D"/>
                </a:solidFill>
              </a:rPr>
              <a:t> (</a:t>
            </a:r>
            <a:r>
              <a:rPr b="1" lang="en-US" sz="2000" u="sng">
                <a:solidFill>
                  <a:srgbClr val="1D1C1D"/>
                </a:solidFill>
              </a:rPr>
              <a:t>interfaz visual</a:t>
            </a:r>
            <a:r>
              <a:rPr lang="en-US" sz="2000">
                <a:solidFill>
                  <a:srgbClr val="1D1C1D"/>
                </a:solidFill>
              </a:rPr>
              <a:t> para trabajar con la </a:t>
            </a:r>
            <a:r>
              <a:rPr b="1" lang="en-US" sz="2000">
                <a:solidFill>
                  <a:srgbClr val="1D1C1D"/>
                </a:solidFill>
              </a:rPr>
              <a:t>BBDD</a:t>
            </a:r>
            <a:r>
              <a:rPr lang="en-US" sz="2000">
                <a:solidFill>
                  <a:srgbClr val="1D1C1D"/>
                </a:solidFill>
              </a:rPr>
              <a:t>) </a:t>
            </a:r>
            <a:r>
              <a:rPr lang="en-US" sz="2000">
                <a:solidFill>
                  <a:srgbClr val="1D1C1D"/>
                </a:solidFill>
              </a:rPr>
              <a:t>en </a:t>
            </a:r>
            <a:r>
              <a:rPr b="1" lang="en-US" sz="2000">
                <a:solidFill>
                  <a:srgbClr val="1D1C1D"/>
                </a:solidFill>
              </a:rPr>
              <a:t>Docker</a:t>
            </a:r>
            <a:r>
              <a:rPr lang="en-US" sz="2000">
                <a:solidFill>
                  <a:srgbClr val="1D1C1D"/>
                </a:solidFill>
              </a:rPr>
              <a:t> y conectarnos a la base de datos con la información de conexión de </a:t>
            </a:r>
            <a:r>
              <a:rPr b="1" lang="en-US" sz="2000">
                <a:solidFill>
                  <a:srgbClr val="1D1C1D"/>
                </a:solidFill>
              </a:rPr>
              <a:t>Render</a:t>
            </a:r>
            <a:r>
              <a:rPr lang="en-US" sz="2000">
                <a:solidFill>
                  <a:srgbClr val="1D1C1D"/>
                </a:solidFill>
              </a:rPr>
              <a:t> (</a:t>
            </a:r>
            <a:r>
              <a:rPr b="1" lang="en-US" sz="2000">
                <a:solidFill>
                  <a:srgbClr val="1D1C1D"/>
                </a:solidFill>
              </a:rPr>
              <a:t>Host - Port - Database - Username - Password</a:t>
            </a:r>
            <a:r>
              <a:rPr lang="en-US" sz="2000">
                <a:solidFill>
                  <a:srgbClr val="1D1C1D"/>
                </a:solidFill>
              </a:rPr>
              <a:t>).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3 - Estudiar los </a:t>
            </a:r>
            <a:r>
              <a:rPr b="1" lang="en-US" sz="2000">
                <a:solidFill>
                  <a:srgbClr val="1D1C1D"/>
                </a:solidFill>
              </a:rPr>
              <a:t>CSV</a:t>
            </a:r>
            <a:r>
              <a:rPr lang="en-US" sz="2000">
                <a:solidFill>
                  <a:srgbClr val="1D1C1D"/>
                </a:solidFill>
              </a:rPr>
              <a:t> y los datos de cada uno.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4 - Discutir en grupo </a:t>
            </a:r>
            <a:r>
              <a:rPr lang="en-US" sz="2000">
                <a:solidFill>
                  <a:srgbClr val="1D1C1D"/>
                </a:solidFill>
              </a:rPr>
              <a:t>cómo</a:t>
            </a:r>
            <a:r>
              <a:rPr lang="en-US" sz="2000">
                <a:solidFill>
                  <a:srgbClr val="1D1C1D"/>
                </a:solidFill>
              </a:rPr>
              <a:t> </a:t>
            </a:r>
            <a:r>
              <a:rPr b="1" lang="en-US" sz="2000">
                <a:solidFill>
                  <a:srgbClr val="1D1C1D"/>
                </a:solidFill>
              </a:rPr>
              <a:t>organizar la información y correlación entre las variables</a:t>
            </a:r>
            <a:r>
              <a:rPr lang="en-US" sz="2000">
                <a:solidFill>
                  <a:srgbClr val="1D1C1D"/>
                </a:solidFill>
              </a:rPr>
              <a:t> en excel.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5 - Asignar </a:t>
            </a:r>
            <a:r>
              <a:rPr b="1" lang="en-US" sz="2000">
                <a:solidFill>
                  <a:srgbClr val="1D1C1D"/>
                </a:solidFill>
              </a:rPr>
              <a:t>Primary Keys</a:t>
            </a:r>
            <a:r>
              <a:rPr lang="en-US" sz="2000">
                <a:solidFill>
                  <a:srgbClr val="1D1C1D"/>
                </a:solidFill>
              </a:rPr>
              <a:t> y </a:t>
            </a:r>
            <a:r>
              <a:rPr b="1" lang="en-US" sz="2000">
                <a:solidFill>
                  <a:srgbClr val="1D1C1D"/>
                </a:solidFill>
              </a:rPr>
              <a:t>Foreign Key</a:t>
            </a:r>
            <a:r>
              <a:rPr lang="en-US" sz="2000">
                <a:solidFill>
                  <a:srgbClr val="1D1C1D"/>
                </a:solidFill>
              </a:rPr>
              <a:t> a las variables.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6 - Hacer </a:t>
            </a:r>
            <a:r>
              <a:rPr b="1" lang="en-US" sz="2000">
                <a:solidFill>
                  <a:srgbClr val="1D1C1D"/>
                </a:solidFill>
              </a:rPr>
              <a:t>diagramas</a:t>
            </a:r>
            <a:r>
              <a:rPr lang="en-US" sz="2000">
                <a:solidFill>
                  <a:srgbClr val="1D1C1D"/>
                </a:solidFill>
              </a:rPr>
              <a:t> de </a:t>
            </a:r>
            <a:r>
              <a:rPr b="1" lang="en-US" sz="2000">
                <a:solidFill>
                  <a:srgbClr val="1D1C1D"/>
                </a:solidFill>
              </a:rPr>
              <a:t>Entidad Relacion</a:t>
            </a:r>
            <a:r>
              <a:rPr lang="en-US" sz="2000">
                <a:solidFill>
                  <a:srgbClr val="1D1C1D"/>
                </a:solidFill>
              </a:rPr>
              <a:t> en</a:t>
            </a:r>
            <a:r>
              <a:rPr lang="en-US" sz="2000">
                <a:solidFill>
                  <a:srgbClr val="1D1C1D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20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draw.io</a:t>
            </a:r>
            <a:r>
              <a:rPr b="1" lang="en-US" sz="2000">
                <a:solidFill>
                  <a:schemeClr val="dk1"/>
                </a:solidFill>
              </a:rPr>
              <a:t>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7 - </a:t>
            </a:r>
            <a:r>
              <a:rPr lang="en-US" sz="2000">
                <a:solidFill>
                  <a:srgbClr val="1D1C1D"/>
                </a:solidFill>
              </a:rPr>
              <a:t>Crear un repositorio en </a:t>
            </a:r>
            <a:r>
              <a:rPr b="1" lang="en-US" sz="2000">
                <a:solidFill>
                  <a:srgbClr val="1D1C1D"/>
                </a:solidFill>
              </a:rPr>
              <a:t>GitHub </a:t>
            </a:r>
            <a:r>
              <a:rPr lang="en-US" sz="2000">
                <a:solidFill>
                  <a:srgbClr val="1D1C1D"/>
                </a:solidFill>
              </a:rPr>
              <a:t>para compartir la información y los archivos del proyecto.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2000">
                <a:solidFill>
                  <a:srgbClr val="1D1C1D"/>
                </a:solidFill>
              </a:rPr>
              <a:t>8 - Crear un </a:t>
            </a:r>
            <a:r>
              <a:rPr b="1" lang="en-US" sz="2000">
                <a:solidFill>
                  <a:srgbClr val="1D1C1D"/>
                </a:solidFill>
              </a:rPr>
              <a:t>entorno virtual</a:t>
            </a:r>
            <a:r>
              <a:rPr lang="en-US" sz="2000">
                <a:solidFill>
                  <a:srgbClr val="1D1C1D"/>
                </a:solidFill>
              </a:rPr>
              <a:t> con todas las librerías necesarias.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9 - Crear varios </a:t>
            </a:r>
            <a:r>
              <a:rPr b="1" lang="en-US" sz="2000">
                <a:solidFill>
                  <a:srgbClr val="1D1C1D"/>
                </a:solidFill>
              </a:rPr>
              <a:t>JNotebook</a:t>
            </a:r>
            <a:r>
              <a:rPr lang="en-US" sz="2000">
                <a:solidFill>
                  <a:srgbClr val="1D1C1D"/>
                </a:solidFill>
              </a:rPr>
              <a:t> en la carpeta </a:t>
            </a:r>
            <a:r>
              <a:rPr b="1" lang="en-US" sz="2000">
                <a:solidFill>
                  <a:srgbClr val="1D1C1D"/>
                </a:solidFill>
              </a:rPr>
              <a:t>utils</a:t>
            </a:r>
            <a:r>
              <a:rPr lang="en-US" sz="2000">
                <a:solidFill>
                  <a:srgbClr val="1D1C1D"/>
                </a:solidFill>
              </a:rPr>
              <a:t> para cargar la información en la </a:t>
            </a:r>
            <a:r>
              <a:rPr b="1" lang="en-US" sz="2000">
                <a:solidFill>
                  <a:srgbClr val="1D1C1D"/>
                </a:solidFill>
              </a:rPr>
              <a:t>BBDD</a:t>
            </a:r>
            <a:r>
              <a:rPr lang="en-US" sz="2000">
                <a:solidFill>
                  <a:srgbClr val="1D1C1D"/>
                </a:solidFill>
              </a:rPr>
              <a:t> en </a:t>
            </a:r>
            <a:r>
              <a:rPr b="1" lang="en-US" sz="2000">
                <a:solidFill>
                  <a:srgbClr val="1D1C1D"/>
                </a:solidFill>
              </a:rPr>
              <a:t>PostgreSQL</a:t>
            </a:r>
            <a:r>
              <a:rPr lang="en-US" sz="2000">
                <a:solidFill>
                  <a:srgbClr val="1D1C1D"/>
                </a:solidFill>
              </a:rPr>
              <a:t> (software de base de datos que está ejecutandose en </a:t>
            </a:r>
            <a:r>
              <a:rPr b="1" lang="en-US" sz="2000">
                <a:solidFill>
                  <a:srgbClr val="1D1C1D"/>
                </a:solidFill>
              </a:rPr>
              <a:t>Render</a:t>
            </a:r>
            <a:r>
              <a:rPr lang="en-US" sz="2000">
                <a:solidFill>
                  <a:srgbClr val="1D1C1D"/>
                </a:solidFill>
              </a:rPr>
              <a:t>): </a:t>
            </a:r>
            <a:endParaRPr sz="2000">
              <a:solidFill>
                <a:srgbClr val="1D1C1D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- Crear las </a:t>
            </a:r>
            <a:r>
              <a:rPr b="1" lang="en-US" sz="2000">
                <a:solidFill>
                  <a:srgbClr val="1D1C1D"/>
                </a:solidFill>
              </a:rPr>
              <a:t>tablas</a:t>
            </a:r>
            <a:r>
              <a:rPr lang="en-US" sz="2000">
                <a:solidFill>
                  <a:srgbClr val="1D1C1D"/>
                </a:solidFill>
              </a:rPr>
              <a:t> usando </a:t>
            </a:r>
            <a:r>
              <a:rPr b="1" lang="en-US" sz="2000">
                <a:solidFill>
                  <a:srgbClr val="1D1C1D"/>
                </a:solidFill>
              </a:rPr>
              <a:t>querys</a:t>
            </a:r>
            <a:r>
              <a:rPr lang="en-US" sz="2000">
                <a:solidFill>
                  <a:srgbClr val="1D1C1D"/>
                </a:solidFill>
              </a:rPr>
              <a:t>.</a:t>
            </a:r>
            <a:endParaRPr sz="2000">
              <a:solidFill>
                <a:srgbClr val="1D1C1D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- Crear </a:t>
            </a:r>
            <a:r>
              <a:rPr b="1" lang="en-US" sz="2000">
                <a:solidFill>
                  <a:srgbClr val="1D1C1D"/>
                </a:solidFill>
              </a:rPr>
              <a:t>funciones y querys </a:t>
            </a:r>
            <a:r>
              <a:rPr lang="en-US" sz="2000">
                <a:solidFill>
                  <a:srgbClr val="1D1C1D"/>
                </a:solidFill>
              </a:rPr>
              <a:t>para procesar la información de los </a:t>
            </a:r>
            <a:r>
              <a:rPr b="1" lang="en-US" sz="2000">
                <a:solidFill>
                  <a:srgbClr val="1D1C1D"/>
                </a:solidFill>
              </a:rPr>
              <a:t>.csv </a:t>
            </a:r>
            <a:r>
              <a:rPr lang="en-US" sz="2000">
                <a:solidFill>
                  <a:srgbClr val="1D1C1D"/>
                </a:solidFill>
              </a:rPr>
              <a:t>y traducirla a lenguaje </a:t>
            </a:r>
            <a:r>
              <a:rPr b="1" lang="en-US" sz="2000">
                <a:solidFill>
                  <a:srgbClr val="1D1C1D"/>
                </a:solidFill>
              </a:rPr>
              <a:t>SQL</a:t>
            </a:r>
            <a:r>
              <a:rPr lang="en-US" sz="2000">
                <a:solidFill>
                  <a:srgbClr val="1D1C1D"/>
                </a:solidFill>
              </a:rPr>
              <a:t>.</a:t>
            </a:r>
            <a:endParaRPr sz="2000">
              <a:solidFill>
                <a:srgbClr val="1D1C1D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- Crear las </a:t>
            </a:r>
            <a:r>
              <a:rPr b="1" lang="en-US" sz="2000">
                <a:solidFill>
                  <a:srgbClr val="1D1C1D"/>
                </a:solidFill>
              </a:rPr>
              <a:t>query INSERT </a:t>
            </a:r>
            <a:r>
              <a:rPr lang="en-US" sz="2000">
                <a:solidFill>
                  <a:srgbClr val="1D1C1D"/>
                </a:solidFill>
              </a:rPr>
              <a:t>para alimentar las tablas con datos.</a:t>
            </a:r>
            <a:endParaRPr b="1"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10 - Unificar los </a:t>
            </a:r>
            <a:r>
              <a:rPr b="1" lang="en-US" sz="2000">
                <a:solidFill>
                  <a:srgbClr val="1D1C1D"/>
                </a:solidFill>
              </a:rPr>
              <a:t>JNotebook</a:t>
            </a:r>
            <a:r>
              <a:rPr lang="en-US" sz="2000">
                <a:solidFill>
                  <a:srgbClr val="1D1C1D"/>
                </a:solidFill>
              </a:rPr>
              <a:t> en los que trabajó cada uno en uno solo llamado </a:t>
            </a:r>
            <a:r>
              <a:rPr b="1" lang="en-US" sz="2000">
                <a:solidFill>
                  <a:srgbClr val="1D1C1D"/>
                </a:solidFill>
              </a:rPr>
              <a:t>INSERT, </a:t>
            </a:r>
            <a:r>
              <a:rPr lang="en-US" sz="2000">
                <a:solidFill>
                  <a:srgbClr val="1D1C1D"/>
                </a:solidFill>
              </a:rPr>
              <a:t>que </a:t>
            </a:r>
            <a:r>
              <a:rPr b="1" lang="en-US" sz="2000">
                <a:solidFill>
                  <a:srgbClr val="1D1C1D"/>
                </a:solidFill>
              </a:rPr>
              <a:t>crea y carga</a:t>
            </a:r>
            <a:r>
              <a:rPr lang="en-US" sz="2000">
                <a:solidFill>
                  <a:srgbClr val="1D1C1D"/>
                </a:solidFill>
              </a:rPr>
              <a:t> paso a paso todas las </a:t>
            </a:r>
            <a:r>
              <a:rPr b="1" lang="en-US" sz="2000">
                <a:solidFill>
                  <a:srgbClr val="1D1C1D"/>
                </a:solidFill>
              </a:rPr>
              <a:t>tablas y datos</a:t>
            </a:r>
            <a:r>
              <a:rPr lang="en-US" sz="2000">
                <a:solidFill>
                  <a:srgbClr val="1D1C1D"/>
                </a:solidFill>
              </a:rPr>
              <a:t> necesarios.</a:t>
            </a:r>
            <a:endParaRPr b="1"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11 - Subir las </a:t>
            </a:r>
            <a:r>
              <a:rPr b="1" lang="en-US" sz="2000">
                <a:solidFill>
                  <a:srgbClr val="1D1C1D"/>
                </a:solidFill>
              </a:rPr>
              <a:t>tablas con sus datos </a:t>
            </a:r>
            <a:r>
              <a:rPr lang="en-US" sz="2000">
                <a:solidFill>
                  <a:srgbClr val="1D1C1D"/>
                </a:solidFill>
              </a:rPr>
              <a:t>a la </a:t>
            </a:r>
            <a:r>
              <a:rPr b="1" lang="en-US" sz="2000">
                <a:solidFill>
                  <a:srgbClr val="1D1C1D"/>
                </a:solidFill>
              </a:rPr>
              <a:t>BBDD</a:t>
            </a:r>
            <a:r>
              <a:rPr lang="en-US" sz="2000">
                <a:solidFill>
                  <a:srgbClr val="1D1C1D"/>
                </a:solidFill>
              </a:rPr>
              <a:t>.</a:t>
            </a:r>
            <a:endParaRPr b="1"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12 - Hacer diagrama de </a:t>
            </a:r>
            <a:r>
              <a:rPr b="1" lang="en-US" sz="2000">
                <a:solidFill>
                  <a:srgbClr val="1D1C1D"/>
                </a:solidFill>
              </a:rPr>
              <a:t>Modelo Logico</a:t>
            </a:r>
            <a:r>
              <a:rPr lang="en-US" sz="2000">
                <a:solidFill>
                  <a:srgbClr val="1D1C1D"/>
                </a:solidFill>
              </a:rPr>
              <a:t> de la </a:t>
            </a:r>
            <a:r>
              <a:rPr b="1" lang="en-US" sz="2000">
                <a:solidFill>
                  <a:srgbClr val="1D1C1D"/>
                </a:solidFill>
              </a:rPr>
              <a:t>BBDD</a:t>
            </a:r>
            <a:r>
              <a:rPr lang="en-US" sz="2000">
                <a:solidFill>
                  <a:srgbClr val="1D1C1D"/>
                </a:solidFill>
              </a:rPr>
              <a:t>  desde </a:t>
            </a:r>
            <a:r>
              <a:rPr b="1" lang="en-US" sz="2000">
                <a:solidFill>
                  <a:srgbClr val="1D1C1D"/>
                </a:solidFill>
              </a:rPr>
              <a:t>PGAdmin.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13 - Crear </a:t>
            </a:r>
            <a:r>
              <a:rPr b="1" lang="en-US" sz="2000">
                <a:solidFill>
                  <a:srgbClr val="1D1C1D"/>
                </a:solidFill>
              </a:rPr>
              <a:t>consultas</a:t>
            </a:r>
            <a:r>
              <a:rPr lang="en-US" sz="2000">
                <a:solidFill>
                  <a:srgbClr val="1D1C1D"/>
                </a:solidFill>
              </a:rPr>
              <a:t> para presentar </a:t>
            </a:r>
            <a:r>
              <a:rPr b="1" lang="en-US" sz="2000">
                <a:solidFill>
                  <a:srgbClr val="1D1C1D"/>
                </a:solidFill>
              </a:rPr>
              <a:t>datos relevantes</a:t>
            </a:r>
            <a:r>
              <a:rPr lang="en-US" sz="2000">
                <a:solidFill>
                  <a:srgbClr val="1D1C1D"/>
                </a:solidFill>
              </a:rPr>
              <a:t> (fichero querys-explotacion.sql).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D1C1D"/>
                </a:solidFill>
              </a:rPr>
              <a:t>14 - Se ha </a:t>
            </a:r>
            <a:r>
              <a:rPr b="1" lang="en-US" sz="2000">
                <a:solidFill>
                  <a:srgbClr val="1D1C1D"/>
                </a:solidFill>
              </a:rPr>
              <a:t>ocultado </a:t>
            </a:r>
            <a:r>
              <a:rPr lang="en-US" sz="2000">
                <a:solidFill>
                  <a:srgbClr val="1D1C1D"/>
                </a:solidFill>
              </a:rPr>
              <a:t>la </a:t>
            </a:r>
            <a:r>
              <a:rPr b="1" lang="en-US" sz="2000">
                <a:solidFill>
                  <a:srgbClr val="1D1C1D"/>
                </a:solidFill>
              </a:rPr>
              <a:t>información </a:t>
            </a:r>
            <a:r>
              <a:rPr lang="en-US" sz="2000">
                <a:solidFill>
                  <a:srgbClr val="1D1C1D"/>
                </a:solidFill>
              </a:rPr>
              <a:t>de </a:t>
            </a:r>
            <a:r>
              <a:rPr b="1" lang="en-US" sz="2000">
                <a:solidFill>
                  <a:srgbClr val="1D1C1D"/>
                </a:solidFill>
              </a:rPr>
              <a:t>conexión </a:t>
            </a:r>
            <a:r>
              <a:rPr lang="en-US" sz="2000">
                <a:solidFill>
                  <a:srgbClr val="1D1C1D"/>
                </a:solidFill>
              </a:rPr>
              <a:t>con </a:t>
            </a:r>
            <a:r>
              <a:rPr b="1" lang="en-US" sz="2000">
                <a:solidFill>
                  <a:srgbClr val="1D1C1D"/>
                </a:solidFill>
              </a:rPr>
              <a:t>Render/PostgreSQL</a:t>
            </a:r>
            <a:r>
              <a:rPr lang="en-US" sz="2000">
                <a:solidFill>
                  <a:srgbClr val="1D1C1D"/>
                </a:solidFill>
              </a:rPr>
              <a:t> usando un archivo </a:t>
            </a:r>
            <a:r>
              <a:rPr b="1" lang="en-US" sz="2000">
                <a:solidFill>
                  <a:srgbClr val="1D1C1D"/>
                </a:solidFill>
              </a:rPr>
              <a:t>.env</a:t>
            </a:r>
            <a:r>
              <a:rPr lang="en-US" sz="2000">
                <a:solidFill>
                  <a:srgbClr val="1D1C1D"/>
                </a:solidFill>
              </a:rPr>
              <a:t>.</a:t>
            </a:r>
            <a:endParaRPr sz="2000">
              <a:solidFill>
                <a:srgbClr val="1D1C1D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523"/>
              </a:solidFill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3123779" y="7008866"/>
            <a:ext cx="3495201" cy="1042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Lorem ipsum dolor sit amet, consectetur adipiscing elit. Sed eget lorem ac nibh auctor euismod. Duis malesuada, mi a vehicula vehicula, quam nisl fringilla neque, vel tristique orci nisl sed diam.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1042435" y="1001770"/>
            <a:ext cx="95343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ESTRUCTURA BBDD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1042411" y="2004500"/>
            <a:ext cx="1475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Discusión grupal de la estructura de la BBDD, campos y relaciones</a:t>
            </a:r>
            <a:endParaRPr sz="2800"/>
          </a:p>
        </p:txBody>
      </p:sp>
      <p:pic>
        <p:nvPicPr>
          <p:cNvPr id="112" name="Google Shape;11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103697"/>
            <a:ext cx="17983201" cy="463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1359900" y="8116375"/>
            <a:ext cx="13403700" cy="21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b="1" lang="en-US" sz="2000" u="sng">
                <a:solidFill>
                  <a:srgbClr val="1D1C1D"/>
                </a:solidFill>
              </a:rPr>
              <a:t>Problemas encontrados:</a:t>
            </a:r>
            <a:endParaRPr b="1" sz="2000" u="sng">
              <a:solidFill>
                <a:srgbClr val="1D1C1D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D1C1D"/>
              </a:buClr>
              <a:buSzPts val="2000"/>
              <a:buChar char="-"/>
            </a:pPr>
            <a:r>
              <a:rPr lang="en-US" sz="2000">
                <a:solidFill>
                  <a:srgbClr val="1D1C1D"/>
                </a:solidFill>
              </a:rPr>
              <a:t>Cómo ingresar la variable modalidad, es necesaria una nueva tabla?</a:t>
            </a:r>
            <a:endParaRPr sz="2000">
              <a:solidFill>
                <a:srgbClr val="1D1C1D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Char char="-"/>
            </a:pPr>
            <a:r>
              <a:rPr lang="en-US" sz="2000">
                <a:solidFill>
                  <a:srgbClr val="1D1C1D"/>
                </a:solidFill>
              </a:rPr>
              <a:t>id_campus nuevo en profesores (Valencia - febrero)</a:t>
            </a:r>
            <a:endParaRPr sz="2000">
              <a:solidFill>
                <a:srgbClr val="1D1C1D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2000"/>
              <a:buChar char="-"/>
            </a:pPr>
            <a:r>
              <a:rPr lang="en-US" sz="2000">
                <a:solidFill>
                  <a:srgbClr val="1D1C1D"/>
                </a:solidFill>
              </a:rPr>
              <a:t>Imposibilidad de conocer la promoción de un profesor</a:t>
            </a:r>
            <a:endParaRPr sz="2000">
              <a:solidFill>
                <a:srgbClr val="1D1C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D1C1D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523"/>
              </a:solidFill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6725" y="7113300"/>
            <a:ext cx="7711276" cy="307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1042435" y="1001770"/>
            <a:ext cx="77580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MODELO ENTIDAD - RELACIÓN </a:t>
            </a:r>
            <a:endParaRPr/>
          </a:p>
        </p:txBody>
      </p:sp>
      <p:sp>
        <p:nvSpPr>
          <p:cNvPr id="120" name="Google Shape;120;p5"/>
          <p:cNvSpPr txBox="1"/>
          <p:nvPr/>
        </p:nvSpPr>
        <p:spPr>
          <a:xfrm>
            <a:off x="1699242" y="7351738"/>
            <a:ext cx="1998575" cy="33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5769599" y="7351738"/>
            <a:ext cx="1998575" cy="33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EMPRESAS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4603918" y="7351738"/>
            <a:ext cx="1998575" cy="335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FUTURO</a:t>
            </a: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1740489" y="7850660"/>
            <a:ext cx="1928269" cy="44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opinión de los clientes es importante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5810846" y="7850660"/>
            <a:ext cx="1928269" cy="44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opinión de los clientes es importante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10228006" y="7850660"/>
            <a:ext cx="1928269" cy="44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opinión de los clientes es importante</a:t>
            </a: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14645166" y="7850660"/>
            <a:ext cx="1928269" cy="447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0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opinión de los clientes es importante</a:t>
            </a:r>
            <a:endParaRPr/>
          </a:p>
        </p:txBody>
      </p:sp>
      <p:pic>
        <p:nvPicPr>
          <p:cNvPr id="127" name="Google Shape;127;p5" title="Diagrama de modelo ER_grupoD.png"/>
          <p:cNvPicPr preferRelativeResize="0"/>
          <p:nvPr/>
        </p:nvPicPr>
        <p:blipFill rotWithShape="1">
          <a:blip r:embed="rId3">
            <a:alphaModFix/>
          </a:blip>
          <a:srcRect b="0" l="0" r="0" t="8156"/>
          <a:stretch/>
        </p:blipFill>
        <p:spPr>
          <a:xfrm>
            <a:off x="9247750" y="1548075"/>
            <a:ext cx="8738126" cy="824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925" y="2916022"/>
            <a:ext cx="8738126" cy="539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b67634e47_2_9"/>
          <p:cNvSpPr txBox="1"/>
          <p:nvPr/>
        </p:nvSpPr>
        <p:spPr>
          <a:xfrm>
            <a:off x="1042435" y="1001770"/>
            <a:ext cx="95343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MODELO LÓGICO DE LA BBDD</a:t>
            </a:r>
            <a:endParaRPr/>
          </a:p>
        </p:txBody>
      </p:sp>
      <p:sp>
        <p:nvSpPr>
          <p:cNvPr id="134" name="Google Shape;134;g38b67634e47_2_9"/>
          <p:cNvSpPr txBox="1"/>
          <p:nvPr/>
        </p:nvSpPr>
        <p:spPr>
          <a:xfrm>
            <a:off x="1042411" y="2004500"/>
            <a:ext cx="1475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Extraído desde PGAdmin</a:t>
            </a:r>
            <a:endParaRPr sz="2800"/>
          </a:p>
        </p:txBody>
      </p:sp>
      <p:pic>
        <p:nvPicPr>
          <p:cNvPr id="135" name="Google Shape;135;g38b67634e47_2_9" title="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4050" y="2667000"/>
            <a:ext cx="13356899" cy="66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75" y="1548063"/>
            <a:ext cx="16402050" cy="841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 txBox="1"/>
          <p:nvPr/>
        </p:nvSpPr>
        <p:spPr>
          <a:xfrm>
            <a:off x="1042435" y="1001770"/>
            <a:ext cx="77580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CONEXIÓN AL SERVIDOR Y BBDD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9082811" y="7566503"/>
            <a:ext cx="1998575" cy="339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MOTIVACIÓN</a:t>
            </a:r>
            <a:endParaRPr/>
          </a:p>
        </p:txBody>
      </p:sp>
      <p:grpSp>
        <p:nvGrpSpPr>
          <p:cNvPr id="143" name="Google Shape;143;p6"/>
          <p:cNvGrpSpPr/>
          <p:nvPr/>
        </p:nvGrpSpPr>
        <p:grpSpPr>
          <a:xfrm>
            <a:off x="7576344" y="5342287"/>
            <a:ext cx="7582789" cy="2179569"/>
            <a:chOff x="0" y="-28575"/>
            <a:chExt cx="1997100" cy="574039"/>
          </a:xfrm>
        </p:grpSpPr>
        <p:sp>
          <p:nvSpPr>
            <p:cNvPr id="144" name="Google Shape;144;p6"/>
            <p:cNvSpPr/>
            <p:nvPr/>
          </p:nvSpPr>
          <p:spPr>
            <a:xfrm>
              <a:off x="0" y="0"/>
              <a:ext cx="1997076" cy="545464"/>
            </a:xfrm>
            <a:custGeom>
              <a:rect b="b" l="l" r="r" t="t"/>
              <a:pathLst>
                <a:path extrusionOk="0" h="545464" w="1997076">
                  <a:moveTo>
                    <a:pt x="0" y="0"/>
                  </a:moveTo>
                  <a:lnTo>
                    <a:pt x="1997076" y="0"/>
                  </a:lnTo>
                  <a:lnTo>
                    <a:pt x="1997076" y="545464"/>
                  </a:lnTo>
                  <a:lnTo>
                    <a:pt x="0" y="545464"/>
                  </a:lnTo>
                  <a:close/>
                </a:path>
              </a:pathLst>
            </a:custGeom>
            <a:solidFill>
              <a:srgbClr val="242523"/>
            </a:solidFill>
            <a:ln>
              <a:noFill/>
            </a:ln>
          </p:spPr>
        </p:sp>
        <p:sp>
          <p:nvSpPr>
            <p:cNvPr id="145" name="Google Shape;145;p6"/>
            <p:cNvSpPr txBox="1"/>
            <p:nvPr/>
          </p:nvSpPr>
          <p:spPr>
            <a:xfrm>
              <a:off x="0" y="-28575"/>
              <a:ext cx="19971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46" name="Google Shape;146;p6"/>
          <p:cNvCxnSpPr/>
          <p:nvPr/>
        </p:nvCxnSpPr>
        <p:spPr>
          <a:xfrm>
            <a:off x="7191600" y="5453121"/>
            <a:ext cx="21300" cy="2047200"/>
          </a:xfrm>
          <a:prstGeom prst="straightConnector1">
            <a:avLst/>
          </a:prstGeom>
          <a:noFill/>
          <a:ln cap="flat" cmpd="sng" w="38100">
            <a:solidFill>
              <a:srgbClr val="24252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 txBox="1"/>
          <p:nvPr/>
        </p:nvSpPr>
        <p:spPr>
          <a:xfrm>
            <a:off x="7976875" y="5929825"/>
            <a:ext cx="66084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</a:rPr>
              <a:t>getenv</a:t>
            </a:r>
            <a:r>
              <a:rPr lang="en-US" sz="1900">
                <a:solidFill>
                  <a:schemeClr val="lt1"/>
                </a:solidFill>
              </a:rPr>
              <a:t> lee las variables de entorno, en este caso las contraseñas del servidor de Render guardadas en el archivo </a:t>
            </a:r>
            <a:r>
              <a:rPr b="1" lang="en-US" sz="1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.env</a:t>
            </a:r>
            <a:endParaRPr sz="2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-1636052" y="-172471"/>
            <a:ext cx="8940927" cy="10631942"/>
          </a:xfrm>
          <a:custGeom>
            <a:rect b="b" l="l" r="r" t="t"/>
            <a:pathLst>
              <a:path extrusionOk="0" h="1540362" w="1295367">
                <a:moveTo>
                  <a:pt x="19916" y="0"/>
                </a:moveTo>
                <a:lnTo>
                  <a:pt x="1275451" y="0"/>
                </a:lnTo>
                <a:cubicBezTo>
                  <a:pt x="1280733" y="0"/>
                  <a:pt x="1285799" y="2098"/>
                  <a:pt x="1289534" y="5833"/>
                </a:cubicBezTo>
                <a:cubicBezTo>
                  <a:pt x="1293269" y="9568"/>
                  <a:pt x="1295367" y="14634"/>
                  <a:pt x="1295367" y="19916"/>
                </a:cubicBezTo>
                <a:lnTo>
                  <a:pt x="1295367" y="1520447"/>
                </a:lnTo>
                <a:cubicBezTo>
                  <a:pt x="1295367" y="1531446"/>
                  <a:pt x="1286450" y="1540362"/>
                  <a:pt x="1275451" y="1540362"/>
                </a:cubicBezTo>
                <a:lnTo>
                  <a:pt x="19916" y="1540362"/>
                </a:lnTo>
                <a:cubicBezTo>
                  <a:pt x="8917" y="1540362"/>
                  <a:pt x="0" y="1531446"/>
                  <a:pt x="0" y="1520447"/>
                </a:cubicBezTo>
                <a:lnTo>
                  <a:pt x="0" y="19916"/>
                </a:lnTo>
                <a:cubicBezTo>
                  <a:pt x="0" y="8917"/>
                  <a:pt x="8917" y="0"/>
                  <a:pt x="19916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3071" l="0" r="0" t="-1307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7"/>
          <p:cNvGrpSpPr/>
          <p:nvPr/>
        </p:nvGrpSpPr>
        <p:grpSpPr>
          <a:xfrm>
            <a:off x="8344455" y="1668736"/>
            <a:ext cx="2473675" cy="3599678"/>
            <a:chOff x="0" y="-28575"/>
            <a:chExt cx="691241" cy="1005890"/>
          </a:xfrm>
        </p:grpSpPr>
        <p:sp>
          <p:nvSpPr>
            <p:cNvPr id="154" name="Google Shape;154;p7"/>
            <p:cNvSpPr/>
            <p:nvPr/>
          </p:nvSpPr>
          <p:spPr>
            <a:xfrm>
              <a:off x="0" y="0"/>
              <a:ext cx="691241" cy="977315"/>
            </a:xfrm>
            <a:custGeom>
              <a:rect b="b" l="l" r="r" t="t"/>
              <a:pathLst>
                <a:path extrusionOk="0" h="977315" w="691241">
                  <a:moveTo>
                    <a:pt x="0" y="0"/>
                  </a:moveTo>
                  <a:lnTo>
                    <a:pt x="691241" y="0"/>
                  </a:lnTo>
                  <a:lnTo>
                    <a:pt x="691241" y="977315"/>
                  </a:lnTo>
                  <a:lnTo>
                    <a:pt x="0" y="977315"/>
                  </a:lnTo>
                  <a:close/>
                </a:path>
              </a:pathLst>
            </a:custGeom>
            <a:solidFill>
              <a:srgbClr val="242523"/>
            </a:solidFill>
            <a:ln>
              <a:noFill/>
            </a:ln>
          </p:spPr>
        </p:sp>
        <p:sp>
          <p:nvSpPr>
            <p:cNvPr id="155" name="Google Shape;155;p7"/>
            <p:cNvSpPr txBox="1"/>
            <p:nvPr/>
          </p:nvSpPr>
          <p:spPr>
            <a:xfrm>
              <a:off x="0" y="-28575"/>
              <a:ext cx="691241" cy="1005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7"/>
          <p:cNvSpPr/>
          <p:nvPr/>
        </p:nvSpPr>
        <p:spPr>
          <a:xfrm>
            <a:off x="9929013" y="6292268"/>
            <a:ext cx="889112" cy="889112"/>
          </a:xfrm>
          <a:custGeom>
            <a:rect b="b" l="l" r="r" t="t"/>
            <a:pathLst>
              <a:path extrusionOk="0" h="889112" w="889112">
                <a:moveTo>
                  <a:pt x="0" y="0"/>
                </a:moveTo>
                <a:lnTo>
                  <a:pt x="889112" y="0"/>
                </a:lnTo>
                <a:lnTo>
                  <a:pt x="889112" y="889112"/>
                </a:lnTo>
                <a:lnTo>
                  <a:pt x="0" y="889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>
            <a:off x="12680232" y="6292268"/>
            <a:ext cx="889112" cy="889112"/>
          </a:xfrm>
          <a:custGeom>
            <a:rect b="b" l="l" r="r" t="t"/>
            <a:pathLst>
              <a:path extrusionOk="0" h="889112" w="889112">
                <a:moveTo>
                  <a:pt x="0" y="0"/>
                </a:moveTo>
                <a:lnTo>
                  <a:pt x="889111" y="0"/>
                </a:lnTo>
                <a:lnTo>
                  <a:pt x="889111" y="889112"/>
                </a:lnTo>
                <a:lnTo>
                  <a:pt x="0" y="889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/>
          <p:nvPr/>
        </p:nvSpPr>
        <p:spPr>
          <a:xfrm>
            <a:off x="15431451" y="6292268"/>
            <a:ext cx="889112" cy="889112"/>
          </a:xfrm>
          <a:custGeom>
            <a:rect b="b" l="l" r="r" t="t"/>
            <a:pathLst>
              <a:path extrusionOk="0" h="889112" w="889112">
                <a:moveTo>
                  <a:pt x="0" y="0"/>
                </a:moveTo>
                <a:lnTo>
                  <a:pt x="889111" y="0"/>
                </a:lnTo>
                <a:lnTo>
                  <a:pt x="889111" y="889112"/>
                </a:lnTo>
                <a:lnTo>
                  <a:pt x="0" y="8891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7"/>
          <p:cNvSpPr txBox="1"/>
          <p:nvPr/>
        </p:nvSpPr>
        <p:spPr>
          <a:xfrm>
            <a:off x="8344450" y="732125"/>
            <a:ext cx="100707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CREACIÓN DE TABLAS Y CARGAR DATOS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9326229" y="7581430"/>
            <a:ext cx="2081522" cy="36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 1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12084027" y="7581430"/>
            <a:ext cx="2081522" cy="36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 2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14835245" y="7581430"/>
            <a:ext cx="2081522" cy="36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CONCEPTO 3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12126986" y="8205222"/>
            <a:ext cx="2008299" cy="45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opinión de los clientes es importante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14878204" y="8205222"/>
            <a:ext cx="2008299" cy="45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6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opinión de los clientes es importante</a:t>
            </a:r>
            <a:endParaRPr/>
          </a:p>
        </p:txBody>
      </p:sp>
      <p:pic>
        <p:nvPicPr>
          <p:cNvPr id="165" name="Google Shape;165;p7"/>
          <p:cNvPicPr preferRelativeResize="0"/>
          <p:nvPr/>
        </p:nvPicPr>
        <p:blipFill rotWithShape="1">
          <a:blip r:embed="rId5">
            <a:alphaModFix/>
          </a:blip>
          <a:srcRect b="37473" l="1816" r="0" t="0"/>
          <a:stretch/>
        </p:blipFill>
        <p:spPr>
          <a:xfrm>
            <a:off x="8916450" y="1668725"/>
            <a:ext cx="7793325" cy="319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73956" y="5501400"/>
            <a:ext cx="8747326" cy="371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89450" y="3982263"/>
            <a:ext cx="4540126" cy="151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7"/>
          <p:cNvPicPr preferRelativeResize="0"/>
          <p:nvPr/>
        </p:nvPicPr>
        <p:blipFill rotWithShape="1">
          <a:blip r:embed="rId8">
            <a:alphaModFix/>
          </a:blip>
          <a:srcRect b="164574" l="1606" r="3382" t="154917"/>
          <a:stretch/>
        </p:blipFill>
        <p:spPr>
          <a:xfrm flipH="1" rot="10800000">
            <a:off x="13311225" y="8499275"/>
            <a:ext cx="4904825" cy="5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/>
        </p:nvSpPr>
        <p:spPr>
          <a:xfrm>
            <a:off x="1042425" y="776100"/>
            <a:ext cx="112695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INFORMACIÓN DE INTERÉS USANDO QUERYS</a:t>
            </a:r>
            <a:endParaRPr/>
          </a:p>
        </p:txBody>
      </p:sp>
      <p:sp>
        <p:nvSpPr>
          <p:cNvPr id="174" name="Google Shape;174;p8"/>
          <p:cNvSpPr txBox="1"/>
          <p:nvPr/>
        </p:nvSpPr>
        <p:spPr>
          <a:xfrm>
            <a:off x="2368377" y="2254217"/>
            <a:ext cx="6125400" cy="21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SELECT c.nombre_campus, COUNT(a.id_alumno) AS total_alumnos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FROM promocion p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alumnos a ON p.id_promocion = a.id_promocion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campus c ON p.id_campus = c.id_campus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vertical v ON p.id_vertical = v.id_vertical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GROUP BY c.nombre_campus</a:t>
            </a:r>
            <a:endParaRPr sz="1487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">
                <a:solidFill>
                  <a:srgbClr val="FFFFFF"/>
                </a:solidFill>
              </a:rPr>
              <a:t>ORDER BY total_alumnos DESC</a:t>
            </a:r>
            <a:endParaRPr sz="1487">
              <a:solidFill>
                <a:srgbClr val="FFFFFF"/>
              </a:solidFill>
            </a:endParaRPr>
          </a:p>
        </p:txBody>
      </p:sp>
      <p:grpSp>
        <p:nvGrpSpPr>
          <p:cNvPr id="175" name="Google Shape;175;p8"/>
          <p:cNvGrpSpPr/>
          <p:nvPr/>
        </p:nvGrpSpPr>
        <p:grpSpPr>
          <a:xfrm>
            <a:off x="1042425" y="1929100"/>
            <a:ext cx="9397154" cy="2982247"/>
            <a:chOff x="0" y="-28575"/>
            <a:chExt cx="1997100" cy="574039"/>
          </a:xfrm>
        </p:grpSpPr>
        <p:sp>
          <p:nvSpPr>
            <p:cNvPr id="176" name="Google Shape;176;p8"/>
            <p:cNvSpPr/>
            <p:nvPr/>
          </p:nvSpPr>
          <p:spPr>
            <a:xfrm>
              <a:off x="0" y="0"/>
              <a:ext cx="1997076" cy="545464"/>
            </a:xfrm>
            <a:custGeom>
              <a:rect b="b" l="l" r="r" t="t"/>
              <a:pathLst>
                <a:path extrusionOk="0" h="545464" w="1997076">
                  <a:moveTo>
                    <a:pt x="0" y="0"/>
                  </a:moveTo>
                  <a:lnTo>
                    <a:pt x="1997076" y="0"/>
                  </a:lnTo>
                  <a:lnTo>
                    <a:pt x="1997076" y="545464"/>
                  </a:lnTo>
                  <a:lnTo>
                    <a:pt x="0" y="545464"/>
                  </a:lnTo>
                  <a:close/>
                </a:path>
              </a:pathLst>
            </a:custGeom>
            <a:solidFill>
              <a:srgbClr val="242523"/>
            </a:solidFill>
            <a:ln>
              <a:noFill/>
            </a:ln>
          </p:spPr>
        </p:sp>
        <p:sp>
          <p:nvSpPr>
            <p:cNvPr id="177" name="Google Shape;177;p8"/>
            <p:cNvSpPr txBox="1"/>
            <p:nvPr/>
          </p:nvSpPr>
          <p:spPr>
            <a:xfrm>
              <a:off x="0" y="-28575"/>
              <a:ext cx="19971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500" lIns="69500" spcFirstLastPara="1" rIns="69500" wrap="square" tIns="69500">
              <a:noAutofit/>
            </a:bodyPr>
            <a:lstStyle/>
            <a:p>
              <a:pPr indent="0" lvl="0" marL="0" marR="0" rtl="0" algn="ctr">
                <a:lnSpc>
                  <a:spcPct val="12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8" name="Google Shape;178;p8"/>
          <p:cNvCxnSpPr/>
          <p:nvPr/>
        </p:nvCxnSpPr>
        <p:spPr>
          <a:xfrm>
            <a:off x="1453451" y="2492234"/>
            <a:ext cx="0" cy="1828800"/>
          </a:xfrm>
          <a:prstGeom prst="straightConnector1">
            <a:avLst/>
          </a:prstGeom>
          <a:noFill/>
          <a:ln cap="flat" cmpd="sng" w="47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8"/>
          <p:cNvSpPr txBox="1"/>
          <p:nvPr/>
        </p:nvSpPr>
        <p:spPr>
          <a:xfrm>
            <a:off x="2100893" y="2224347"/>
            <a:ext cx="8338800" cy="2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787">
                <a:solidFill>
                  <a:schemeClr val="lt1"/>
                </a:solidFill>
              </a:rPr>
              <a:t>SELECT c.nombre_campus, COUNT(a.id_alumno) AS total_alumnos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787">
                <a:solidFill>
                  <a:schemeClr val="lt1"/>
                </a:solidFill>
              </a:rPr>
              <a:t>FROM promocion p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787">
                <a:solidFill>
                  <a:schemeClr val="lt1"/>
                </a:solidFill>
              </a:rPr>
              <a:t>JOIN alumnos a ON p.id_promocion = a.id_promocion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787">
                <a:solidFill>
                  <a:schemeClr val="lt1"/>
                </a:solidFill>
              </a:rPr>
              <a:t>JOIN campus c ON p.id_campus = c.id_campus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787">
                <a:solidFill>
                  <a:schemeClr val="lt1"/>
                </a:solidFill>
              </a:rPr>
              <a:t>JOIN vertical v ON p.id_vertical = v.id_vertical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787">
                <a:solidFill>
                  <a:schemeClr val="lt1"/>
                </a:solidFill>
              </a:rPr>
              <a:t>GROUP BY c.nombre_campus</a:t>
            </a:r>
            <a:endParaRPr sz="1787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7">
                <a:solidFill>
                  <a:schemeClr val="lt1"/>
                </a:solidFill>
              </a:rPr>
              <a:t>ORDER BY total_alumnos DESC</a:t>
            </a:r>
            <a:endParaRPr sz="1787">
              <a:solidFill>
                <a:schemeClr val="lt1"/>
              </a:solidFill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11810875" y="1929091"/>
            <a:ext cx="526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DEVUELVE LOS CAMPUS Y EL Nº TOTAL DE ALUMNOS</a:t>
            </a:r>
            <a:endParaRPr sz="2100"/>
          </a:p>
        </p:txBody>
      </p:sp>
      <p:sp>
        <p:nvSpPr>
          <p:cNvPr id="181" name="Google Shape;181;p8"/>
          <p:cNvSpPr/>
          <p:nvPr/>
        </p:nvSpPr>
        <p:spPr>
          <a:xfrm flipH="1" rot="10800000">
            <a:off x="10787938" y="2706153"/>
            <a:ext cx="928800" cy="36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 flipH="1" rot="10800000">
            <a:off x="10731151" y="6878728"/>
            <a:ext cx="928800" cy="36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8"/>
          <p:cNvPicPr preferRelativeResize="0"/>
          <p:nvPr/>
        </p:nvPicPr>
        <p:blipFill rotWithShape="1">
          <a:blip r:embed="rId3">
            <a:alphaModFix/>
          </a:blip>
          <a:srcRect b="16106" l="0" r="4315" t="6351"/>
          <a:stretch/>
        </p:blipFill>
        <p:spPr>
          <a:xfrm>
            <a:off x="11928650" y="2868850"/>
            <a:ext cx="4495125" cy="132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2368377" y="5761942"/>
            <a:ext cx="6125400" cy="21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SELECT c.nombre_campus, COUNT(a.id_alumno) AS total_alumnos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FROM promocion p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alumnos a ON p.id_promocion = a.id_promocion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campus c ON p.id_campus = c.id_campus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vertical v ON p.id_vertical = v.id_vertical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GROUP BY c.nombre_campus</a:t>
            </a:r>
            <a:endParaRPr sz="1487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">
                <a:solidFill>
                  <a:srgbClr val="FFFFFF"/>
                </a:solidFill>
              </a:rPr>
              <a:t>ORDER BY total_alumnos DESC</a:t>
            </a:r>
            <a:endParaRPr sz="1487">
              <a:solidFill>
                <a:srgbClr val="FFFFFF"/>
              </a:solidFill>
            </a:endParaRPr>
          </a:p>
        </p:txBody>
      </p:sp>
      <p:grpSp>
        <p:nvGrpSpPr>
          <p:cNvPr id="185" name="Google Shape;185;p8"/>
          <p:cNvGrpSpPr/>
          <p:nvPr/>
        </p:nvGrpSpPr>
        <p:grpSpPr>
          <a:xfrm>
            <a:off x="1042425" y="5436825"/>
            <a:ext cx="9397154" cy="2982247"/>
            <a:chOff x="0" y="-28575"/>
            <a:chExt cx="1997100" cy="574039"/>
          </a:xfrm>
        </p:grpSpPr>
        <p:sp>
          <p:nvSpPr>
            <p:cNvPr id="186" name="Google Shape;186;p8"/>
            <p:cNvSpPr/>
            <p:nvPr/>
          </p:nvSpPr>
          <p:spPr>
            <a:xfrm>
              <a:off x="0" y="0"/>
              <a:ext cx="1997076" cy="545464"/>
            </a:xfrm>
            <a:custGeom>
              <a:rect b="b" l="l" r="r" t="t"/>
              <a:pathLst>
                <a:path extrusionOk="0" h="545464" w="1997076">
                  <a:moveTo>
                    <a:pt x="0" y="0"/>
                  </a:moveTo>
                  <a:lnTo>
                    <a:pt x="1997076" y="0"/>
                  </a:lnTo>
                  <a:lnTo>
                    <a:pt x="1997076" y="545464"/>
                  </a:lnTo>
                  <a:lnTo>
                    <a:pt x="0" y="545464"/>
                  </a:lnTo>
                  <a:close/>
                </a:path>
              </a:pathLst>
            </a:custGeom>
            <a:solidFill>
              <a:srgbClr val="242523"/>
            </a:solidFill>
            <a:ln>
              <a:noFill/>
            </a:ln>
          </p:spPr>
        </p:sp>
        <p:sp>
          <p:nvSpPr>
            <p:cNvPr id="187" name="Google Shape;187;p8"/>
            <p:cNvSpPr txBox="1"/>
            <p:nvPr/>
          </p:nvSpPr>
          <p:spPr>
            <a:xfrm>
              <a:off x="0" y="-28575"/>
              <a:ext cx="19971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500" lIns="69500" spcFirstLastPara="1" rIns="69500" wrap="square" tIns="69500">
              <a:noAutofit/>
            </a:bodyPr>
            <a:lstStyle/>
            <a:p>
              <a:pPr indent="0" lvl="0" marL="0" marR="0" rtl="0" algn="ctr">
                <a:lnSpc>
                  <a:spcPct val="12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8" name="Google Shape;188;p8"/>
          <p:cNvCxnSpPr/>
          <p:nvPr/>
        </p:nvCxnSpPr>
        <p:spPr>
          <a:xfrm>
            <a:off x="1453451" y="5999959"/>
            <a:ext cx="0" cy="1828800"/>
          </a:xfrm>
          <a:prstGeom prst="straightConnector1">
            <a:avLst/>
          </a:prstGeom>
          <a:noFill/>
          <a:ln cap="flat" cmpd="sng" w="47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8"/>
          <p:cNvSpPr txBox="1"/>
          <p:nvPr/>
        </p:nvSpPr>
        <p:spPr>
          <a:xfrm>
            <a:off x="2071721" y="6036647"/>
            <a:ext cx="8338800" cy="17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87">
                <a:solidFill>
                  <a:schemeClr val="lt1"/>
                </a:solidFill>
              </a:rPr>
              <a:t>SELECT a.nombre, p.nombre_mes, p.fecha_comienzo, v.nombre_vertical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87">
                <a:solidFill>
                  <a:schemeClr val="lt1"/>
                </a:solidFill>
              </a:rPr>
              <a:t>FROM alumnos a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87">
                <a:solidFill>
                  <a:schemeClr val="lt1"/>
                </a:solidFill>
              </a:rPr>
              <a:t>JOIN notas n ON a.id_alumno = n.id_alumno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87">
                <a:solidFill>
                  <a:schemeClr val="lt1"/>
                </a:solidFill>
              </a:rPr>
              <a:t>JOIN promocion p ON a.id_promocion = p.id_promocion</a:t>
            </a:r>
            <a:endParaRPr sz="1787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7">
                <a:solidFill>
                  <a:schemeClr val="lt1"/>
                </a:solidFill>
              </a:rPr>
              <a:t>JOIN vertical v ON p.id_vertical = v.id_vertical</a:t>
            </a:r>
            <a:endParaRPr sz="1787">
              <a:solidFill>
                <a:schemeClr val="lt1"/>
              </a:solidFill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11716750" y="5436825"/>
            <a:ext cx="6169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DEVUELVE LA TABLA CON EL NOMBRE DEL ALUMNO, SU FECHA DE INICIO Y LA VERTICAL A LA QUE PERTENECE.</a:t>
            </a:r>
            <a:endParaRPr sz="2100"/>
          </a:p>
        </p:txBody>
      </p:sp>
      <p:pic>
        <p:nvPicPr>
          <p:cNvPr id="191" name="Google Shape;19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0863" y="6519291"/>
            <a:ext cx="6169818" cy="3390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b67634e47_0_82"/>
          <p:cNvSpPr txBox="1"/>
          <p:nvPr/>
        </p:nvSpPr>
        <p:spPr>
          <a:xfrm>
            <a:off x="1042425" y="1001775"/>
            <a:ext cx="115164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INFORMACIÓN DE INTERÉS USANDO QUERYS</a:t>
            </a:r>
            <a:endParaRPr/>
          </a:p>
        </p:txBody>
      </p:sp>
      <p:cxnSp>
        <p:nvCxnSpPr>
          <p:cNvPr id="197" name="Google Shape;197;g38b67634e47_0_82"/>
          <p:cNvCxnSpPr/>
          <p:nvPr/>
        </p:nvCxnSpPr>
        <p:spPr>
          <a:xfrm>
            <a:off x="1453451" y="2492234"/>
            <a:ext cx="0" cy="1828800"/>
          </a:xfrm>
          <a:prstGeom prst="straightConnector1">
            <a:avLst/>
          </a:prstGeom>
          <a:noFill/>
          <a:ln cap="flat" cmpd="sng" w="47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g38b67634e47_0_82"/>
          <p:cNvSpPr/>
          <p:nvPr/>
        </p:nvSpPr>
        <p:spPr>
          <a:xfrm flipH="1" rot="10800000">
            <a:off x="10731151" y="3730178"/>
            <a:ext cx="928800" cy="36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8b67634e47_0_82"/>
          <p:cNvSpPr txBox="1"/>
          <p:nvPr/>
        </p:nvSpPr>
        <p:spPr>
          <a:xfrm>
            <a:off x="2368377" y="2613392"/>
            <a:ext cx="6125400" cy="21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SELECT c.nombre_campus, COUNT(a.id_alumno) AS total_alumnos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FROM promocion p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alumnos a ON p.id_promocion = a.id_promocion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campus c ON p.id_campus = c.id_campus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JOIN vertical v ON p.id_vertical = v.id_vertical</a:t>
            </a:r>
            <a:endParaRPr sz="1487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363"/>
              <a:buNone/>
            </a:pPr>
            <a:r>
              <a:rPr lang="en-US" sz="1487">
                <a:solidFill>
                  <a:srgbClr val="FFFFFF"/>
                </a:solidFill>
              </a:rPr>
              <a:t>GROUP BY c.nombre_campus</a:t>
            </a:r>
            <a:endParaRPr sz="1487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7">
                <a:solidFill>
                  <a:srgbClr val="FFFFFF"/>
                </a:solidFill>
              </a:rPr>
              <a:t>ORDER BY total_alumnos DESC</a:t>
            </a:r>
            <a:endParaRPr sz="1487">
              <a:solidFill>
                <a:srgbClr val="FFFFFF"/>
              </a:solidFill>
            </a:endParaRPr>
          </a:p>
        </p:txBody>
      </p:sp>
      <p:grpSp>
        <p:nvGrpSpPr>
          <p:cNvPr id="200" name="Google Shape;200;g38b67634e47_0_82"/>
          <p:cNvGrpSpPr/>
          <p:nvPr/>
        </p:nvGrpSpPr>
        <p:grpSpPr>
          <a:xfrm>
            <a:off x="1042425" y="2288274"/>
            <a:ext cx="9397154" cy="3453189"/>
            <a:chOff x="0" y="-28575"/>
            <a:chExt cx="1997100" cy="574039"/>
          </a:xfrm>
        </p:grpSpPr>
        <p:sp>
          <p:nvSpPr>
            <p:cNvPr id="201" name="Google Shape;201;g38b67634e47_0_82"/>
            <p:cNvSpPr/>
            <p:nvPr/>
          </p:nvSpPr>
          <p:spPr>
            <a:xfrm>
              <a:off x="0" y="0"/>
              <a:ext cx="1997076" cy="545464"/>
            </a:xfrm>
            <a:custGeom>
              <a:rect b="b" l="l" r="r" t="t"/>
              <a:pathLst>
                <a:path extrusionOk="0" h="545464" w="1997076">
                  <a:moveTo>
                    <a:pt x="0" y="0"/>
                  </a:moveTo>
                  <a:lnTo>
                    <a:pt x="1997076" y="0"/>
                  </a:lnTo>
                  <a:lnTo>
                    <a:pt x="1997076" y="545464"/>
                  </a:lnTo>
                  <a:lnTo>
                    <a:pt x="0" y="545464"/>
                  </a:lnTo>
                  <a:close/>
                </a:path>
              </a:pathLst>
            </a:custGeom>
            <a:solidFill>
              <a:srgbClr val="242523"/>
            </a:solidFill>
            <a:ln>
              <a:noFill/>
            </a:ln>
          </p:spPr>
        </p:sp>
        <p:sp>
          <p:nvSpPr>
            <p:cNvPr id="202" name="Google Shape;202;g38b67634e47_0_82"/>
            <p:cNvSpPr txBox="1"/>
            <p:nvPr/>
          </p:nvSpPr>
          <p:spPr>
            <a:xfrm>
              <a:off x="0" y="-28575"/>
              <a:ext cx="1997100" cy="57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500" lIns="69500" spcFirstLastPara="1" rIns="69500" wrap="square" tIns="69500">
              <a:noAutofit/>
            </a:bodyPr>
            <a:lstStyle/>
            <a:p>
              <a:pPr indent="0" lvl="0" marL="0" marR="0" rtl="0" algn="ctr">
                <a:lnSpc>
                  <a:spcPct val="129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3" name="Google Shape;203;g38b67634e47_0_82"/>
          <p:cNvCxnSpPr/>
          <p:nvPr/>
        </p:nvCxnSpPr>
        <p:spPr>
          <a:xfrm>
            <a:off x="1453451" y="2851409"/>
            <a:ext cx="0" cy="1828800"/>
          </a:xfrm>
          <a:prstGeom prst="straightConnector1">
            <a:avLst/>
          </a:prstGeom>
          <a:noFill/>
          <a:ln cap="flat" cmpd="sng" w="47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g38b67634e47_0_82"/>
          <p:cNvSpPr txBox="1"/>
          <p:nvPr/>
        </p:nvSpPr>
        <p:spPr>
          <a:xfrm>
            <a:off x="2055196" y="2746772"/>
            <a:ext cx="8338800" cy="25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87">
                <a:solidFill>
                  <a:schemeClr val="lt1"/>
                </a:solidFill>
              </a:rPr>
              <a:t>SELECT a.nombre, p.nombre_mes, p.fecha_comienzo, v.nombre_vertical,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87">
                <a:solidFill>
                  <a:schemeClr val="lt1"/>
                </a:solidFill>
              </a:rPr>
              <a:t>	SUM(CASE WHEN n.nota = 'Apto' THEN 1 ELSE 0 END) AS total_aptos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87">
                <a:solidFill>
                  <a:schemeClr val="lt1"/>
                </a:solidFill>
              </a:rPr>
              <a:t>FROM alumnos a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87">
                <a:solidFill>
                  <a:schemeClr val="lt1"/>
                </a:solidFill>
              </a:rPr>
              <a:t>JOIN notas n ON a.id_alumno = n.id_alumno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87">
                <a:solidFill>
                  <a:schemeClr val="lt1"/>
                </a:solidFill>
              </a:rPr>
              <a:t>JOIN promocion p ON a.id_promocion = p.id_promocion</a:t>
            </a:r>
            <a:endParaRPr sz="1787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787">
                <a:solidFill>
                  <a:schemeClr val="lt1"/>
                </a:solidFill>
              </a:rPr>
              <a:t>JOIN vertical v ON p.id_vertical = v.id_vertical</a:t>
            </a:r>
            <a:endParaRPr sz="1787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87">
                <a:solidFill>
                  <a:schemeClr val="lt1"/>
                </a:solidFill>
              </a:rPr>
              <a:t>GROUP BY a.nombre, p.nombre_mes, p.fecha_comienzo, v.nombre_vertical;</a:t>
            </a:r>
            <a:endParaRPr sz="1787">
              <a:solidFill>
                <a:schemeClr val="lt1"/>
              </a:solidFill>
            </a:endParaRPr>
          </a:p>
        </p:txBody>
      </p:sp>
      <p:sp>
        <p:nvSpPr>
          <p:cNvPr id="205" name="Google Shape;205;g38b67634e47_0_82"/>
          <p:cNvSpPr txBox="1"/>
          <p:nvPr/>
        </p:nvSpPr>
        <p:spPr>
          <a:xfrm>
            <a:off x="11951525" y="3276116"/>
            <a:ext cx="526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DEVUEVE LA CANTIDAD PROYECTOS APROBADOS POR ALUMNO, Y MUESTRA LA PROMOCIÓN EN LA QUE CURSA.</a:t>
            </a:r>
            <a:endParaRPr sz="2100"/>
          </a:p>
        </p:txBody>
      </p:sp>
      <p:pic>
        <p:nvPicPr>
          <p:cNvPr id="206" name="Google Shape;206;g38b67634e47_0_82"/>
          <p:cNvPicPr preferRelativeResize="0"/>
          <p:nvPr/>
        </p:nvPicPr>
        <p:blipFill rotWithShape="1">
          <a:blip r:embed="rId3">
            <a:alphaModFix/>
          </a:blip>
          <a:srcRect b="3478" l="0" r="735" t="4271"/>
          <a:stretch/>
        </p:blipFill>
        <p:spPr>
          <a:xfrm>
            <a:off x="2155375" y="6408150"/>
            <a:ext cx="13875074" cy="27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b67634e47_10_11"/>
          <p:cNvSpPr txBox="1"/>
          <p:nvPr/>
        </p:nvSpPr>
        <p:spPr>
          <a:xfrm>
            <a:off x="1128760" y="3945070"/>
            <a:ext cx="95343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MUCHAS GRACIAS POR SU ATENCIÓN</a:t>
            </a:r>
            <a:endParaRPr/>
          </a:p>
        </p:txBody>
      </p:sp>
      <p:sp>
        <p:nvSpPr>
          <p:cNvPr id="212" name="Google Shape;212;g38b67634e47_10_11"/>
          <p:cNvSpPr txBox="1"/>
          <p:nvPr/>
        </p:nvSpPr>
        <p:spPr>
          <a:xfrm>
            <a:off x="10538175" y="3849813"/>
            <a:ext cx="70899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Elena Gonzalez </a:t>
            </a:r>
            <a:r>
              <a:rPr lang="en-US" sz="1899">
                <a:solidFill>
                  <a:srgbClr val="242523"/>
                </a:solidFill>
              </a:rPr>
              <a:t>--------------- </a:t>
            </a:r>
            <a:r>
              <a:rPr lang="en-US" sz="1899">
                <a:solidFill>
                  <a:srgbClr val="242523"/>
                </a:solidFill>
              </a:rPr>
              <a:t>Elegm92</a:t>
            </a:r>
            <a:endParaRPr sz="1899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Ariela Astorg</a:t>
            </a:r>
            <a:r>
              <a:rPr lang="en-US" sz="1899">
                <a:solidFill>
                  <a:srgbClr val="242523"/>
                </a:solidFill>
              </a:rPr>
              <a:t>a ----------------- </a:t>
            </a:r>
            <a:r>
              <a:rPr lang="en-US" sz="1899">
                <a:solidFill>
                  <a:srgbClr val="242523"/>
                </a:solidFill>
              </a:rPr>
              <a:t>arielaastorga</a:t>
            </a:r>
            <a:endParaRPr sz="1899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Daniel Lavia	</a:t>
            </a:r>
            <a:r>
              <a:rPr lang="en-US" sz="1899">
                <a:solidFill>
                  <a:srgbClr val="242523"/>
                </a:solidFill>
              </a:rPr>
              <a:t>-------------------- </a:t>
            </a:r>
            <a:r>
              <a:rPr lang="en-US" sz="1899">
                <a:solidFill>
                  <a:srgbClr val="242523"/>
                </a:solidFill>
              </a:rPr>
              <a:t>danilaviaart-lgtm</a:t>
            </a:r>
            <a:endParaRPr sz="1899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Gian Marco Assandria </a:t>
            </a:r>
            <a:r>
              <a:rPr lang="en-US" sz="1899">
                <a:solidFill>
                  <a:srgbClr val="242523"/>
                </a:solidFill>
              </a:rPr>
              <a:t>------ g</a:t>
            </a:r>
            <a:r>
              <a:rPr lang="en-US" sz="1899">
                <a:solidFill>
                  <a:srgbClr val="242523"/>
                </a:solidFill>
              </a:rPr>
              <a:t>ianass-first</a:t>
            </a:r>
            <a:endParaRPr sz="1899">
              <a:solidFill>
                <a:srgbClr val="242523"/>
              </a:solidFill>
            </a:endParaRPr>
          </a:p>
          <a:p>
            <a:pPr indent="0" lvl="0" marL="0" marR="0" rtl="0" algn="l">
              <a:lnSpc>
                <a:spcPct val="226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9">
                <a:solidFill>
                  <a:srgbClr val="242523"/>
                </a:solidFill>
              </a:rPr>
              <a:t>Jaime Rubio	</a:t>
            </a:r>
            <a:r>
              <a:rPr lang="en-US" sz="1899">
                <a:solidFill>
                  <a:srgbClr val="242523"/>
                </a:solidFill>
              </a:rPr>
              <a:t>-------------------- </a:t>
            </a:r>
            <a:r>
              <a:rPr lang="en-US" sz="1899">
                <a:solidFill>
                  <a:srgbClr val="242523"/>
                </a:solidFill>
              </a:rPr>
              <a:t>BV-Works</a:t>
            </a:r>
            <a:endParaRPr sz="1899">
              <a:solidFill>
                <a:srgbClr val="242523"/>
              </a:solidFill>
            </a:endParaRPr>
          </a:p>
        </p:txBody>
      </p:sp>
      <p:sp>
        <p:nvSpPr>
          <p:cNvPr id="213" name="Google Shape;213;g38b67634e47_10_11"/>
          <p:cNvSpPr txBox="1"/>
          <p:nvPr/>
        </p:nvSpPr>
        <p:spPr>
          <a:xfrm>
            <a:off x="3646549" y="5593738"/>
            <a:ext cx="3809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¿Alguna duda?</a:t>
            </a:r>
            <a:endParaRPr/>
          </a:p>
        </p:txBody>
      </p:sp>
      <p:sp>
        <p:nvSpPr>
          <p:cNvPr id="214" name="Google Shape;214;g38b67634e47_10_11"/>
          <p:cNvSpPr txBox="1"/>
          <p:nvPr/>
        </p:nvSpPr>
        <p:spPr>
          <a:xfrm>
            <a:off x="10538175" y="2782338"/>
            <a:ext cx="5852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49">
                <a:solidFill>
                  <a:srgbClr val="242523"/>
                </a:solidFill>
                <a:latin typeface="Poppins"/>
                <a:ea typeface="Poppins"/>
                <a:cs typeface="Poppins"/>
                <a:sym typeface="Poppins"/>
              </a:rPr>
              <a:t>Siguenos en Github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