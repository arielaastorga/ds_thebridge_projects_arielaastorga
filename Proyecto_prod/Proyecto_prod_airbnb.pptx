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League Gothic" panose="020B0604020202020204" charset="0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USJ2+vHQPTnJz9RIL8WO0ZGPt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903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33ffbba1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e33ffbba1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33ffbba1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e33ffbba1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2ea17e58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API — Application Programming Interface, Interfaz de Programación de Aplicaciones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Una API es simplemente un acuerdo de comunicación entre dos programas.</a:t>
            </a:r>
            <a:endParaRPr/>
          </a:p>
        </p:txBody>
      </p:sp>
      <p:sp>
        <p:nvSpPr>
          <p:cNvPr id="177" name="Google Shape;177;g3e2ea17e58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2ea17e58e_1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e2ea17e58e_1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2ea17e58e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e2ea17e58e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2ea17e58e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3e2ea17e58e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2ea17e58e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e2ea17e58e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378fde610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e378fde610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2ea17e58e_1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e2ea17e58e_1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2ea17e58e_1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3e2ea17e58e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nline-ds-bridge-proyects-arielaastorga.onrender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online-ds-bridge-proyects-arielaastorga.onrender.com/health" TargetMode="External"/><Relationship Id="rId4" Type="http://schemas.openxmlformats.org/officeDocument/2006/relationships/hyperlink" Target="https://online-ds-bridge-proyects-arielaastorga.onrender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nline-ds-bridge-proyects-arielaastorga.onrender.com/predict-query?accommodates=4&amp;bathrooms=1&amp;bedrooms=2&amp;beds=2&amp;minimum_nights=2&amp;number_of_reviews=50&amp;review_scores_rating=4&amp;availability_365=180&amp;neighbourhood_cleansed=Sol&amp;room_type=Entire%20home/ap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13.60.90.39/predict-query?neighbourhood_cleansed=Goya&amp;room_type=Private%20room&amp;accommodates=2&amp;bathrooms=1&amp;bedrooms=1&amp;beds=1&amp;minimum_nights=3&amp;number_of_reviews=30&amp;review_scores_rating=4.2&amp;availability_365=150" TargetMode="External"/><Relationship Id="rId5" Type="http://schemas.openxmlformats.org/officeDocument/2006/relationships/hyperlink" Target="http://13.60.90.39/predict-query?neighbourhood_cleansed=Sol&amp;room_type=Entire%20home/apt&amp;accommodates=4&amp;bathrooms=1&amp;bedrooms=2&amp;beds=2&amp;minimum_nights=2&amp;number_of_reviews=50&amp;review_scores_rating=4.5&amp;availability_365=200" TargetMode="External"/><Relationship Id="rId4" Type="http://schemas.openxmlformats.org/officeDocument/2006/relationships/hyperlink" Target="http://13.60.90.39/health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2" r="-21368" b="-34533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2314586" y="4273591"/>
            <a:ext cx="13658828" cy="2357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441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0" i="0" u="none" strike="noStrike" cap="non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🏠 Airbnb Madrid — Price Predictor API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6511958" y="8937769"/>
            <a:ext cx="526408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  <a:sym typeface="Arial"/>
              </a:rPr>
              <a:t>20 MAYO 2026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953632" y="3561233"/>
            <a:ext cx="9905367" cy="61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8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  <a:sym typeface="Arial"/>
              </a:rPr>
              <a:t>PROYECTO PRODUCTIVIZACIÓN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3341372" y="8001912"/>
            <a:ext cx="5264100" cy="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  <a:sym typeface="Arial"/>
              </a:rPr>
              <a:t>ARIELA ASTORGA</a:t>
            </a:r>
            <a:endParaRPr/>
          </a:p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  <a:sym typeface="Arial"/>
              </a:rPr>
              <a:t>EDUARDO VALDERRAMA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/>
          <p:nvPr/>
        </p:nvSpPr>
        <p:spPr>
          <a:xfrm>
            <a:off x="0" y="0"/>
            <a:ext cx="203454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2" b="-9222"/>
            </a:stretch>
          </a:blipFill>
          <a:ln>
            <a:noFill/>
          </a:ln>
        </p:spPr>
      </p:sp>
      <p:grpSp>
        <p:nvGrpSpPr>
          <p:cNvPr id="94" name="Google Shape;94;p3"/>
          <p:cNvGrpSpPr/>
          <p:nvPr/>
        </p:nvGrpSpPr>
        <p:grpSpPr>
          <a:xfrm>
            <a:off x="2006903" y="3885533"/>
            <a:ext cx="2624131" cy="2716386"/>
            <a:chOff x="0" y="-28575"/>
            <a:chExt cx="812800" cy="841375"/>
          </a:xfrm>
        </p:grpSpPr>
        <p:sp>
          <p:nvSpPr>
            <p:cNvPr id="95" name="Google Shape;95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/>
                <a:t>25,000</a:t>
              </a:r>
              <a:endParaRPr sz="2300" b="1"/>
            </a:p>
          </p:txBody>
        </p:sp>
      </p:grpSp>
      <p:grpSp>
        <p:nvGrpSpPr>
          <p:cNvPr id="97" name="Google Shape;97;p3"/>
          <p:cNvGrpSpPr/>
          <p:nvPr/>
        </p:nvGrpSpPr>
        <p:grpSpPr>
          <a:xfrm>
            <a:off x="9671159" y="3885533"/>
            <a:ext cx="2624131" cy="2716386"/>
            <a:chOff x="0" y="-28575"/>
            <a:chExt cx="812800" cy="841375"/>
          </a:xfrm>
        </p:grpSpPr>
        <p:sp>
          <p:nvSpPr>
            <p:cNvPr id="98" name="Google Shape;98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/>
                <a:t>14,157</a:t>
              </a:r>
              <a:endParaRPr/>
            </a:p>
          </p:txBody>
        </p:sp>
      </p:grpSp>
      <p:grpSp>
        <p:nvGrpSpPr>
          <p:cNvPr id="100" name="Google Shape;100;p3"/>
          <p:cNvGrpSpPr/>
          <p:nvPr/>
        </p:nvGrpSpPr>
        <p:grpSpPr>
          <a:xfrm>
            <a:off x="5839031" y="3885533"/>
            <a:ext cx="2624131" cy="2716386"/>
            <a:chOff x="0" y="-28575"/>
            <a:chExt cx="812800" cy="841375"/>
          </a:xfrm>
        </p:grpSpPr>
        <p:sp>
          <p:nvSpPr>
            <p:cNvPr id="101" name="Google Shape;101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/>
                <a:t>79</a:t>
              </a:r>
              <a:endParaRPr sz="4400" b="1"/>
            </a:p>
          </p:txBody>
        </p:sp>
      </p:grpSp>
      <p:grpSp>
        <p:nvGrpSpPr>
          <p:cNvPr id="103" name="Google Shape;103;p3"/>
          <p:cNvGrpSpPr/>
          <p:nvPr/>
        </p:nvGrpSpPr>
        <p:grpSpPr>
          <a:xfrm>
            <a:off x="13503287" y="3885533"/>
            <a:ext cx="2624131" cy="2716386"/>
            <a:chOff x="0" y="-28575"/>
            <a:chExt cx="812800" cy="841375"/>
          </a:xfrm>
        </p:grpSpPr>
        <p:sp>
          <p:nvSpPr>
            <p:cNvPr id="104" name="Google Shape;104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/>
                <a:t>11</a:t>
              </a:r>
              <a:endParaRPr/>
            </a:p>
          </p:txBody>
        </p:sp>
      </p:grpSp>
      <p:sp>
        <p:nvSpPr>
          <p:cNvPr id="106" name="Google Shape;106;p3"/>
          <p:cNvSpPr txBox="1"/>
          <p:nvPr/>
        </p:nvSpPr>
        <p:spPr>
          <a:xfrm>
            <a:off x="2006891" y="2874590"/>
            <a:ext cx="6715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>
                <a:solidFill>
                  <a:srgbClr val="F4D314"/>
                </a:solidFill>
              </a:rPr>
              <a:t>Inside Airbnb Madrid – Detailed Listings (listings.csv.gz)</a:t>
            </a:r>
            <a:endParaRPr sz="700"/>
          </a:p>
        </p:txBody>
      </p:sp>
      <p:sp>
        <p:nvSpPr>
          <p:cNvPr id="107" name="Google Shape;107;p3"/>
          <p:cNvSpPr txBox="1"/>
          <p:nvPr/>
        </p:nvSpPr>
        <p:spPr>
          <a:xfrm>
            <a:off x="1958325" y="1238456"/>
            <a:ext cx="5985300" cy="1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DATASET</a:t>
            </a:r>
            <a:endParaRPr sz="8185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981217" y="7144898"/>
            <a:ext cx="2675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LISTINGS TOTALES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9641396" y="7144898"/>
            <a:ext cx="2675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POST LIMPIEZA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5632698" y="7144898"/>
            <a:ext cx="303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COLUMNAS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3292877" y="7144898"/>
            <a:ext cx="303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FEATURES SELEC.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7289450" y="78126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4D314"/>
                </a:solidFill>
              </a:rPr>
              <a:t>FEATURES SELECCIONADAS</a:t>
            </a:r>
            <a:endParaRPr sz="700" b="1"/>
          </a:p>
        </p:txBody>
      </p:sp>
      <p:sp>
        <p:nvSpPr>
          <p:cNvPr id="113" name="Google Shape;113;p3"/>
          <p:cNvSpPr txBox="1"/>
          <p:nvPr/>
        </p:nvSpPr>
        <p:spPr>
          <a:xfrm>
            <a:off x="2006900" y="8421150"/>
            <a:ext cx="135651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</a:rPr>
              <a:t>neighbourhood_cleansed  |  room_type  |  accommodates  |  bathrooms  |  bedrooms  |  beds  |  price  |  minimum_nights  |  number_of_reviews  |  review_scores_rating  |  availability_365</a:t>
            </a:r>
            <a:endParaRPr sz="2200">
              <a:solidFill>
                <a:srgbClr val="F4D31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33ffbba1f_0_6"/>
          <p:cNvSpPr/>
          <p:nvPr/>
        </p:nvSpPr>
        <p:spPr>
          <a:xfrm>
            <a:off x="-220200" y="0"/>
            <a:ext cx="2025396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1" b="-9221"/>
            </a:stretch>
          </a:blipFill>
          <a:ln>
            <a:noFill/>
          </a:ln>
        </p:spPr>
      </p:sp>
      <p:grpSp>
        <p:nvGrpSpPr>
          <p:cNvPr id="119" name="Google Shape;119;g3e33ffbba1f_0_6"/>
          <p:cNvGrpSpPr/>
          <p:nvPr/>
        </p:nvGrpSpPr>
        <p:grpSpPr>
          <a:xfrm>
            <a:off x="3008578" y="3813109"/>
            <a:ext cx="2624125" cy="2716379"/>
            <a:chOff x="0" y="-28575"/>
            <a:chExt cx="812800" cy="841375"/>
          </a:xfrm>
        </p:grpSpPr>
        <p:sp>
          <p:nvSpPr>
            <p:cNvPr id="120" name="Google Shape;120;g3e33ffbba1f_0_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g3e33ffbba1f_0_6"/>
            <p:cNvSpPr txBox="1"/>
            <p:nvPr/>
          </p:nvSpPr>
          <p:spPr>
            <a:xfrm>
              <a:off x="76200" y="-28575"/>
              <a:ext cx="660300" cy="7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/>
                <a:t>€305</a:t>
              </a:r>
              <a:endParaRPr sz="2300" b="1"/>
            </a:p>
          </p:txBody>
        </p:sp>
      </p:grpSp>
      <p:grpSp>
        <p:nvGrpSpPr>
          <p:cNvPr id="122" name="Google Shape;122;g3e33ffbba1f_0_6"/>
          <p:cNvGrpSpPr/>
          <p:nvPr/>
        </p:nvGrpSpPr>
        <p:grpSpPr>
          <a:xfrm>
            <a:off x="12655334" y="3785309"/>
            <a:ext cx="2624125" cy="2716379"/>
            <a:chOff x="0" y="-28575"/>
            <a:chExt cx="812800" cy="841375"/>
          </a:xfrm>
        </p:grpSpPr>
        <p:sp>
          <p:nvSpPr>
            <p:cNvPr id="123" name="Google Shape;123;g3e33ffbba1f_0_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g3e33ffbba1f_0_6"/>
            <p:cNvSpPr txBox="1"/>
            <p:nvPr/>
          </p:nvSpPr>
          <p:spPr>
            <a:xfrm>
              <a:off x="76200" y="-28575"/>
              <a:ext cx="660300" cy="7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/>
                <a:t>14,157</a:t>
              </a:r>
              <a:endParaRPr/>
            </a:p>
          </p:txBody>
        </p:sp>
      </p:grpSp>
      <p:grpSp>
        <p:nvGrpSpPr>
          <p:cNvPr id="125" name="Google Shape;125;g3e33ffbba1f_0_6"/>
          <p:cNvGrpSpPr/>
          <p:nvPr/>
        </p:nvGrpSpPr>
        <p:grpSpPr>
          <a:xfrm>
            <a:off x="7831944" y="3813109"/>
            <a:ext cx="2624125" cy="2716379"/>
            <a:chOff x="0" y="-28575"/>
            <a:chExt cx="812800" cy="841375"/>
          </a:xfrm>
        </p:grpSpPr>
        <p:sp>
          <p:nvSpPr>
            <p:cNvPr id="126" name="Google Shape;126;g3e33ffbba1f_0_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g3e33ffbba1f_0_6"/>
            <p:cNvSpPr txBox="1"/>
            <p:nvPr/>
          </p:nvSpPr>
          <p:spPr>
            <a:xfrm>
              <a:off x="76200" y="-28575"/>
              <a:ext cx="660300" cy="7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/>
                <a:t>79</a:t>
              </a:r>
              <a:endParaRPr sz="4400" b="1"/>
            </a:p>
          </p:txBody>
        </p:sp>
      </p:grpSp>
      <p:sp>
        <p:nvSpPr>
          <p:cNvPr id="128" name="Google Shape;128;g3e33ffbba1f_0_6"/>
          <p:cNvSpPr txBox="1"/>
          <p:nvPr/>
        </p:nvSpPr>
        <p:spPr>
          <a:xfrm>
            <a:off x="2006891" y="2874590"/>
            <a:ext cx="6715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>
                <a:solidFill>
                  <a:srgbClr val="F4D314"/>
                </a:solidFill>
              </a:rPr>
              <a:t>Outlier detection using IQR method</a:t>
            </a:r>
            <a:endParaRPr sz="700"/>
          </a:p>
        </p:txBody>
      </p:sp>
      <p:sp>
        <p:nvSpPr>
          <p:cNvPr id="129" name="Google Shape;129;g3e33ffbba1f_0_6"/>
          <p:cNvSpPr txBox="1"/>
          <p:nvPr/>
        </p:nvSpPr>
        <p:spPr>
          <a:xfrm>
            <a:off x="1958325" y="1238450"/>
            <a:ext cx="7149000" cy="1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EDA - PRICE ANALYSIS</a:t>
            </a:r>
            <a:endParaRPr sz="8185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130" name="Google Shape;130;g3e33ffbba1f_0_6"/>
          <p:cNvSpPr txBox="1"/>
          <p:nvPr/>
        </p:nvSpPr>
        <p:spPr>
          <a:xfrm>
            <a:off x="3008567" y="6872423"/>
            <a:ext cx="26754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LÍMITE SUPERIOR IQR (CUTOFF OUTLIER)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31" name="Google Shape;131;g3e33ffbba1f_0_6"/>
          <p:cNvSpPr txBox="1"/>
          <p:nvPr/>
        </p:nvSpPr>
        <p:spPr>
          <a:xfrm>
            <a:off x="12629696" y="6872423"/>
            <a:ext cx="26754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FILAS ELIMINADAS COMO OUTLIERS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32" name="Google Shape;132;g3e33ffbba1f_0_6"/>
          <p:cNvSpPr txBox="1"/>
          <p:nvPr/>
        </p:nvSpPr>
        <p:spPr>
          <a:xfrm>
            <a:off x="7625561" y="6872423"/>
            <a:ext cx="30369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PRECIO MEDIO POST LIMPIEZA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33" name="Google Shape;133;g3e33ffbba1f_0_6"/>
          <p:cNvSpPr txBox="1"/>
          <p:nvPr/>
        </p:nvSpPr>
        <p:spPr>
          <a:xfrm>
            <a:off x="2006900" y="78441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4D314"/>
                </a:solidFill>
              </a:rPr>
              <a:t>FÓRMULA IQR</a:t>
            </a:r>
            <a:endParaRPr sz="1200" b="1"/>
          </a:p>
        </p:txBody>
      </p:sp>
      <p:sp>
        <p:nvSpPr>
          <p:cNvPr id="134" name="Google Shape;134;g3e33ffbba1f_0_6"/>
          <p:cNvSpPr txBox="1"/>
          <p:nvPr/>
        </p:nvSpPr>
        <p:spPr>
          <a:xfrm>
            <a:off x="2006900" y="8421150"/>
            <a:ext cx="13565100" cy="13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</a:rPr>
              <a:t>Q1 = €73  |  Q3 = €162  |  IQR = €89  |  Upper Limit = Q3 + (1.5 x IQR) = €305</a:t>
            </a:r>
            <a:endParaRPr sz="1700">
              <a:solidFill>
                <a:srgbClr val="CCCCC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</a:rPr>
              <a:t>Cualquier listing con un precio superior a €305 fue eliminado como outlier</a:t>
            </a:r>
            <a:endParaRPr sz="1700">
              <a:solidFill>
                <a:srgbClr val="CCCCC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</a:rPr>
              <a:t>Listings con 0 disponibilidad y habitación Compartida / Hotel también fueron eliminados</a:t>
            </a:r>
            <a:endParaRPr sz="1700">
              <a:solidFill>
                <a:srgbClr val="CCCCCC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202082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2" b="-9222"/>
            </a:stretch>
          </a:blipFill>
          <a:ln>
            <a:noFill/>
          </a:ln>
        </p:spPr>
      </p:sp>
      <p:sp>
        <p:nvSpPr>
          <p:cNvPr id="140" name="Google Shape;140;p4"/>
          <p:cNvSpPr txBox="1"/>
          <p:nvPr/>
        </p:nvSpPr>
        <p:spPr>
          <a:xfrm>
            <a:off x="1958325" y="1663131"/>
            <a:ext cx="5985300" cy="1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PREPROCESAMIENTO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1958328" y="2923117"/>
            <a:ext cx="4164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4D314"/>
                </a:solidFill>
              </a:rPr>
              <a:t>Limpieza, encoding y split de data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1958300" y="3691009"/>
            <a:ext cx="138969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619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D314"/>
              </a:buClr>
              <a:buSzPts val="2100"/>
              <a:buAutoNum type="arabicParenR"/>
            </a:pPr>
            <a:r>
              <a:rPr lang="en-US" sz="2100" b="1">
                <a:solidFill>
                  <a:srgbClr val="F4D314"/>
                </a:solidFill>
              </a:rPr>
              <a:t>Eliminación outliers </a:t>
            </a:r>
            <a:r>
              <a:rPr lang="en-US" sz="2100">
                <a:solidFill>
                  <a:schemeClr val="lt1"/>
                </a:solidFill>
              </a:rPr>
              <a:t>Precios superiores a €305 (límite superior IQR) eliminados</a:t>
            </a:r>
            <a:endParaRPr sz="2100">
              <a:solidFill>
                <a:schemeClr val="lt1"/>
              </a:solidFill>
            </a:endParaRPr>
          </a:p>
          <a:p>
            <a:pPr marL="457200" lvl="0" indent="-3619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D314"/>
              </a:buClr>
              <a:buSzPts val="2100"/>
              <a:buAutoNum type="arabicParenR"/>
            </a:pPr>
            <a:r>
              <a:rPr lang="en-US" sz="2100" b="1">
                <a:solidFill>
                  <a:srgbClr val="F4D314"/>
                </a:solidFill>
              </a:rPr>
              <a:t>Filtro Room Type </a:t>
            </a:r>
            <a:r>
              <a:rPr lang="en-US" sz="2100">
                <a:solidFill>
                  <a:schemeClr val="lt1"/>
                </a:solidFill>
              </a:rPr>
              <a:t>Únicamente listings Entire Home/Apartment y Private Room</a:t>
            </a:r>
            <a:endParaRPr sz="2100">
              <a:solidFill>
                <a:schemeClr val="lt1"/>
              </a:solidFill>
            </a:endParaRPr>
          </a:p>
          <a:p>
            <a:pPr marL="457200" lvl="0" indent="-3619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D314"/>
              </a:buClr>
              <a:buSzPts val="2100"/>
              <a:buAutoNum type="arabicParenR"/>
            </a:pPr>
            <a:r>
              <a:rPr lang="en-US" sz="2100" b="1">
                <a:solidFill>
                  <a:srgbClr val="F4D314"/>
                </a:solidFill>
              </a:rPr>
              <a:t>Filtro Disponibilidad </a:t>
            </a:r>
            <a:r>
              <a:rPr lang="en-US" sz="2100">
                <a:solidFill>
                  <a:schemeClr val="lt1"/>
                </a:solidFill>
              </a:rPr>
              <a:t>Listings con 0 disponibilidad fueron eliminados</a:t>
            </a:r>
            <a:endParaRPr sz="2100">
              <a:solidFill>
                <a:schemeClr val="lt1"/>
              </a:solidFill>
            </a:endParaRPr>
          </a:p>
          <a:p>
            <a:pPr marL="457200" lvl="0" indent="-3619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D314"/>
              </a:buClr>
              <a:buSzPts val="2100"/>
              <a:buAutoNum type="arabicParenR"/>
            </a:pPr>
            <a:r>
              <a:rPr lang="en-US" sz="2100" b="1">
                <a:solidFill>
                  <a:srgbClr val="F4D314"/>
                </a:solidFill>
              </a:rPr>
              <a:t>Agrupamiento de Barrios </a:t>
            </a:r>
            <a:r>
              <a:rPr lang="en-US" sz="2100">
                <a:solidFill>
                  <a:schemeClr val="lt1"/>
                </a:solidFill>
              </a:rPr>
              <a:t>128 barrios reducidos al Top 33 + Other (mean threshold: 139 listings)</a:t>
            </a:r>
            <a:endParaRPr sz="2100">
              <a:solidFill>
                <a:schemeClr val="lt1"/>
              </a:solidFill>
            </a:endParaRPr>
          </a:p>
          <a:p>
            <a:pPr marL="457200" lvl="0" indent="-3619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D314"/>
              </a:buClr>
              <a:buSzPts val="2100"/>
              <a:buAutoNum type="arabicParenR"/>
            </a:pPr>
            <a:r>
              <a:rPr lang="en-US" sz="2100" b="1">
                <a:solidFill>
                  <a:srgbClr val="F4D314"/>
                </a:solidFill>
              </a:rPr>
              <a:t>One-hot Encoding </a:t>
            </a:r>
            <a:r>
              <a:rPr lang="en-US" sz="2100">
                <a:solidFill>
                  <a:schemeClr val="lt1"/>
                </a:solidFill>
              </a:rPr>
              <a:t>neighbourhood_cleansed y room_type encoded como columnas binarias</a:t>
            </a:r>
            <a:endParaRPr sz="2100">
              <a:solidFill>
                <a:schemeClr val="lt1"/>
              </a:solidFill>
            </a:endParaRPr>
          </a:p>
          <a:p>
            <a:pPr marL="457200" lvl="0" indent="-3619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D314"/>
              </a:buClr>
              <a:buSzPts val="2100"/>
              <a:buAutoNum type="arabicParenR"/>
            </a:pPr>
            <a:r>
              <a:rPr lang="en-US" sz="2100" b="1">
                <a:solidFill>
                  <a:srgbClr val="F4D314"/>
                </a:solidFill>
              </a:rPr>
              <a:t>Train / Test Split </a:t>
            </a:r>
            <a:r>
              <a:rPr lang="en-US" sz="2100">
                <a:solidFill>
                  <a:schemeClr val="lt1"/>
                </a:solidFill>
              </a:rPr>
              <a:t>80/20 split – 11,613 train / 2,904 test rows – 36 features 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2007108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3419" b="-83419"/>
            </a:stretch>
          </a:blipFill>
          <a:ln>
            <a:noFill/>
          </a:ln>
        </p:spPr>
      </p:sp>
      <p:sp>
        <p:nvSpPr>
          <p:cNvPr id="148" name="Google Shape;148;p5"/>
          <p:cNvSpPr txBox="1"/>
          <p:nvPr/>
        </p:nvSpPr>
        <p:spPr>
          <a:xfrm>
            <a:off x="1958325" y="1663131"/>
            <a:ext cx="5985300" cy="1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MODELO V1 vs V2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1958326" y="2923125"/>
            <a:ext cx="7698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>
                <a:solidFill>
                  <a:srgbClr val="F4D314"/>
                </a:solidFill>
              </a:rPr>
              <a:t>Random Forest Regressor – el por qué cambiamos de datasets</a:t>
            </a:r>
            <a:endParaRPr sz="700"/>
          </a:p>
        </p:txBody>
      </p:sp>
      <p:pic>
        <p:nvPicPr>
          <p:cNvPr id="150" name="Google Shape;15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64575" y="3429000"/>
            <a:ext cx="6931675" cy="567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8337" y="3429000"/>
            <a:ext cx="6753133" cy="5678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64575" y="3460850"/>
            <a:ext cx="6865451" cy="5570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58324" y="3460840"/>
            <a:ext cx="6753150" cy="5614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33ffbba1f_0_42"/>
          <p:cNvSpPr/>
          <p:nvPr/>
        </p:nvSpPr>
        <p:spPr>
          <a:xfrm>
            <a:off x="-220200" y="0"/>
            <a:ext cx="2098548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1" b="-9221"/>
            </a:stretch>
          </a:blipFill>
          <a:ln>
            <a:noFill/>
          </a:ln>
        </p:spPr>
      </p:sp>
      <p:grpSp>
        <p:nvGrpSpPr>
          <p:cNvPr id="159" name="Google Shape;159;g3e33ffbba1f_0_42"/>
          <p:cNvGrpSpPr/>
          <p:nvPr/>
        </p:nvGrpSpPr>
        <p:grpSpPr>
          <a:xfrm>
            <a:off x="3008578" y="3813109"/>
            <a:ext cx="2624125" cy="2716379"/>
            <a:chOff x="0" y="-28575"/>
            <a:chExt cx="812800" cy="841375"/>
          </a:xfrm>
        </p:grpSpPr>
        <p:sp>
          <p:nvSpPr>
            <p:cNvPr id="160" name="Google Shape;160;g3e33ffbba1f_0_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g3e33ffbba1f_0_42"/>
            <p:cNvSpPr txBox="1"/>
            <p:nvPr/>
          </p:nvSpPr>
          <p:spPr>
            <a:xfrm>
              <a:off x="76200" y="-28575"/>
              <a:ext cx="660300" cy="7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/>
                <a:t>€27</a:t>
              </a:r>
              <a:endParaRPr sz="2300" b="1"/>
            </a:p>
          </p:txBody>
        </p:sp>
      </p:grpSp>
      <p:grpSp>
        <p:nvGrpSpPr>
          <p:cNvPr id="162" name="Google Shape;162;g3e33ffbba1f_0_42"/>
          <p:cNvGrpSpPr/>
          <p:nvPr/>
        </p:nvGrpSpPr>
        <p:grpSpPr>
          <a:xfrm>
            <a:off x="12655334" y="3785309"/>
            <a:ext cx="2624125" cy="2716379"/>
            <a:chOff x="0" y="-28575"/>
            <a:chExt cx="812800" cy="841375"/>
          </a:xfrm>
        </p:grpSpPr>
        <p:sp>
          <p:nvSpPr>
            <p:cNvPr id="163" name="Google Shape;163;g3e33ffbba1f_0_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g3e33ffbba1f_0_42"/>
            <p:cNvSpPr txBox="1"/>
            <p:nvPr/>
          </p:nvSpPr>
          <p:spPr>
            <a:xfrm>
              <a:off x="76200" y="-28575"/>
              <a:ext cx="660300" cy="7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/>
                <a:t>0.61</a:t>
              </a:r>
              <a:endParaRPr/>
            </a:p>
          </p:txBody>
        </p:sp>
      </p:grpSp>
      <p:grpSp>
        <p:nvGrpSpPr>
          <p:cNvPr id="165" name="Google Shape;165;g3e33ffbba1f_0_42"/>
          <p:cNvGrpSpPr/>
          <p:nvPr/>
        </p:nvGrpSpPr>
        <p:grpSpPr>
          <a:xfrm>
            <a:off x="7831944" y="3813109"/>
            <a:ext cx="2624125" cy="2716379"/>
            <a:chOff x="0" y="-28575"/>
            <a:chExt cx="812800" cy="841375"/>
          </a:xfrm>
        </p:grpSpPr>
        <p:sp>
          <p:nvSpPr>
            <p:cNvPr id="166" name="Google Shape;166;g3e33ffbba1f_0_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g3e33ffbba1f_0_42"/>
            <p:cNvSpPr txBox="1"/>
            <p:nvPr/>
          </p:nvSpPr>
          <p:spPr>
            <a:xfrm>
              <a:off x="76200" y="-28575"/>
              <a:ext cx="660300" cy="7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/>
                <a:t>€37</a:t>
              </a:r>
              <a:endParaRPr sz="4400" b="1"/>
            </a:p>
          </p:txBody>
        </p:sp>
      </p:grpSp>
      <p:sp>
        <p:nvSpPr>
          <p:cNvPr id="168" name="Google Shape;168;g3e33ffbba1f_0_42"/>
          <p:cNvSpPr txBox="1"/>
          <p:nvPr/>
        </p:nvSpPr>
        <p:spPr>
          <a:xfrm>
            <a:off x="2006891" y="2874590"/>
            <a:ext cx="6715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>
                <a:solidFill>
                  <a:srgbClr val="F4D314"/>
                </a:solidFill>
              </a:rPr>
              <a:t>Random Forest Regressor – Dataset Detallado (V2)</a:t>
            </a:r>
            <a:endParaRPr sz="700"/>
          </a:p>
        </p:txBody>
      </p:sp>
      <p:sp>
        <p:nvSpPr>
          <p:cNvPr id="169" name="Google Shape;169;g3e33ffbba1f_0_42"/>
          <p:cNvSpPr txBox="1"/>
          <p:nvPr/>
        </p:nvSpPr>
        <p:spPr>
          <a:xfrm>
            <a:off x="1958325" y="1238450"/>
            <a:ext cx="7149000" cy="1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RESULTADOS FINALES</a:t>
            </a:r>
            <a:endParaRPr sz="8185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170" name="Google Shape;170;g3e33ffbba1f_0_42"/>
          <p:cNvSpPr txBox="1"/>
          <p:nvPr/>
        </p:nvSpPr>
        <p:spPr>
          <a:xfrm>
            <a:off x="3008567" y="6872423"/>
            <a:ext cx="26754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MAE (ERROR PROMEDIO)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71" name="Google Shape;171;g3e33ffbba1f_0_42"/>
          <p:cNvSpPr txBox="1"/>
          <p:nvPr/>
        </p:nvSpPr>
        <p:spPr>
          <a:xfrm>
            <a:off x="12629696" y="6872423"/>
            <a:ext cx="2675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R²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72" name="Google Shape;172;g3e33ffbba1f_0_42"/>
          <p:cNvSpPr txBox="1"/>
          <p:nvPr/>
        </p:nvSpPr>
        <p:spPr>
          <a:xfrm>
            <a:off x="7625561" y="6872423"/>
            <a:ext cx="3036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RMSE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73" name="Google Shape;173;g3e33ffbba1f_0_42"/>
          <p:cNvSpPr txBox="1"/>
          <p:nvPr/>
        </p:nvSpPr>
        <p:spPr>
          <a:xfrm>
            <a:off x="2006900" y="78441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4D314"/>
                </a:solidFill>
              </a:rPr>
              <a:t>INTERPRETACIÓN</a:t>
            </a:r>
            <a:endParaRPr sz="1200" b="1"/>
          </a:p>
        </p:txBody>
      </p:sp>
      <p:sp>
        <p:nvSpPr>
          <p:cNvPr id="174" name="Google Shape;174;g3e33ffbba1f_0_42"/>
          <p:cNvSpPr txBox="1"/>
          <p:nvPr/>
        </p:nvSpPr>
        <p:spPr>
          <a:xfrm>
            <a:off x="2006900" y="8421150"/>
            <a:ext cx="135651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</a:rPr>
              <a:t>En promedio, el modelo predice el precio por noche con un margen de €27</a:t>
            </a:r>
            <a:endParaRPr sz="1700">
              <a:solidFill>
                <a:srgbClr val="CCCCC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</a:rPr>
              <a:t>El </a:t>
            </a:r>
            <a:r>
              <a:rPr lang="en-US" sz="1700">
                <a:solidFill>
                  <a:srgbClr val="FFFFFF"/>
                </a:solidFill>
              </a:rPr>
              <a:t>R²</a:t>
            </a:r>
            <a:r>
              <a:rPr lang="en-US" sz="1700">
                <a:solidFill>
                  <a:srgbClr val="CCCCCC"/>
                </a:solidFill>
              </a:rPr>
              <a:t> significa que explica el 61% de la varianza en el precio</a:t>
            </a:r>
            <a:endParaRPr sz="17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2ea17e58e_1_0"/>
          <p:cNvSpPr/>
          <p:nvPr/>
        </p:nvSpPr>
        <p:spPr>
          <a:xfrm>
            <a:off x="0" y="10"/>
            <a:ext cx="199796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1" b="-9221"/>
            </a:stretch>
          </a:blipFill>
          <a:ln>
            <a:noFill/>
          </a:ln>
        </p:spPr>
      </p:sp>
      <p:sp>
        <p:nvSpPr>
          <p:cNvPr id="180" name="Google Shape;180;g3e2ea17e58e_1_0"/>
          <p:cNvSpPr txBox="1"/>
          <p:nvPr/>
        </p:nvSpPr>
        <p:spPr>
          <a:xfrm>
            <a:off x="1398475" y="1036056"/>
            <a:ext cx="765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API REST EN FLASK</a:t>
            </a:r>
            <a:endParaRPr sz="6000"/>
          </a:p>
        </p:txBody>
      </p:sp>
      <p:sp>
        <p:nvSpPr>
          <p:cNvPr id="181" name="Google Shape;181;g3e2ea17e58e_1_0"/>
          <p:cNvSpPr txBox="1"/>
          <p:nvPr/>
        </p:nvSpPr>
        <p:spPr>
          <a:xfrm>
            <a:off x="1802587" y="2714343"/>
            <a:ext cx="471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4D314"/>
                </a:solidFill>
              </a:rPr>
              <a:t>Home - Ruta principal de la API</a:t>
            </a:r>
            <a:endParaRPr/>
          </a:p>
        </p:txBody>
      </p:sp>
      <p:sp>
        <p:nvSpPr>
          <p:cNvPr id="182" name="Google Shape;182;g3e2ea17e58e_1_0"/>
          <p:cNvSpPr txBox="1"/>
          <p:nvPr/>
        </p:nvSpPr>
        <p:spPr>
          <a:xfrm>
            <a:off x="1398466" y="2132049"/>
            <a:ext cx="8215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4D314"/>
                </a:solidFill>
              </a:rPr>
              <a:t>ESTRUCTURA</a:t>
            </a:r>
            <a:endParaRPr/>
          </a:p>
        </p:txBody>
      </p:sp>
      <p:sp>
        <p:nvSpPr>
          <p:cNvPr id="183" name="Google Shape;183;g3e2ea17e58e_1_0"/>
          <p:cNvSpPr txBox="1"/>
          <p:nvPr/>
        </p:nvSpPr>
        <p:spPr>
          <a:xfrm>
            <a:off x="2071050" y="3298500"/>
            <a:ext cx="15593400" cy="26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@app.route("/", methods=["GET"])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Imprime un mensaje de inicio: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https://tu-api.onrender.com/   -&gt;  </a:t>
            </a:r>
            <a:r>
              <a:rPr lang="en-US" sz="2600" u="sng">
                <a:solidFill>
                  <a:srgbClr val="F4D314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https://online-ds-bridge-proyects-arielaastorga.onrender.com/</a:t>
            </a:r>
            <a:endParaRPr sz="2950">
              <a:solidFill>
                <a:srgbClr val="F4D31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"message": "API Flask para predicción de precios de apartamentos",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"endpoints": ["/health", "/predict_query", "/predict"]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FFFFFF"/>
              </a:solidFill>
            </a:endParaRPr>
          </a:p>
        </p:txBody>
      </p:sp>
      <p:sp>
        <p:nvSpPr>
          <p:cNvPr id="184" name="Google Shape;184;g3e2ea17e58e_1_0"/>
          <p:cNvSpPr txBox="1"/>
          <p:nvPr/>
        </p:nvSpPr>
        <p:spPr>
          <a:xfrm>
            <a:off x="1802567" y="5882710"/>
            <a:ext cx="7992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4D314"/>
                </a:solidFill>
              </a:rPr>
              <a:t>Heath - Comprueba que la API está funcionado</a:t>
            </a:r>
            <a:endParaRPr sz="2100">
              <a:solidFill>
                <a:srgbClr val="F4D314"/>
              </a:solidFill>
            </a:endParaRPr>
          </a:p>
        </p:txBody>
      </p:sp>
      <p:sp>
        <p:nvSpPr>
          <p:cNvPr id="185" name="Google Shape;185;g3e2ea17e58e_1_0"/>
          <p:cNvSpPr txBox="1"/>
          <p:nvPr/>
        </p:nvSpPr>
        <p:spPr>
          <a:xfrm>
            <a:off x="2071052" y="6417858"/>
            <a:ext cx="12111300" cy="20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@app.route("/health", methods=["GET"])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imprime mensaje: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"status": "ok",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"service": "running"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2ea17e58e_1_481"/>
          <p:cNvSpPr/>
          <p:nvPr/>
        </p:nvSpPr>
        <p:spPr>
          <a:xfrm>
            <a:off x="0" y="-87723"/>
            <a:ext cx="199796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1" b="-9221"/>
            </a:stretch>
          </a:blipFill>
          <a:ln>
            <a:noFill/>
          </a:ln>
        </p:spPr>
      </p:sp>
      <p:sp>
        <p:nvSpPr>
          <p:cNvPr id="191" name="Google Shape;191;g3e2ea17e58e_1_481"/>
          <p:cNvSpPr txBox="1"/>
          <p:nvPr/>
        </p:nvSpPr>
        <p:spPr>
          <a:xfrm>
            <a:off x="1927193" y="2729477"/>
            <a:ext cx="752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4D314"/>
                </a:solidFill>
              </a:rPr>
              <a:t>FUNCIÓN VERIFICA  PARÁMETROS DE ENTRADA</a:t>
            </a:r>
            <a:endParaRPr/>
          </a:p>
        </p:txBody>
      </p:sp>
      <p:sp>
        <p:nvSpPr>
          <p:cNvPr id="192" name="Google Shape;192;g3e2ea17e58e_1_481"/>
          <p:cNvSpPr txBox="1"/>
          <p:nvPr/>
        </p:nvSpPr>
        <p:spPr>
          <a:xfrm>
            <a:off x="1140900" y="3326900"/>
            <a:ext cx="16006200" cy="7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75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35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preparar_fila_entrada(data):</a:t>
            </a:r>
            <a:endParaRPr sz="235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9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Esa función convierte y valida el diccionario de entrada para dejarlo listo para el modelo. Transforma los datos “crudos” que envía el usuario en una fila numérica, válida y con el formato exacto que necesita el modelo.</a:t>
            </a:r>
            <a:endParaRPr sz="19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9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5242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ourier New"/>
              <a:buChar char="-"/>
            </a:pPr>
            <a:r>
              <a:rPr lang="en-US" sz="19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Revisa que estén todos los campos necesarios; si falta alguno, lanza un error.</a:t>
            </a:r>
            <a:endParaRPr sz="19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5242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ourier New"/>
              <a:buChar char="-"/>
            </a:pPr>
            <a:r>
              <a:rPr lang="en-US" sz="19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Convierte los campos numéricos a float y da error si alguno no es numérico.</a:t>
            </a:r>
            <a:endParaRPr sz="19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5242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ourier New"/>
              <a:buChar char="-"/>
            </a:pPr>
            <a:r>
              <a:rPr lang="en-US" sz="19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Limpia los campos categóricos (neighbourhood_cleansed y room_type) quitando espacios y comprobando que sus valores sean válidos (</a:t>
            </a:r>
            <a:r>
              <a:rPr lang="en-US" sz="195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Por el one-hot encoding</a:t>
            </a:r>
            <a:r>
              <a:rPr lang="en-US" sz="19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9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5242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ourier New"/>
              <a:buChar char="-"/>
            </a:pPr>
            <a:r>
              <a:rPr lang="en-US" sz="19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Completa el resto de columnas con 0 para mantener la misma estructura que esperaba el modelo.</a:t>
            </a:r>
            <a:endParaRPr sz="19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5242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ourier New"/>
              <a:buChar char="-"/>
            </a:pPr>
            <a:r>
              <a:rPr lang="en-US" sz="19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Activa con 1 la columna correspondiente al barrio y al tipo de habitación, como si hiciera </a:t>
            </a:r>
            <a:endParaRPr sz="19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un one-hot encoding manual.</a:t>
            </a:r>
            <a:endParaRPr sz="19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5242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ourier New"/>
              <a:buChar char="-"/>
            </a:pPr>
            <a:r>
              <a:rPr lang="en-US" sz="19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Devuelve todo en un DataFrame de pandas con las columnas en el orden correcto para model.predict()</a:t>
            </a:r>
            <a:endParaRPr sz="19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93" name="Google Shape;193;g3e2ea17e58e_1_481"/>
          <p:cNvSpPr txBox="1"/>
          <p:nvPr/>
        </p:nvSpPr>
        <p:spPr>
          <a:xfrm>
            <a:off x="1398475" y="1036056"/>
            <a:ext cx="765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API REST EN FLASK</a:t>
            </a:r>
            <a:endParaRPr sz="6000"/>
          </a:p>
        </p:txBody>
      </p:sp>
      <p:sp>
        <p:nvSpPr>
          <p:cNvPr id="194" name="Google Shape;194;g3e2ea17e58e_1_481"/>
          <p:cNvSpPr txBox="1"/>
          <p:nvPr/>
        </p:nvSpPr>
        <p:spPr>
          <a:xfrm>
            <a:off x="1398466" y="2132049"/>
            <a:ext cx="8215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4D314"/>
                </a:solidFill>
              </a:rPr>
              <a:t>ESTRUCTURA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2ea17e58e_1_43"/>
          <p:cNvSpPr/>
          <p:nvPr/>
        </p:nvSpPr>
        <p:spPr>
          <a:xfrm>
            <a:off x="0" y="0"/>
            <a:ext cx="199796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1" b="-9221"/>
            </a:stretch>
          </a:blipFill>
          <a:ln>
            <a:noFill/>
          </a:ln>
        </p:spPr>
      </p:sp>
      <p:sp>
        <p:nvSpPr>
          <p:cNvPr id="200" name="Google Shape;200;g3e2ea17e58e_1_43"/>
          <p:cNvSpPr txBox="1"/>
          <p:nvPr/>
        </p:nvSpPr>
        <p:spPr>
          <a:xfrm>
            <a:off x="1532437" y="2951140"/>
            <a:ext cx="471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4D314"/>
                </a:solidFill>
              </a:rPr>
              <a:t>Ruta con el parámetro PATH</a:t>
            </a:r>
            <a:endParaRPr/>
          </a:p>
        </p:txBody>
      </p:sp>
      <p:sp>
        <p:nvSpPr>
          <p:cNvPr id="201" name="Google Shape;201;g3e2ea17e58e_1_43"/>
          <p:cNvSpPr txBox="1"/>
          <p:nvPr/>
        </p:nvSpPr>
        <p:spPr>
          <a:xfrm>
            <a:off x="2099889" y="3428998"/>
            <a:ext cx="12111300" cy="16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@app.route("/neighbourhood/&lt;name&gt;", methods=["GET"])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neighbourhood(name):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jsonify({"neighbourhood": name})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FFFFFF"/>
              </a:solidFill>
            </a:endParaRPr>
          </a:p>
        </p:txBody>
      </p:sp>
      <p:sp>
        <p:nvSpPr>
          <p:cNvPr id="202" name="Google Shape;202;g3e2ea17e58e_1_43"/>
          <p:cNvSpPr txBox="1"/>
          <p:nvPr/>
        </p:nvSpPr>
        <p:spPr>
          <a:xfrm>
            <a:off x="1625297" y="5118575"/>
            <a:ext cx="5727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4D314"/>
                </a:solidFill>
              </a:rPr>
              <a:t>Ruta con parámetros de la QUERY   -   </a:t>
            </a:r>
            <a:r>
              <a:rPr lang="en-US" sz="2100" b="1">
                <a:solidFill>
                  <a:srgbClr val="F4D314"/>
                </a:solidFill>
              </a:rPr>
              <a:t>GET</a:t>
            </a:r>
            <a:endParaRPr b="1"/>
          </a:p>
        </p:txBody>
      </p:sp>
      <p:sp>
        <p:nvSpPr>
          <p:cNvPr id="203" name="Google Shape;203;g3e2ea17e58e_1_43"/>
          <p:cNvSpPr txBox="1"/>
          <p:nvPr/>
        </p:nvSpPr>
        <p:spPr>
          <a:xfrm>
            <a:off x="2048829" y="5652636"/>
            <a:ext cx="15882000" cy="4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Usa GET y lee parámetros de la query desde la URL:  por ejemplo ?edad=30&amp;zona=centro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Get lee, obtiene información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GET /predict-query: manda parámetros en la URL con request.args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@app.route("/predict-query", methods=["GET"])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predict_query():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data = request.args.to_dict()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X = preparar_fila_entrada(data)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prediction = model.predict(X)[0]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288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Devuelve un json con la predicción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FFFFFF"/>
              </a:solidFill>
            </a:endParaRPr>
          </a:p>
        </p:txBody>
      </p:sp>
      <p:sp>
        <p:nvSpPr>
          <p:cNvPr id="204" name="Google Shape;204;g3e2ea17e58e_1_43"/>
          <p:cNvSpPr txBox="1"/>
          <p:nvPr/>
        </p:nvSpPr>
        <p:spPr>
          <a:xfrm>
            <a:off x="1398475" y="1036056"/>
            <a:ext cx="765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API REST EN FLASK</a:t>
            </a:r>
            <a:endParaRPr sz="6000"/>
          </a:p>
        </p:txBody>
      </p:sp>
      <p:sp>
        <p:nvSpPr>
          <p:cNvPr id="205" name="Google Shape;205;g3e2ea17e58e_1_43"/>
          <p:cNvSpPr txBox="1"/>
          <p:nvPr/>
        </p:nvSpPr>
        <p:spPr>
          <a:xfrm>
            <a:off x="1398466" y="2132049"/>
            <a:ext cx="8215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4D314"/>
                </a:solidFill>
              </a:rPr>
              <a:t>ESTRUCTURA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2ea17e58e_1_66"/>
          <p:cNvSpPr/>
          <p:nvPr/>
        </p:nvSpPr>
        <p:spPr>
          <a:xfrm>
            <a:off x="0" y="-125825"/>
            <a:ext cx="19979640" cy="10415588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1" b="-9221"/>
            </a:stretch>
          </a:blipFill>
          <a:ln>
            <a:noFill/>
          </a:ln>
        </p:spPr>
      </p:sp>
      <p:sp>
        <p:nvSpPr>
          <p:cNvPr id="211" name="Google Shape;211;g3e2ea17e58e_1_66"/>
          <p:cNvSpPr txBox="1"/>
          <p:nvPr/>
        </p:nvSpPr>
        <p:spPr>
          <a:xfrm>
            <a:off x="1398473" y="2760625"/>
            <a:ext cx="5511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4D314"/>
                </a:solidFill>
              </a:rPr>
              <a:t>Ruta con parámetros de la QUERY   - </a:t>
            </a:r>
            <a:r>
              <a:rPr lang="en-US" sz="2100" b="1">
                <a:solidFill>
                  <a:srgbClr val="F4D314"/>
                </a:solidFill>
              </a:rPr>
              <a:t>POST</a:t>
            </a:r>
            <a:endParaRPr b="1"/>
          </a:p>
        </p:txBody>
      </p:sp>
      <p:sp>
        <p:nvSpPr>
          <p:cNvPr id="212" name="Google Shape;212;g3e2ea17e58e_1_66"/>
          <p:cNvSpPr txBox="1"/>
          <p:nvPr/>
        </p:nvSpPr>
        <p:spPr>
          <a:xfrm>
            <a:off x="2108425" y="3467300"/>
            <a:ext cx="17016600" cy="4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Utiliza POST y los datos van en el cuerpo de la petición como JSON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por ejemplo {"edad": 30, "zona": "centro"}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Usa post porque manda datos al servidor para que él los procese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POST /predict: mandas un JSON en el cuerpo con request.get_json().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@app.route("/predict", methods=["POST"])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288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predict():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288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 a la función </a:t>
            </a:r>
            <a:r>
              <a:rPr lang="en-US" sz="215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preparar_fila_entrada(data) </a:t>
            </a:r>
            <a:r>
              <a:rPr lang="en-US" sz="21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y hace la predicción</a:t>
            </a:r>
            <a:endParaRPr sz="21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FFFFFF"/>
              </a:solidFill>
            </a:endParaRPr>
          </a:p>
        </p:txBody>
      </p:sp>
      <p:sp>
        <p:nvSpPr>
          <p:cNvPr id="213" name="Google Shape;213;g3e2ea17e58e_1_66"/>
          <p:cNvSpPr txBox="1"/>
          <p:nvPr/>
        </p:nvSpPr>
        <p:spPr>
          <a:xfrm>
            <a:off x="1398466" y="2132049"/>
            <a:ext cx="8215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4D314"/>
                </a:solidFill>
              </a:rPr>
              <a:t>ESTRUCTURA</a:t>
            </a:r>
            <a:endParaRPr/>
          </a:p>
        </p:txBody>
      </p:sp>
      <p:sp>
        <p:nvSpPr>
          <p:cNvPr id="214" name="Google Shape;214;g3e2ea17e58e_1_66"/>
          <p:cNvSpPr txBox="1"/>
          <p:nvPr/>
        </p:nvSpPr>
        <p:spPr>
          <a:xfrm>
            <a:off x="1398475" y="1036056"/>
            <a:ext cx="765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API REST EN FLASK</a:t>
            </a:r>
            <a:endParaRPr sz="6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2ea17e58e_1_29"/>
          <p:cNvSpPr/>
          <p:nvPr/>
        </p:nvSpPr>
        <p:spPr>
          <a:xfrm>
            <a:off x="0" y="0"/>
            <a:ext cx="199796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1" b="-9221"/>
            </a:stretch>
          </a:blipFill>
          <a:ln>
            <a:noFill/>
          </a:ln>
        </p:spPr>
      </p:sp>
      <p:sp>
        <p:nvSpPr>
          <p:cNvPr id="220" name="Google Shape;220;g3e2ea17e58e_1_29"/>
          <p:cNvSpPr txBox="1"/>
          <p:nvPr/>
        </p:nvSpPr>
        <p:spPr>
          <a:xfrm>
            <a:off x="1398475" y="997956"/>
            <a:ext cx="765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DESPLIEGUE EN RENDER</a:t>
            </a:r>
            <a:endParaRPr sz="6000"/>
          </a:p>
        </p:txBody>
      </p:sp>
      <p:sp>
        <p:nvSpPr>
          <p:cNvPr id="221" name="Google Shape;221;g3e2ea17e58e_1_29"/>
          <p:cNvSpPr txBox="1"/>
          <p:nvPr/>
        </p:nvSpPr>
        <p:spPr>
          <a:xfrm>
            <a:off x="1398479" y="2085725"/>
            <a:ext cx="16064100" cy="77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FFFFFF"/>
                </a:solidFill>
              </a:rPr>
              <a:t>Flujo</a:t>
            </a:r>
            <a:r>
              <a:rPr lang="en-US" sz="1800" dirty="0">
                <a:solidFill>
                  <a:srgbClr val="FFFFFF"/>
                </a:solidFill>
              </a:rPr>
              <a:t> de </a:t>
            </a:r>
            <a:r>
              <a:rPr lang="en-US" sz="1800" dirty="0" err="1">
                <a:solidFill>
                  <a:srgbClr val="FFFFFF"/>
                </a:solidFill>
              </a:rPr>
              <a:t>trabajo</a:t>
            </a:r>
            <a:r>
              <a:rPr lang="en-US" sz="1800" dirty="0">
                <a:solidFill>
                  <a:srgbClr val="FFFFFF"/>
                </a:solidFill>
              </a:rPr>
              <a:t>: </a:t>
            </a:r>
            <a:endParaRPr sz="18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Se </a:t>
            </a:r>
            <a:r>
              <a:rPr lang="en-US" sz="1800" dirty="0" err="1">
                <a:solidFill>
                  <a:srgbClr val="FFFFFF"/>
                </a:solidFill>
              </a:rPr>
              <a:t>crea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el</a:t>
            </a:r>
            <a:r>
              <a:rPr lang="en-US" sz="1800" dirty="0">
                <a:solidFill>
                  <a:srgbClr val="FFFFFF"/>
                </a:solidFill>
              </a:rPr>
              <a:t>  </a:t>
            </a:r>
            <a:r>
              <a:rPr lang="en-US" sz="1800" dirty="0" err="1">
                <a:solidFill>
                  <a:srgbClr val="FFFFFF"/>
                </a:solidFill>
              </a:rPr>
              <a:t>servicio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en</a:t>
            </a:r>
            <a:r>
              <a:rPr lang="en-US" sz="1800" dirty="0">
                <a:solidFill>
                  <a:srgbClr val="FFFFFF"/>
                </a:solidFill>
              </a:rPr>
              <a:t> Render dashboard</a:t>
            </a:r>
            <a:endParaRPr sz="18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FFFFFF"/>
                </a:solidFill>
              </a:rPr>
              <a:t>Conectar</a:t>
            </a:r>
            <a:r>
              <a:rPr lang="en-US" sz="1800" dirty="0">
                <a:solidFill>
                  <a:srgbClr val="FFFFFF"/>
                </a:solidFill>
              </a:rPr>
              <a:t> a la </a:t>
            </a:r>
            <a:r>
              <a:rPr lang="en-US" sz="1800" dirty="0" err="1">
                <a:solidFill>
                  <a:srgbClr val="FFFFFF"/>
                </a:solidFill>
              </a:rPr>
              <a:t>cuenta</a:t>
            </a:r>
            <a:r>
              <a:rPr lang="en-US" sz="1800" dirty="0">
                <a:solidFill>
                  <a:srgbClr val="FFFFFF"/>
                </a:solidFill>
              </a:rPr>
              <a:t> de GitHub y </a:t>
            </a:r>
            <a:r>
              <a:rPr lang="en-US" sz="1800" dirty="0" err="1">
                <a:solidFill>
                  <a:srgbClr val="FFFFFF"/>
                </a:solidFill>
              </a:rPr>
              <a:t>selecciona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el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repositorio</a:t>
            </a:r>
            <a:r>
              <a:rPr lang="en-US" sz="1800" dirty="0">
                <a:solidFill>
                  <a:srgbClr val="FFFFFF"/>
                </a:solidFill>
              </a:rPr>
              <a:t> de la API. </a:t>
            </a:r>
            <a:endParaRPr sz="18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Se </a:t>
            </a:r>
            <a:r>
              <a:rPr lang="en-US" sz="1800" dirty="0" err="1">
                <a:solidFill>
                  <a:srgbClr val="FFFFFF"/>
                </a:solidFill>
              </a:rPr>
              <a:t>utilizan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estos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valores</a:t>
            </a:r>
            <a:r>
              <a:rPr lang="en-US" sz="1800" dirty="0">
                <a:solidFill>
                  <a:srgbClr val="FFFFFF"/>
                </a:solidFill>
              </a:rPr>
              <a:t> base: </a:t>
            </a:r>
            <a:endParaRPr sz="1800" dirty="0">
              <a:solidFill>
                <a:srgbClr val="FFFFFF"/>
              </a:solidFill>
            </a:endParaRPr>
          </a:p>
          <a:p>
            <a:pPr marL="0" marR="0" lvl="0" indent="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FFFFFF"/>
                </a:solidFill>
              </a:rPr>
              <a:t>lenguaje</a:t>
            </a:r>
            <a:r>
              <a:rPr lang="en-US" sz="1800" dirty="0">
                <a:solidFill>
                  <a:srgbClr val="FFFFFF"/>
                </a:solidFill>
              </a:rPr>
              <a:t>: Python 3, </a:t>
            </a:r>
            <a:endParaRPr sz="1800" dirty="0">
              <a:solidFill>
                <a:srgbClr val="FFFFFF"/>
              </a:solidFill>
            </a:endParaRPr>
          </a:p>
          <a:p>
            <a:pPr marL="0" marR="0" lvl="0" indent="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build command: pip install -r requirements.txt y </a:t>
            </a:r>
            <a:endParaRPr sz="1800" dirty="0">
              <a:solidFill>
                <a:srgbClr val="FFFFFF"/>
              </a:solidFill>
            </a:endParaRPr>
          </a:p>
          <a:p>
            <a:pPr marL="0" marR="0" lvl="0" indent="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start command:  </a:t>
            </a:r>
            <a:r>
              <a:rPr lang="en-US" sz="1800" dirty="0" err="1">
                <a:solidFill>
                  <a:srgbClr val="FFFFFF"/>
                </a:solidFill>
              </a:rPr>
              <a:t>gunicorn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app:app</a:t>
            </a:r>
            <a:r>
              <a:rPr lang="en-US" sz="1800" dirty="0">
                <a:solidFill>
                  <a:srgbClr val="FFFFFF"/>
                </a:solidFill>
              </a:rPr>
              <a:t>.</a:t>
            </a:r>
            <a:endParaRPr sz="1800" dirty="0">
              <a:solidFill>
                <a:srgbClr val="FFFFFF"/>
              </a:solidFill>
            </a:endParaRPr>
          </a:p>
          <a:p>
            <a:pPr marL="0" marR="0" lvl="0" indent="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</a:rPr>
              <a:t>Branch	main o la </a:t>
            </a:r>
            <a:r>
              <a:rPr lang="en-US" sz="1800" dirty="0" err="1">
                <a:solidFill>
                  <a:schemeClr val="lt1"/>
                </a:solidFill>
              </a:rPr>
              <a:t>rama</a:t>
            </a:r>
            <a:r>
              <a:rPr lang="en-US" sz="1800" dirty="0">
                <a:solidFill>
                  <a:schemeClr val="lt1"/>
                </a:solidFill>
              </a:rPr>
              <a:t> </a:t>
            </a:r>
            <a:r>
              <a:rPr lang="en-US" sz="1800" dirty="0" err="1">
                <a:solidFill>
                  <a:schemeClr val="lt1"/>
                </a:solidFill>
              </a:rPr>
              <a:t>donde</a:t>
            </a:r>
            <a:r>
              <a:rPr lang="en-US" sz="1800" dirty="0">
                <a:solidFill>
                  <a:schemeClr val="lt1"/>
                </a:solidFill>
              </a:rPr>
              <a:t> </a:t>
            </a:r>
            <a:r>
              <a:rPr lang="en-US" sz="1800" dirty="0" err="1">
                <a:solidFill>
                  <a:schemeClr val="lt1"/>
                </a:solidFill>
              </a:rPr>
              <a:t>esté</a:t>
            </a:r>
            <a:r>
              <a:rPr lang="en-US" sz="1800" dirty="0">
                <a:solidFill>
                  <a:schemeClr val="lt1"/>
                </a:solidFill>
              </a:rPr>
              <a:t> </a:t>
            </a:r>
            <a:r>
              <a:rPr lang="en-US" sz="1800" dirty="0" err="1">
                <a:solidFill>
                  <a:schemeClr val="lt1"/>
                </a:solidFill>
              </a:rPr>
              <a:t>tu</a:t>
            </a:r>
            <a:r>
              <a:rPr lang="en-US" sz="1800" dirty="0">
                <a:solidFill>
                  <a:schemeClr val="lt1"/>
                </a:solidFill>
              </a:rPr>
              <a:t> </a:t>
            </a:r>
            <a:r>
              <a:rPr lang="en-US" sz="1800" dirty="0" err="1">
                <a:solidFill>
                  <a:schemeClr val="lt1"/>
                </a:solidFill>
              </a:rPr>
              <a:t>código</a:t>
            </a:r>
            <a:endParaRPr sz="1800" dirty="0">
              <a:solidFill>
                <a:schemeClr val="lt1"/>
              </a:solidFill>
            </a:endParaRPr>
          </a:p>
          <a:p>
            <a:pPr marL="0" lvl="0" indent="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</a:rPr>
              <a:t>Root Directory	</a:t>
            </a:r>
            <a:r>
              <a:rPr lang="en-US" sz="1800" dirty="0" err="1">
                <a:solidFill>
                  <a:schemeClr val="lt1"/>
                </a:solidFill>
              </a:rPr>
              <a:t>vacío</a:t>
            </a:r>
            <a:r>
              <a:rPr lang="en-US" sz="1800" dirty="0">
                <a:solidFill>
                  <a:schemeClr val="lt1"/>
                </a:solidFill>
              </a:rPr>
              <a:t>, salvo que </a:t>
            </a:r>
            <a:r>
              <a:rPr lang="en-US" sz="1800" dirty="0" err="1">
                <a:solidFill>
                  <a:schemeClr val="lt1"/>
                </a:solidFill>
              </a:rPr>
              <a:t>tu</a:t>
            </a:r>
            <a:r>
              <a:rPr lang="en-US" sz="1800" dirty="0">
                <a:solidFill>
                  <a:schemeClr val="lt1"/>
                </a:solidFill>
              </a:rPr>
              <a:t> app </a:t>
            </a:r>
            <a:r>
              <a:rPr lang="en-US" sz="1800" dirty="0" err="1">
                <a:solidFill>
                  <a:schemeClr val="lt1"/>
                </a:solidFill>
              </a:rPr>
              <a:t>esté</a:t>
            </a:r>
            <a:r>
              <a:rPr lang="en-US" sz="1800" dirty="0">
                <a:solidFill>
                  <a:schemeClr val="lt1"/>
                </a:solidFill>
              </a:rPr>
              <a:t> </a:t>
            </a:r>
            <a:r>
              <a:rPr lang="en-US" sz="1800" dirty="0" err="1">
                <a:solidFill>
                  <a:schemeClr val="lt1"/>
                </a:solidFill>
              </a:rPr>
              <a:t>en</a:t>
            </a:r>
            <a:r>
              <a:rPr lang="en-US" sz="1800" dirty="0">
                <a:solidFill>
                  <a:schemeClr val="lt1"/>
                </a:solidFill>
              </a:rPr>
              <a:t> </a:t>
            </a:r>
            <a:r>
              <a:rPr lang="en-US" sz="1800" dirty="0" err="1">
                <a:solidFill>
                  <a:schemeClr val="lt1"/>
                </a:solidFill>
              </a:rPr>
              <a:t>una</a:t>
            </a:r>
            <a:r>
              <a:rPr lang="en-US" sz="1800" dirty="0">
                <a:solidFill>
                  <a:schemeClr val="lt1"/>
                </a:solidFill>
              </a:rPr>
              <a:t> </a:t>
            </a:r>
            <a:r>
              <a:rPr lang="en-US" sz="1800" dirty="0" err="1">
                <a:solidFill>
                  <a:schemeClr val="lt1"/>
                </a:solidFill>
              </a:rPr>
              <a:t>subcarpeta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dirty="0">
                <a:solidFill>
                  <a:srgbClr val="FFFFFF"/>
                </a:solidFill>
              </a:rPr>
              <a:t>Create Web Service: se </a:t>
            </a:r>
            <a:r>
              <a:rPr lang="en-US" sz="1800" dirty="0" err="1">
                <a:solidFill>
                  <a:srgbClr val="FFFFFF"/>
                </a:solidFill>
              </a:rPr>
              <a:t>descarga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el</a:t>
            </a:r>
            <a:r>
              <a:rPr lang="en-US" sz="1800" dirty="0">
                <a:solidFill>
                  <a:srgbClr val="FFFFFF"/>
                </a:solidFill>
              </a:rPr>
              <a:t> repo, </a:t>
            </a:r>
            <a:r>
              <a:rPr lang="en-US" sz="1800" dirty="0" err="1">
                <a:solidFill>
                  <a:srgbClr val="FFFFFF"/>
                </a:solidFill>
              </a:rPr>
              <a:t>instala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dependencias</a:t>
            </a:r>
            <a:r>
              <a:rPr lang="en-US" sz="1800" dirty="0">
                <a:solidFill>
                  <a:srgbClr val="FFFFFF"/>
                </a:solidFill>
              </a:rPr>
              <a:t> y </a:t>
            </a:r>
            <a:r>
              <a:rPr lang="en-US" sz="1800" dirty="0" err="1">
                <a:solidFill>
                  <a:srgbClr val="FFFFFF"/>
                </a:solidFill>
              </a:rPr>
              <a:t>arranca</a:t>
            </a:r>
            <a:r>
              <a:rPr lang="en-US" sz="1800" dirty="0">
                <a:solidFill>
                  <a:srgbClr val="FFFFFF"/>
                </a:solidFill>
              </a:rPr>
              <a:t> la API; 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dirty="0">
                <a:solidFill>
                  <a:srgbClr val="FFFFFF"/>
                </a:solidFill>
              </a:rPr>
              <a:t>Al </a:t>
            </a:r>
            <a:r>
              <a:rPr lang="en-US" sz="1800" dirty="0" err="1">
                <a:solidFill>
                  <a:srgbClr val="FFFFFF"/>
                </a:solidFill>
              </a:rPr>
              <a:t>terminar</a:t>
            </a:r>
            <a:r>
              <a:rPr lang="en-US" sz="1800" dirty="0">
                <a:solidFill>
                  <a:srgbClr val="FFFFFF"/>
                </a:solidFill>
              </a:rPr>
              <a:t>, se </a:t>
            </a:r>
            <a:r>
              <a:rPr lang="en-US" sz="1800" dirty="0" err="1">
                <a:solidFill>
                  <a:srgbClr val="FFFFFF"/>
                </a:solidFill>
              </a:rPr>
              <a:t>obtiene</a:t>
            </a:r>
            <a:r>
              <a:rPr lang="en-US" sz="1800" dirty="0">
                <a:solidFill>
                  <a:srgbClr val="FFFFFF"/>
                </a:solidFill>
              </a:rPr>
              <a:t> la URL </a:t>
            </a:r>
            <a:r>
              <a:rPr lang="en-US" sz="1800" dirty="0" err="1">
                <a:solidFill>
                  <a:srgbClr val="FFFFFF"/>
                </a:solidFill>
              </a:rPr>
              <a:t>pública</a:t>
            </a:r>
            <a:r>
              <a:rPr lang="en-US" sz="1800" dirty="0">
                <a:solidFill>
                  <a:srgbClr val="FFFFFF"/>
                </a:solidFill>
              </a:rPr>
              <a:t>:</a:t>
            </a:r>
            <a:endParaRPr sz="1800" dirty="0">
              <a:solidFill>
                <a:srgbClr val="FFFFFF"/>
              </a:solidFill>
            </a:endParaRPr>
          </a:p>
          <a:p>
            <a:pPr marL="1371600" lvl="0" indent="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00" u="sng" dirty="0">
                <a:solidFill>
                  <a:srgbClr val="F4D314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https://online-ds-bridge-proyects-arielaastorga.onrender.com/</a:t>
            </a:r>
            <a:endParaRPr sz="2100" dirty="0">
              <a:solidFill>
                <a:srgbClr val="F4D314"/>
              </a:solidFill>
            </a:endParaRPr>
          </a:p>
          <a:p>
            <a:pPr marL="1371600" lvl="0" indent="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dirty="0">
                <a:solidFill>
                  <a:srgbClr val="FFFFFF"/>
                </a:solidFill>
              </a:rPr>
              <a:t>Se </a:t>
            </a:r>
            <a:r>
              <a:rPr lang="en-US" sz="1800" dirty="0" err="1">
                <a:solidFill>
                  <a:srgbClr val="FFFFFF"/>
                </a:solidFill>
              </a:rPr>
              <a:t>prueba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el</a:t>
            </a:r>
            <a:r>
              <a:rPr lang="en-US" sz="1800" dirty="0">
                <a:solidFill>
                  <a:srgbClr val="FFFFFF"/>
                </a:solidFill>
              </a:rPr>
              <a:t>  </a:t>
            </a:r>
            <a:r>
              <a:rPr lang="en-US" sz="1800" dirty="0" err="1">
                <a:solidFill>
                  <a:srgbClr val="FFFFFF"/>
                </a:solidFill>
              </a:rPr>
              <a:t>despliegue</a:t>
            </a:r>
            <a:r>
              <a:rPr lang="en-US" sz="1800" dirty="0">
                <a:solidFill>
                  <a:srgbClr val="FFFFFF"/>
                </a:solidFill>
              </a:rPr>
              <a:t> y </a:t>
            </a:r>
            <a:r>
              <a:rPr lang="en-US" sz="1800" dirty="0" err="1">
                <a:solidFill>
                  <a:srgbClr val="FFFFFF"/>
                </a:solidFill>
              </a:rPr>
              <a:t>rutas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públicas</a:t>
            </a:r>
            <a:r>
              <a:rPr lang="en-US" sz="1800" dirty="0">
                <a:solidFill>
                  <a:srgbClr val="FFFFFF"/>
                </a:solidFill>
              </a:rPr>
              <a:t>: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914400" lvl="0" indent="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300" dirty="0">
                <a:solidFill>
                  <a:srgbClr val="F4D314"/>
                </a:solidFill>
              </a:rPr>
              <a:t>       </a:t>
            </a:r>
            <a:r>
              <a:rPr lang="en-US" sz="2300" u="sng" dirty="0">
                <a:solidFill>
                  <a:srgbClr val="F4D314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https://online-ds-bridge-proyects-arielaastorga.onrender.com/health</a:t>
            </a:r>
            <a:endParaRPr sz="2300" dirty="0">
              <a:solidFill>
                <a:srgbClr val="F4D314"/>
              </a:solidFill>
            </a:endParaRPr>
          </a:p>
          <a:p>
            <a:pPr marL="9144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dirty="0">
                <a:solidFill>
                  <a:srgbClr val="FFFFFF"/>
                </a:solidFill>
              </a:rPr>
              <a:t>       {"</a:t>
            </a:r>
            <a:r>
              <a:rPr lang="en-US" sz="1800" dirty="0" err="1">
                <a:solidFill>
                  <a:srgbClr val="FFFFFF"/>
                </a:solidFill>
              </a:rPr>
              <a:t>service":"running","status":"ok</a:t>
            </a:r>
            <a:r>
              <a:rPr lang="en-US" sz="1800" dirty="0">
                <a:solidFill>
                  <a:srgbClr val="FFFFFF"/>
                </a:solidFill>
              </a:rPr>
              <a:t>"}</a:t>
            </a:r>
            <a:endParaRPr sz="1800" dirty="0">
              <a:solidFill>
                <a:srgbClr val="FFFFFF"/>
              </a:solidFill>
            </a:endParaRPr>
          </a:p>
          <a:p>
            <a:pPr marL="9144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300" u="sng" dirty="0">
              <a:solidFill>
                <a:srgbClr val="F4D314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378fde610_1_1"/>
          <p:cNvSpPr/>
          <p:nvPr/>
        </p:nvSpPr>
        <p:spPr>
          <a:xfrm>
            <a:off x="0" y="0"/>
            <a:ext cx="199796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1" b="-9221"/>
            </a:stretch>
          </a:blipFill>
          <a:ln>
            <a:noFill/>
          </a:ln>
        </p:spPr>
      </p:sp>
      <p:sp>
        <p:nvSpPr>
          <p:cNvPr id="227" name="Google Shape;227;g3e378fde610_1_1"/>
          <p:cNvSpPr txBox="1"/>
          <p:nvPr/>
        </p:nvSpPr>
        <p:spPr>
          <a:xfrm>
            <a:off x="1398475" y="997956"/>
            <a:ext cx="765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DESPLIEGUE EN RENDER</a:t>
            </a:r>
            <a:endParaRPr sz="6000"/>
          </a:p>
        </p:txBody>
      </p:sp>
      <p:sp>
        <p:nvSpPr>
          <p:cNvPr id="228" name="Google Shape;228;g3e378fde610_1_1"/>
          <p:cNvSpPr txBox="1"/>
          <p:nvPr/>
        </p:nvSpPr>
        <p:spPr>
          <a:xfrm>
            <a:off x="1398479" y="2085725"/>
            <a:ext cx="16064100" cy="3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dirty="0" err="1">
                <a:solidFill>
                  <a:srgbClr val="FFFFFF"/>
                </a:solidFill>
              </a:rPr>
              <a:t>Predicción</a:t>
            </a:r>
            <a:r>
              <a:rPr lang="en-US" sz="1800" dirty="0">
                <a:solidFill>
                  <a:srgbClr val="FFFFFF"/>
                </a:solidFill>
              </a:rPr>
              <a:t> de </a:t>
            </a:r>
            <a:r>
              <a:rPr lang="en-US" sz="1800" dirty="0" err="1">
                <a:solidFill>
                  <a:srgbClr val="FFFFFF"/>
                </a:solidFill>
              </a:rPr>
              <a:t>precio</a:t>
            </a:r>
            <a:r>
              <a:rPr lang="en-US" sz="1800" dirty="0">
                <a:solidFill>
                  <a:srgbClr val="FFFFFF"/>
                </a:solidFill>
              </a:rPr>
              <a:t>: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137160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300" u="sng" dirty="0">
                <a:solidFill>
                  <a:srgbClr val="F4D314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-ds-bridge-proyects-arielaastorga.onrender.com/predict-query?accommodates=4&amp;bathrooms=1&amp;bedrooms=2&amp;beds=2&amp;minimum_nights=2&amp;number_of_reviews=50&amp;review_scores_rating=4&amp;availability_365=180&amp;neighbourhood_cleansed=Sol&amp;room_type=Entire%20home/apt</a:t>
            </a:r>
            <a:endParaRPr sz="2300" u="sng" dirty="0">
              <a:solidFill>
                <a:srgbClr val="F4D314"/>
              </a:solidFill>
            </a:endParaRPr>
          </a:p>
          <a:p>
            <a:pPr marL="9144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2ea17e58e_1_447"/>
          <p:cNvSpPr/>
          <p:nvPr/>
        </p:nvSpPr>
        <p:spPr>
          <a:xfrm>
            <a:off x="-355175" y="0"/>
            <a:ext cx="204368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1" b="-9221"/>
            </a:stretch>
          </a:blipFill>
          <a:ln>
            <a:noFill/>
          </a:ln>
        </p:spPr>
      </p:sp>
      <p:sp>
        <p:nvSpPr>
          <p:cNvPr id="234" name="Google Shape;234;g3e2ea17e58e_1_447"/>
          <p:cNvSpPr txBox="1"/>
          <p:nvPr/>
        </p:nvSpPr>
        <p:spPr>
          <a:xfrm>
            <a:off x="1398475" y="586656"/>
            <a:ext cx="765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DESPLIEGUE EN AWS</a:t>
            </a:r>
            <a:endParaRPr sz="6000"/>
          </a:p>
        </p:txBody>
      </p:sp>
      <p:sp>
        <p:nvSpPr>
          <p:cNvPr id="235" name="Google Shape;235;g3e2ea17e58e_1_447"/>
          <p:cNvSpPr txBox="1"/>
          <p:nvPr/>
        </p:nvSpPr>
        <p:spPr>
          <a:xfrm>
            <a:off x="1398475" y="1887000"/>
            <a:ext cx="9512100" cy="8100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solidFill>
                  <a:srgbClr val="FFFFFF"/>
                </a:solidFill>
              </a:rPr>
              <a:t>Flujo</a:t>
            </a:r>
            <a:r>
              <a:rPr lang="en-US" sz="1500" dirty="0">
                <a:solidFill>
                  <a:srgbClr val="FFFFFF"/>
                </a:solidFill>
              </a:rPr>
              <a:t> de </a:t>
            </a:r>
            <a:r>
              <a:rPr lang="en-US" sz="1500" dirty="0" err="1">
                <a:solidFill>
                  <a:srgbClr val="FFFFFF"/>
                </a:solidFill>
              </a:rPr>
              <a:t>trabajo</a:t>
            </a:r>
            <a:r>
              <a:rPr lang="en-US" sz="1500" dirty="0">
                <a:solidFill>
                  <a:srgbClr val="FFFFFF"/>
                </a:solidFill>
              </a:rPr>
              <a:t>: </a:t>
            </a: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Se </a:t>
            </a:r>
            <a:r>
              <a:rPr lang="en-US" sz="1500" dirty="0" err="1">
                <a:solidFill>
                  <a:srgbClr val="FFFFFF"/>
                </a:solidFill>
              </a:rPr>
              <a:t>crea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carpeta</a:t>
            </a:r>
            <a:r>
              <a:rPr lang="en-US" sz="1500" dirty="0">
                <a:solidFill>
                  <a:srgbClr val="FFFFFF"/>
                </a:solidFill>
              </a:rPr>
              <a:t> del </a:t>
            </a:r>
            <a:r>
              <a:rPr lang="en-US" sz="1500" dirty="0" err="1">
                <a:solidFill>
                  <a:srgbClr val="FFFFFF"/>
                </a:solidFill>
              </a:rPr>
              <a:t>proyecto</a:t>
            </a:r>
            <a:r>
              <a:rPr lang="en-US" sz="1500" dirty="0">
                <a:solidFill>
                  <a:srgbClr val="FFFFFF"/>
                </a:solidFill>
              </a:rPr>
              <a:t>, </a:t>
            </a:r>
            <a:r>
              <a:rPr lang="en-US" sz="1500" dirty="0" err="1">
                <a:solidFill>
                  <a:srgbClr val="FFFFFF"/>
                </a:solidFill>
              </a:rPr>
              <a:t>copio</a:t>
            </a:r>
            <a:r>
              <a:rPr lang="en-US" sz="1500" dirty="0">
                <a:solidFill>
                  <a:srgbClr val="FFFFFF"/>
                </a:solidFill>
              </a:rPr>
              <a:t> mi repo </a:t>
            </a:r>
            <a:r>
              <a:rPr lang="en-US" sz="1500" dirty="0" err="1">
                <a:solidFill>
                  <a:srgbClr val="FFFFFF"/>
                </a:solidFill>
              </a:rPr>
              <a:t>Github</a:t>
            </a: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Se </a:t>
            </a:r>
            <a:r>
              <a:rPr lang="en-US" sz="1500" dirty="0" err="1">
                <a:solidFill>
                  <a:srgbClr val="FFFFFF"/>
                </a:solidFill>
              </a:rPr>
              <a:t>creo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carpeta</a:t>
            </a:r>
            <a:r>
              <a:rPr lang="en-US" sz="1500" dirty="0">
                <a:solidFill>
                  <a:srgbClr val="FFFFFF"/>
                </a:solidFill>
              </a:rPr>
              <a:t> de endpoints, </a:t>
            </a:r>
            <a:r>
              <a:rPr lang="en-US" sz="1500" dirty="0" err="1">
                <a:solidFill>
                  <a:srgbClr val="FFFFFF"/>
                </a:solidFill>
              </a:rPr>
              <a:t>entorno</a:t>
            </a:r>
            <a:r>
              <a:rPr lang="en-US" sz="1500" dirty="0">
                <a:solidFill>
                  <a:srgbClr val="FFFFFF"/>
                </a:solidFill>
              </a:rPr>
              <a:t> virtual, </a:t>
            </a:r>
            <a:r>
              <a:rPr lang="en-US" sz="1500" dirty="0" err="1">
                <a:solidFill>
                  <a:srgbClr val="FFFFFF"/>
                </a:solidFill>
              </a:rPr>
              <a:t>activo</a:t>
            </a:r>
            <a:r>
              <a:rPr lang="en-US" sz="1500" dirty="0">
                <a:solidFill>
                  <a:srgbClr val="FFFFFF"/>
                </a:solidFill>
              </a:rPr>
              <a:t> UV, </a:t>
            </a:r>
            <a:r>
              <a:rPr lang="en-US" sz="1500" dirty="0" err="1">
                <a:solidFill>
                  <a:srgbClr val="FFFFFF"/>
                </a:solidFill>
              </a:rPr>
              <a:t>instalo</a:t>
            </a:r>
            <a:r>
              <a:rPr lang="en-US" sz="1500" dirty="0">
                <a:solidFill>
                  <a:srgbClr val="FFFFFF"/>
                </a:solidFill>
              </a:rPr>
              <a:t> Flask, pandas y resto </a:t>
            </a:r>
            <a:r>
              <a:rPr lang="en-US" sz="1500" dirty="0" err="1">
                <a:solidFill>
                  <a:srgbClr val="FFFFFF"/>
                </a:solidFill>
              </a:rPr>
              <a:t>librerías</a:t>
            </a:r>
            <a:r>
              <a:rPr lang="en-US" sz="1500" dirty="0">
                <a:solidFill>
                  <a:srgbClr val="FFFFFF"/>
                </a:solidFill>
              </a:rPr>
              <a:t>…</a:t>
            </a: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>
                <a:solidFill>
                  <a:srgbClr val="F4D314"/>
                </a:solidFill>
              </a:rPr>
              <a:t>Problema</a:t>
            </a:r>
            <a:r>
              <a:rPr lang="en-US" sz="1700" b="1" dirty="0">
                <a:solidFill>
                  <a:srgbClr val="F4D314"/>
                </a:solidFill>
              </a:rPr>
              <a:t> 1:</a:t>
            </a:r>
            <a:endParaRPr sz="1700" b="1" dirty="0">
              <a:solidFill>
                <a:srgbClr val="F4D314"/>
              </a:solidFill>
            </a:endParaRPr>
          </a:p>
          <a:p>
            <a:pPr marL="45720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solidFill>
                  <a:schemeClr val="lt1"/>
                </a:solidFill>
              </a:rPr>
              <a:t>Problema</a:t>
            </a:r>
            <a:r>
              <a:rPr lang="en-US" sz="1500" dirty="0">
                <a:solidFill>
                  <a:schemeClr val="lt1"/>
                </a:solidFill>
              </a:rPr>
              <a:t> de </a:t>
            </a:r>
            <a:r>
              <a:rPr lang="en-US" sz="1500" dirty="0" err="1">
                <a:solidFill>
                  <a:schemeClr val="lt1"/>
                </a:solidFill>
              </a:rPr>
              <a:t>compatibilidad</a:t>
            </a:r>
            <a:r>
              <a:rPr lang="en-US" sz="1500" dirty="0">
                <a:solidFill>
                  <a:schemeClr val="lt1"/>
                </a:solidFill>
              </a:rPr>
              <a:t> entre </a:t>
            </a:r>
            <a:r>
              <a:rPr lang="en-US" sz="1500" dirty="0" err="1">
                <a:solidFill>
                  <a:schemeClr val="lt1"/>
                </a:solidFill>
              </a:rPr>
              <a:t>numpy</a:t>
            </a:r>
            <a:r>
              <a:rPr lang="en-US" sz="1500" dirty="0">
                <a:solidFill>
                  <a:schemeClr val="lt1"/>
                </a:solidFill>
              </a:rPr>
              <a:t>==1.26.4 y Python 3.14</a:t>
            </a:r>
            <a:endParaRPr sz="1500" dirty="0">
              <a:solidFill>
                <a:schemeClr val="lt1"/>
              </a:solidFill>
            </a:endParaRPr>
          </a:p>
          <a:p>
            <a:pPr marL="45720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solidFill>
                  <a:schemeClr val="lt1"/>
                </a:solidFill>
              </a:rPr>
              <a:t>Resuelto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500" dirty="0" err="1">
                <a:solidFill>
                  <a:schemeClr val="lt1"/>
                </a:solidFill>
              </a:rPr>
              <a:t>eligiendo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500" dirty="0" err="1">
                <a:solidFill>
                  <a:schemeClr val="lt1"/>
                </a:solidFill>
              </a:rPr>
              <a:t>una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700" b="1" dirty="0" err="1">
                <a:solidFill>
                  <a:schemeClr val="lt1"/>
                </a:solidFill>
              </a:rPr>
              <a:t>instancia</a:t>
            </a:r>
            <a:r>
              <a:rPr lang="en-US" sz="1700" b="1" dirty="0">
                <a:solidFill>
                  <a:schemeClr val="lt1"/>
                </a:solidFill>
              </a:rPr>
              <a:t> t3.small</a:t>
            </a:r>
            <a:endParaRPr sz="1700" b="1" dirty="0">
              <a:solidFill>
                <a:schemeClr val="lt1"/>
              </a:solidFill>
            </a:endParaRPr>
          </a:p>
          <a:p>
            <a:pPr marL="45720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solidFill>
                  <a:schemeClr val="lt1"/>
                </a:solidFill>
              </a:rPr>
              <a:t>Programas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500" dirty="0" err="1">
                <a:solidFill>
                  <a:schemeClr val="lt1"/>
                </a:solidFill>
              </a:rPr>
              <a:t>usan</a:t>
            </a:r>
            <a:r>
              <a:rPr lang="en-US" sz="1500" dirty="0">
                <a:solidFill>
                  <a:schemeClr val="lt1"/>
                </a:solidFill>
              </a:rPr>
              <a:t> 3-4gb de RAM, con swap </a:t>
            </a:r>
            <a:r>
              <a:rPr lang="en-US" sz="1500" dirty="0" err="1">
                <a:solidFill>
                  <a:schemeClr val="lt1"/>
                </a:solidFill>
              </a:rPr>
              <a:t>empujo</a:t>
            </a:r>
            <a:r>
              <a:rPr lang="en-US" sz="1500" dirty="0">
                <a:solidFill>
                  <a:schemeClr val="lt1"/>
                </a:solidFill>
              </a:rPr>
              <a:t> las </a:t>
            </a:r>
            <a:r>
              <a:rPr lang="en-US" sz="1500" dirty="0" err="1">
                <a:solidFill>
                  <a:schemeClr val="lt1"/>
                </a:solidFill>
              </a:rPr>
              <a:t>cosas</a:t>
            </a:r>
            <a:r>
              <a:rPr lang="en-US" sz="1500" dirty="0">
                <a:solidFill>
                  <a:schemeClr val="lt1"/>
                </a:solidFill>
              </a:rPr>
              <a:t> a un cajón y </a:t>
            </a:r>
            <a:r>
              <a:rPr lang="en-US" sz="1500" dirty="0" err="1">
                <a:solidFill>
                  <a:schemeClr val="lt1"/>
                </a:solidFill>
              </a:rPr>
              <a:t>usa</a:t>
            </a:r>
            <a:r>
              <a:rPr lang="en-US" sz="1500" dirty="0">
                <a:solidFill>
                  <a:schemeClr val="lt1"/>
                </a:solidFill>
              </a:rPr>
              <a:t> un </a:t>
            </a:r>
            <a:r>
              <a:rPr lang="en-US" sz="1500" dirty="0" err="1">
                <a:solidFill>
                  <a:schemeClr val="lt1"/>
                </a:solidFill>
              </a:rPr>
              <a:t>espacio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500" dirty="0" err="1">
                <a:solidFill>
                  <a:schemeClr val="lt1"/>
                </a:solidFill>
              </a:rPr>
              <a:t>en</a:t>
            </a:r>
            <a:r>
              <a:rPr lang="en-US" sz="1500" dirty="0">
                <a:solidFill>
                  <a:schemeClr val="lt1"/>
                </a:solidFill>
              </a:rPr>
              <a:t> mi disco </a:t>
            </a:r>
            <a:r>
              <a:rPr lang="en-US" sz="1500" dirty="0" err="1">
                <a:solidFill>
                  <a:schemeClr val="lt1"/>
                </a:solidFill>
              </a:rPr>
              <a:t>duro</a:t>
            </a:r>
            <a:endParaRPr sz="1500" dirty="0">
              <a:solidFill>
                <a:schemeClr val="lt1"/>
              </a:solidFill>
            </a:endParaRPr>
          </a:p>
          <a:p>
            <a:pPr marL="45720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solidFill>
                  <a:schemeClr val="lt1"/>
                </a:solidFill>
              </a:rPr>
              <a:t>Almacenamiento</a:t>
            </a:r>
            <a:r>
              <a:rPr lang="en-US" sz="1500" dirty="0">
                <a:solidFill>
                  <a:schemeClr val="lt1"/>
                </a:solidFill>
              </a:rPr>
              <a:t> 8 a 20GB, y gp3 (disco </a:t>
            </a:r>
            <a:r>
              <a:rPr lang="en-US" sz="1500" dirty="0" err="1">
                <a:solidFill>
                  <a:schemeClr val="lt1"/>
                </a:solidFill>
              </a:rPr>
              <a:t>duro</a:t>
            </a:r>
            <a:r>
              <a:rPr lang="en-US" sz="1500" dirty="0">
                <a:solidFill>
                  <a:schemeClr val="lt1"/>
                </a:solidFill>
              </a:rPr>
              <a:t> SSD de la </a:t>
            </a:r>
            <a:r>
              <a:rPr lang="en-US" sz="1500" dirty="0" err="1">
                <a:solidFill>
                  <a:schemeClr val="lt1"/>
                </a:solidFill>
              </a:rPr>
              <a:t>instancia,más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500" dirty="0" err="1">
                <a:solidFill>
                  <a:schemeClr val="lt1"/>
                </a:solidFill>
              </a:rPr>
              <a:t>rápido</a:t>
            </a:r>
            <a:r>
              <a:rPr lang="en-US" sz="1500" dirty="0">
                <a:solidFill>
                  <a:schemeClr val="lt1"/>
                </a:solidFill>
              </a:rPr>
              <a:t>)</a:t>
            </a:r>
            <a:endParaRPr sz="1500" dirty="0">
              <a:solidFill>
                <a:schemeClr val="lt1"/>
              </a:solidFill>
            </a:endParaRPr>
          </a:p>
          <a:p>
            <a:pPr marL="0" lvl="0" indent="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lt1"/>
                </a:solidFill>
              </a:rPr>
              <a:t>Se </a:t>
            </a:r>
            <a:r>
              <a:rPr lang="en-US" sz="1500" dirty="0" err="1">
                <a:solidFill>
                  <a:schemeClr val="lt1"/>
                </a:solidFill>
              </a:rPr>
              <a:t>instala</a:t>
            </a:r>
            <a:r>
              <a:rPr lang="en-US" sz="1500" dirty="0">
                <a:solidFill>
                  <a:schemeClr val="lt1"/>
                </a:solidFill>
              </a:rPr>
              <a:t> Python 3.12</a:t>
            </a:r>
            <a:endParaRPr sz="15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lt1"/>
                </a:solidFill>
              </a:rPr>
              <a:t>Se </a:t>
            </a:r>
            <a:r>
              <a:rPr lang="en-US" sz="1500" dirty="0" err="1">
                <a:solidFill>
                  <a:schemeClr val="lt1"/>
                </a:solidFill>
              </a:rPr>
              <a:t>utiliza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600" b="1" dirty="0">
                <a:solidFill>
                  <a:schemeClr val="lt1"/>
                </a:solidFill>
              </a:rPr>
              <a:t>Swap</a:t>
            </a:r>
            <a:r>
              <a:rPr lang="en-US" sz="1500" dirty="0">
                <a:solidFill>
                  <a:schemeClr val="lt1"/>
                </a:solidFill>
              </a:rPr>
              <a:t>, es </a:t>
            </a:r>
            <a:r>
              <a:rPr lang="en-US" sz="1500" dirty="0" err="1">
                <a:solidFill>
                  <a:schemeClr val="lt1"/>
                </a:solidFill>
              </a:rPr>
              <a:t>memoria</a:t>
            </a:r>
            <a:r>
              <a:rPr lang="en-US" sz="1500" dirty="0">
                <a:solidFill>
                  <a:schemeClr val="lt1"/>
                </a:solidFill>
              </a:rPr>
              <a:t> virtual extra que </a:t>
            </a:r>
            <a:r>
              <a:rPr lang="en-US" sz="1500" dirty="0" err="1">
                <a:solidFill>
                  <a:schemeClr val="lt1"/>
                </a:solidFill>
              </a:rPr>
              <a:t>usa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500" dirty="0" err="1">
                <a:solidFill>
                  <a:schemeClr val="lt1"/>
                </a:solidFill>
              </a:rPr>
              <a:t>el</a:t>
            </a:r>
            <a:r>
              <a:rPr lang="en-US" sz="1500" dirty="0">
                <a:solidFill>
                  <a:schemeClr val="lt1"/>
                </a:solidFill>
              </a:rPr>
              <a:t> disco </a:t>
            </a:r>
            <a:r>
              <a:rPr lang="en-US" sz="1500" dirty="0" err="1">
                <a:solidFill>
                  <a:schemeClr val="lt1"/>
                </a:solidFill>
              </a:rPr>
              <a:t>duro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500" dirty="0" err="1">
                <a:solidFill>
                  <a:schemeClr val="lt1"/>
                </a:solidFill>
              </a:rPr>
              <a:t>cuando</a:t>
            </a:r>
            <a:r>
              <a:rPr lang="en-US" sz="1500" dirty="0">
                <a:solidFill>
                  <a:schemeClr val="lt1"/>
                </a:solidFill>
              </a:rPr>
              <a:t> la RAM se </a:t>
            </a:r>
            <a:r>
              <a:rPr lang="en-US" sz="1500" dirty="0" err="1">
                <a:solidFill>
                  <a:schemeClr val="lt1"/>
                </a:solidFill>
              </a:rPr>
              <a:t>llena</a:t>
            </a:r>
            <a:r>
              <a:rPr lang="en-US" sz="1500" dirty="0">
                <a:solidFill>
                  <a:schemeClr val="lt1"/>
                </a:solidFill>
              </a:rPr>
              <a:t>. Es </a:t>
            </a:r>
            <a:r>
              <a:rPr lang="en-US" sz="1500" dirty="0" err="1">
                <a:solidFill>
                  <a:schemeClr val="lt1"/>
                </a:solidFill>
              </a:rPr>
              <a:t>más</a:t>
            </a:r>
            <a:r>
              <a:rPr lang="en-US" sz="1500" dirty="0">
                <a:solidFill>
                  <a:schemeClr val="lt1"/>
                </a:solidFill>
              </a:rPr>
              <a:t> lento que la RAM </a:t>
            </a:r>
            <a:r>
              <a:rPr lang="en-US" sz="1500" dirty="0" err="1">
                <a:solidFill>
                  <a:schemeClr val="lt1"/>
                </a:solidFill>
              </a:rPr>
              <a:t>pero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500" dirty="0" err="1">
                <a:solidFill>
                  <a:schemeClr val="lt1"/>
                </a:solidFill>
              </a:rPr>
              <a:t>evita</a:t>
            </a:r>
            <a:r>
              <a:rPr lang="en-US" sz="1500" dirty="0">
                <a:solidFill>
                  <a:schemeClr val="lt1"/>
                </a:solidFill>
              </a:rPr>
              <a:t> que </a:t>
            </a:r>
            <a:r>
              <a:rPr lang="en-US" sz="1500" dirty="0" err="1">
                <a:solidFill>
                  <a:schemeClr val="lt1"/>
                </a:solidFill>
              </a:rPr>
              <a:t>el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500" dirty="0" err="1">
                <a:solidFill>
                  <a:schemeClr val="lt1"/>
                </a:solidFill>
              </a:rPr>
              <a:t>sistema</a:t>
            </a:r>
            <a:r>
              <a:rPr lang="en-US" sz="1500" dirty="0">
                <a:solidFill>
                  <a:schemeClr val="lt1"/>
                </a:solidFill>
              </a:rPr>
              <a:t> se </a:t>
            </a:r>
            <a:r>
              <a:rPr lang="en-US" sz="1500" dirty="0" err="1">
                <a:solidFill>
                  <a:schemeClr val="lt1"/>
                </a:solidFill>
              </a:rPr>
              <a:t>quede</a:t>
            </a:r>
            <a:r>
              <a:rPr lang="en-US" sz="1500" dirty="0">
                <a:solidFill>
                  <a:schemeClr val="lt1"/>
                </a:solidFill>
              </a:rPr>
              <a:t> sin </a:t>
            </a:r>
            <a:r>
              <a:rPr lang="en-US" sz="1500" dirty="0" err="1">
                <a:solidFill>
                  <a:schemeClr val="lt1"/>
                </a:solidFill>
              </a:rPr>
              <a:t>memoria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500" dirty="0" err="1">
                <a:solidFill>
                  <a:schemeClr val="lt1"/>
                </a:solidFill>
              </a:rPr>
              <a:t>durante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500" dirty="0" err="1">
                <a:solidFill>
                  <a:schemeClr val="lt1"/>
                </a:solidFill>
              </a:rPr>
              <a:t>instalaciones</a:t>
            </a:r>
            <a:r>
              <a:rPr lang="en-US" sz="1500" dirty="0">
                <a:solidFill>
                  <a:schemeClr val="lt1"/>
                </a:solidFill>
              </a:rPr>
              <a:t> </a:t>
            </a:r>
            <a:r>
              <a:rPr lang="en-US" sz="1500" dirty="0" err="1">
                <a:solidFill>
                  <a:schemeClr val="lt1"/>
                </a:solidFill>
              </a:rPr>
              <a:t>pesadas</a:t>
            </a:r>
            <a:r>
              <a:rPr lang="en-US" sz="1500" dirty="0">
                <a:solidFill>
                  <a:schemeClr val="lt1"/>
                </a:solidFill>
              </a:rPr>
              <a:t>. </a:t>
            </a:r>
            <a:endParaRPr sz="15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lt1"/>
                </a:solidFill>
              </a:rPr>
              <a:t>* </a:t>
            </a:r>
            <a:r>
              <a:rPr lang="es-ES" sz="1500" b="1" dirty="0">
                <a:solidFill>
                  <a:schemeClr val="lt1"/>
                </a:solidFill>
              </a:rPr>
              <a:t>Problema adicional</a:t>
            </a:r>
            <a:r>
              <a:rPr lang="es-ES" sz="1500" dirty="0">
                <a:solidFill>
                  <a:schemeClr val="lt1"/>
                </a:solidFill>
              </a:rPr>
              <a:t>: si hay más de 100 peticiones a la vez puede andar lento…</a:t>
            </a: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lt1"/>
                </a:solidFill>
              </a:rPr>
              <a:t>Se </a:t>
            </a:r>
            <a:r>
              <a:rPr lang="en-US" sz="1500" dirty="0" err="1">
                <a:solidFill>
                  <a:schemeClr val="lt1"/>
                </a:solidFill>
              </a:rPr>
              <a:t>crean</a:t>
            </a:r>
            <a:r>
              <a:rPr lang="en-US" sz="1500" dirty="0">
                <a:solidFill>
                  <a:schemeClr val="lt1"/>
                </a:solidFill>
              </a:rPr>
              <a:t> enlaces </a:t>
            </a:r>
            <a:r>
              <a:rPr lang="en-US" sz="1500" dirty="0" err="1">
                <a:solidFill>
                  <a:schemeClr val="lt1"/>
                </a:solidFill>
              </a:rPr>
              <a:t>simbólicos</a:t>
            </a:r>
            <a:r>
              <a:rPr lang="en-US" sz="1500" dirty="0">
                <a:solidFill>
                  <a:schemeClr val="lt1"/>
                </a:solidFill>
              </a:rPr>
              <a:t> a mi repo y </a:t>
            </a:r>
            <a:r>
              <a:rPr lang="en-US" sz="1500" dirty="0" err="1">
                <a:solidFill>
                  <a:schemeClr val="lt1"/>
                </a:solidFill>
              </a:rPr>
              <a:t>trato</a:t>
            </a:r>
            <a:r>
              <a:rPr lang="en-US" sz="1500" dirty="0">
                <a:solidFill>
                  <a:schemeClr val="lt1"/>
                </a:solidFill>
              </a:rPr>
              <a:t> de </a:t>
            </a:r>
            <a:r>
              <a:rPr lang="en-US" sz="1500" dirty="0" err="1">
                <a:solidFill>
                  <a:schemeClr val="lt1"/>
                </a:solidFill>
              </a:rPr>
              <a:t>arrancar</a:t>
            </a:r>
            <a:r>
              <a:rPr lang="en-US" sz="1500" dirty="0">
                <a:solidFill>
                  <a:schemeClr val="lt1"/>
                </a:solidFill>
              </a:rPr>
              <a:t> app.py:</a:t>
            </a:r>
            <a:endParaRPr sz="15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rgbClr val="F4D314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>
                <a:solidFill>
                  <a:srgbClr val="F4D314"/>
                </a:solidFill>
              </a:rPr>
              <a:t>Problema</a:t>
            </a:r>
            <a:r>
              <a:rPr lang="en-US" sz="1700" b="1" dirty="0">
                <a:solidFill>
                  <a:srgbClr val="F4D314"/>
                </a:solidFill>
              </a:rPr>
              <a:t> 2: </a:t>
            </a:r>
            <a:endParaRPr sz="1500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	No </a:t>
            </a:r>
            <a:r>
              <a:rPr lang="en-US" sz="1500" dirty="0" err="1">
                <a:solidFill>
                  <a:srgbClr val="FFFFFF"/>
                </a:solidFill>
              </a:rPr>
              <a:t>arrancaba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porque</a:t>
            </a:r>
            <a:r>
              <a:rPr lang="en-US" sz="1500" dirty="0">
                <a:solidFill>
                  <a:srgbClr val="FFFFFF"/>
                </a:solidFill>
              </a:rPr>
              <a:t> le </a:t>
            </a:r>
            <a:r>
              <a:rPr lang="en-US" sz="1500" dirty="0" err="1">
                <a:solidFill>
                  <a:srgbClr val="FFFFFF"/>
                </a:solidFill>
              </a:rPr>
              <a:t>faltaba</a:t>
            </a:r>
            <a:r>
              <a:rPr lang="en-US" sz="1500" dirty="0">
                <a:solidFill>
                  <a:srgbClr val="FFFFFF"/>
                </a:solidFill>
              </a:rPr>
              <a:t> al </a:t>
            </a:r>
            <a:r>
              <a:rPr lang="en-US" sz="1500" dirty="0" err="1">
                <a:solidFill>
                  <a:srgbClr val="FFFFFF"/>
                </a:solidFill>
              </a:rPr>
              <a:t>archivo</a:t>
            </a:r>
            <a:r>
              <a:rPr lang="en-US" sz="1500" dirty="0">
                <a:solidFill>
                  <a:srgbClr val="FFFFFF"/>
                </a:solidFill>
              </a:rPr>
              <a:t> app.py:</a:t>
            </a:r>
            <a:br>
              <a:rPr lang="en-US" sz="1500" dirty="0">
                <a:solidFill>
                  <a:srgbClr val="FFFFFF"/>
                </a:solidFill>
              </a:rPr>
            </a:br>
            <a:r>
              <a:rPr lang="en-US" sz="1500" dirty="0">
                <a:solidFill>
                  <a:srgbClr val="FFFFFF"/>
                </a:solidFill>
              </a:rPr>
              <a:t>	if __name__ == "__main__":</a:t>
            </a: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    	</a:t>
            </a:r>
            <a:r>
              <a:rPr lang="en-US" sz="1500" dirty="0" err="1">
                <a:solidFill>
                  <a:srgbClr val="FFFFFF"/>
                </a:solidFill>
              </a:rPr>
              <a:t>app.run</a:t>
            </a:r>
            <a:r>
              <a:rPr lang="en-US" sz="1500" dirty="0">
                <a:solidFill>
                  <a:srgbClr val="FFFFFF"/>
                </a:solidFill>
              </a:rPr>
              <a:t>(host="0.0.0.0", port=5000)</a:t>
            </a: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FFFF"/>
              </a:solidFill>
            </a:endParaRPr>
          </a:p>
        </p:txBody>
      </p:sp>
      <p:sp>
        <p:nvSpPr>
          <p:cNvPr id="236" name="Google Shape;236;g3e2ea17e58e_1_447"/>
          <p:cNvSpPr/>
          <p:nvPr/>
        </p:nvSpPr>
        <p:spPr>
          <a:xfrm>
            <a:off x="12729150" y="1425900"/>
            <a:ext cx="3076200" cy="582300"/>
          </a:xfrm>
          <a:prstGeom prst="roundRect">
            <a:avLst>
              <a:gd name="adj" fmla="val 50000"/>
            </a:avLst>
          </a:prstGeom>
          <a:solidFill>
            <a:srgbClr val="F4D314"/>
          </a:solidFill>
          <a:ln>
            <a:noFill/>
          </a:ln>
        </p:spPr>
        <p:txBody>
          <a:bodyPr spcFirstLastPara="1" wrap="square" lIns="182850" tIns="91425" rIns="182850" bIns="1828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3" b="1">
                <a:solidFill>
                  <a:schemeClr val="dk1"/>
                </a:solidFill>
              </a:rPr>
              <a:t>         INTERNET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7" name="Google Shape;237;g3e2ea17e58e_1_447"/>
          <p:cNvCxnSpPr/>
          <p:nvPr/>
        </p:nvCxnSpPr>
        <p:spPr>
          <a:xfrm flipH="1">
            <a:off x="14263362" y="2104663"/>
            <a:ext cx="8400" cy="5667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" name="Google Shape;238;g3e2ea17e58e_1_447"/>
          <p:cNvSpPr/>
          <p:nvPr/>
        </p:nvSpPr>
        <p:spPr>
          <a:xfrm>
            <a:off x="11426850" y="2782500"/>
            <a:ext cx="6538500" cy="680400"/>
          </a:xfrm>
          <a:prstGeom prst="roundRect">
            <a:avLst>
              <a:gd name="adj" fmla="val 50000"/>
            </a:avLst>
          </a:prstGeom>
          <a:solidFill>
            <a:srgbClr val="F4D31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3" b="1">
                <a:solidFill>
                  <a:schemeClr val="dk1"/>
                </a:solidFill>
              </a:rPr>
              <a:t> </a:t>
            </a:r>
            <a:endParaRPr sz="1763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63" b="1">
                <a:solidFill>
                  <a:schemeClr val="dk1"/>
                </a:solidFill>
              </a:rPr>
              <a:t>     Navegador pide http://IP_pública AWS/predict </a:t>
            </a:r>
            <a:endParaRPr sz="1963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63" b="1">
              <a:solidFill>
                <a:schemeClr val="dk1"/>
              </a:solidFill>
            </a:endParaRPr>
          </a:p>
        </p:txBody>
      </p:sp>
      <p:sp>
        <p:nvSpPr>
          <p:cNvPr id="239" name="Google Shape;239;g3e2ea17e58e_1_447"/>
          <p:cNvSpPr/>
          <p:nvPr/>
        </p:nvSpPr>
        <p:spPr>
          <a:xfrm>
            <a:off x="11426850" y="4243125"/>
            <a:ext cx="6256800" cy="680400"/>
          </a:xfrm>
          <a:prstGeom prst="roundRect">
            <a:avLst>
              <a:gd name="adj" fmla="val 50000"/>
            </a:avLst>
          </a:prstGeom>
          <a:solidFill>
            <a:srgbClr val="F4D31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3" b="1">
                <a:solidFill>
                  <a:schemeClr val="dk1"/>
                </a:solidFill>
              </a:rPr>
              <a:t> </a:t>
            </a:r>
            <a:endParaRPr sz="1763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63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63" b="1">
                <a:solidFill>
                  <a:schemeClr val="dk1"/>
                </a:solidFill>
              </a:rPr>
              <a:t>Puerto 80 → NGINX (recibe petición de internet)</a:t>
            </a:r>
            <a:endParaRPr sz="1963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63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63" b="1">
              <a:solidFill>
                <a:schemeClr val="dk1"/>
              </a:solidFill>
            </a:endParaRPr>
          </a:p>
        </p:txBody>
      </p:sp>
      <p:sp>
        <p:nvSpPr>
          <p:cNvPr id="240" name="Google Shape;240;g3e2ea17e58e_1_447"/>
          <p:cNvSpPr/>
          <p:nvPr/>
        </p:nvSpPr>
        <p:spPr>
          <a:xfrm>
            <a:off x="11426850" y="5715700"/>
            <a:ext cx="6008700" cy="680400"/>
          </a:xfrm>
          <a:prstGeom prst="roundRect">
            <a:avLst>
              <a:gd name="adj" fmla="val 50000"/>
            </a:avLst>
          </a:prstGeom>
          <a:solidFill>
            <a:srgbClr val="F4D314"/>
          </a:solidFill>
          <a:ln>
            <a:noFill/>
          </a:ln>
        </p:spPr>
        <p:txBody>
          <a:bodyPr spcFirstLastPara="1" wrap="square" lIns="182850" tIns="182875" rIns="182850" bIns="182850" anchor="ctr" anchorCtr="0">
            <a:noAutofit/>
          </a:bodyPr>
          <a:lstStyle/>
          <a:p>
            <a:pPr marL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63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</a:rPr>
              <a:t>Puerto 8000 → GUNICORN (servidor Python)</a:t>
            </a:r>
            <a:endParaRPr sz="190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63" b="1">
              <a:solidFill>
                <a:schemeClr val="dk1"/>
              </a:solidFill>
            </a:endParaRPr>
          </a:p>
        </p:txBody>
      </p:sp>
      <p:sp>
        <p:nvSpPr>
          <p:cNvPr id="241" name="Google Shape;241;g3e2ea17e58e_1_447"/>
          <p:cNvSpPr/>
          <p:nvPr/>
        </p:nvSpPr>
        <p:spPr>
          <a:xfrm>
            <a:off x="11680950" y="7170350"/>
            <a:ext cx="5173200" cy="680400"/>
          </a:xfrm>
          <a:prstGeom prst="roundRect">
            <a:avLst>
              <a:gd name="adj" fmla="val 50000"/>
            </a:avLst>
          </a:prstGeom>
          <a:solidFill>
            <a:srgbClr val="F4D31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63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63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63" b="1">
                <a:solidFill>
                  <a:schemeClr val="dk1"/>
                </a:solidFill>
              </a:rPr>
              <a:t>    Puerto 5000 → FLASK (app.py)</a:t>
            </a:r>
            <a:endParaRPr sz="1963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63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63" b="1">
              <a:solidFill>
                <a:schemeClr val="dk1"/>
              </a:solidFill>
            </a:endParaRPr>
          </a:p>
        </p:txBody>
      </p:sp>
      <p:sp>
        <p:nvSpPr>
          <p:cNvPr id="242" name="Google Shape;242;g3e2ea17e58e_1_447"/>
          <p:cNvSpPr/>
          <p:nvPr/>
        </p:nvSpPr>
        <p:spPr>
          <a:xfrm>
            <a:off x="11583600" y="8624800"/>
            <a:ext cx="5943300" cy="680400"/>
          </a:xfrm>
          <a:prstGeom prst="roundRect">
            <a:avLst>
              <a:gd name="adj" fmla="val 50000"/>
            </a:avLst>
          </a:prstGeom>
          <a:solidFill>
            <a:srgbClr val="F4D31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63" b="1">
                <a:solidFill>
                  <a:schemeClr val="dk1"/>
                </a:solidFill>
              </a:rPr>
              <a:t>    Respuesta JSON con el precio predicho</a:t>
            </a:r>
            <a:endParaRPr sz="2063" b="1">
              <a:solidFill>
                <a:schemeClr val="dk1"/>
              </a:solidFill>
            </a:endParaRPr>
          </a:p>
        </p:txBody>
      </p:sp>
      <p:cxnSp>
        <p:nvCxnSpPr>
          <p:cNvPr id="243" name="Google Shape;243;g3e2ea17e58e_1_447"/>
          <p:cNvCxnSpPr/>
          <p:nvPr/>
        </p:nvCxnSpPr>
        <p:spPr>
          <a:xfrm flipH="1">
            <a:off x="14263062" y="3566675"/>
            <a:ext cx="8400" cy="5667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g3e2ea17e58e_1_447"/>
          <p:cNvCxnSpPr/>
          <p:nvPr/>
        </p:nvCxnSpPr>
        <p:spPr>
          <a:xfrm flipH="1">
            <a:off x="14263362" y="5033275"/>
            <a:ext cx="8400" cy="5667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" name="Google Shape;245;g3e2ea17e58e_1_447"/>
          <p:cNvCxnSpPr/>
          <p:nvPr/>
        </p:nvCxnSpPr>
        <p:spPr>
          <a:xfrm flipH="1">
            <a:off x="14263062" y="6499875"/>
            <a:ext cx="8400" cy="5667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6" name="Google Shape;246;g3e2ea17e58e_1_447"/>
          <p:cNvCxnSpPr/>
          <p:nvPr/>
        </p:nvCxnSpPr>
        <p:spPr>
          <a:xfrm flipH="1">
            <a:off x="14254662" y="7954425"/>
            <a:ext cx="8400" cy="5667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2ea17e58e_1_85"/>
          <p:cNvSpPr/>
          <p:nvPr/>
        </p:nvSpPr>
        <p:spPr>
          <a:xfrm>
            <a:off x="0" y="-115925"/>
            <a:ext cx="199796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1" b="-9221"/>
            </a:stretch>
          </a:blipFill>
          <a:ln>
            <a:noFill/>
          </a:ln>
        </p:spPr>
      </p:sp>
      <p:sp>
        <p:nvSpPr>
          <p:cNvPr id="252" name="Google Shape;252;g3e2ea17e58e_1_85"/>
          <p:cNvSpPr txBox="1"/>
          <p:nvPr/>
        </p:nvSpPr>
        <p:spPr>
          <a:xfrm>
            <a:off x="1398475" y="586656"/>
            <a:ext cx="765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DESPLIEGUE EN AWS</a:t>
            </a:r>
            <a:endParaRPr sz="6000"/>
          </a:p>
        </p:txBody>
      </p:sp>
      <p:sp>
        <p:nvSpPr>
          <p:cNvPr id="253" name="Google Shape;253;g3e2ea17e58e_1_85"/>
          <p:cNvSpPr txBox="1"/>
          <p:nvPr/>
        </p:nvSpPr>
        <p:spPr>
          <a:xfrm>
            <a:off x="1398479" y="1774652"/>
            <a:ext cx="15882000" cy="6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Health check — </a:t>
            </a:r>
            <a:r>
              <a:rPr lang="en-US" sz="1500" dirty="0" err="1">
                <a:solidFill>
                  <a:srgbClr val="FFFFFF"/>
                </a:solidFill>
              </a:rPr>
              <a:t>verificar</a:t>
            </a:r>
            <a:r>
              <a:rPr lang="en-US" sz="1500" dirty="0">
                <a:solidFill>
                  <a:srgbClr val="FFFFFF"/>
                </a:solidFill>
              </a:rPr>
              <a:t> que </a:t>
            </a:r>
            <a:r>
              <a:rPr lang="en-US" sz="1500" dirty="0" err="1">
                <a:solidFill>
                  <a:srgbClr val="FFFFFF"/>
                </a:solidFill>
              </a:rPr>
              <a:t>está</a:t>
            </a:r>
            <a:r>
              <a:rPr lang="en-US" sz="1500" dirty="0">
                <a:solidFill>
                  <a:srgbClr val="FFFFFF"/>
                </a:solidFill>
              </a:rPr>
              <a:t> viva:    </a:t>
            </a: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 dirty="0">
                <a:solidFill>
                  <a:srgbClr val="F4D314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http://13.60.90.39/health  </a:t>
            </a:r>
            <a:endParaRPr sz="1700" dirty="0">
              <a:solidFill>
                <a:srgbClr val="F4D314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   </a:t>
            </a: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solidFill>
                  <a:srgbClr val="FFFFFF"/>
                </a:solidFill>
              </a:rPr>
              <a:t>Página</a:t>
            </a:r>
            <a:r>
              <a:rPr lang="en-US" sz="1500" dirty="0">
                <a:solidFill>
                  <a:srgbClr val="FFFFFF"/>
                </a:solidFill>
              </a:rPr>
              <a:t> principal:    </a:t>
            </a: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F4D314"/>
                </a:solidFill>
              </a:rPr>
              <a:t>http://13.60.90.39/  </a:t>
            </a:r>
            <a:r>
              <a:rPr lang="en-US" sz="1500" dirty="0">
                <a:solidFill>
                  <a:srgbClr val="FFFFFF"/>
                </a:solidFill>
              </a:rPr>
              <a:t>  </a:t>
            </a: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solidFill>
                  <a:srgbClr val="FFFFFF"/>
                </a:solidFill>
              </a:rPr>
              <a:t>Predicción</a:t>
            </a:r>
            <a:r>
              <a:rPr lang="en-US" sz="1500" dirty="0">
                <a:solidFill>
                  <a:srgbClr val="FFFFFF"/>
                </a:solidFill>
              </a:rPr>
              <a:t> GET — </a:t>
            </a:r>
            <a:r>
              <a:rPr lang="en-US" sz="1500" dirty="0" err="1">
                <a:solidFill>
                  <a:srgbClr val="FFFFFF"/>
                </a:solidFill>
              </a:rPr>
              <a:t>apartamento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en</a:t>
            </a:r>
            <a:r>
              <a:rPr lang="en-US" sz="1500" dirty="0">
                <a:solidFill>
                  <a:srgbClr val="FFFFFF"/>
                </a:solidFill>
              </a:rPr>
              <a:t> Sol:    </a:t>
            </a: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 dirty="0">
                <a:solidFill>
                  <a:srgbClr val="F4D314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</a:t>
            </a:r>
            <a:r>
              <a:rPr lang="en-US" sz="1700" u="sng" dirty="0">
                <a:solidFill>
                  <a:srgbClr val="F4D314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ttp://13.60.90.39/predict-query?neighbourhood_cleansed=Sol&amp;room_type=Entire%20home/apt&amp;accommodates=4&amp;bathrooms=1&amp;bedrooms=2&amp;beds=2&amp;minimum_nights=2&amp;number_of_reviews=50&amp;review_scores_rating=4.5&amp;availability_365=200 </a:t>
            </a:r>
            <a:endParaRPr sz="1700" dirty="0">
              <a:solidFill>
                <a:srgbClr val="F4D314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 dirty="0">
                <a:solidFill>
                  <a:srgbClr val="F4D314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solidFill>
                  <a:srgbClr val="FFFFFF"/>
                </a:solidFill>
              </a:rPr>
              <a:t>Predicción</a:t>
            </a:r>
            <a:r>
              <a:rPr lang="en-US" sz="1500" dirty="0">
                <a:solidFill>
                  <a:srgbClr val="FFFFFF"/>
                </a:solidFill>
              </a:rPr>
              <a:t> GET — </a:t>
            </a:r>
            <a:r>
              <a:rPr lang="en-US" sz="1500" dirty="0" err="1">
                <a:solidFill>
                  <a:srgbClr val="FFFFFF"/>
                </a:solidFill>
              </a:rPr>
              <a:t>habitación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privada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en</a:t>
            </a:r>
            <a:r>
              <a:rPr lang="en-US" sz="1500" dirty="0">
                <a:solidFill>
                  <a:srgbClr val="FFFFFF"/>
                </a:solidFill>
              </a:rPr>
              <a:t> Goya:    </a:t>
            </a:r>
            <a:endParaRPr sz="15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 dirty="0">
                <a:solidFill>
                  <a:srgbClr val="F4D314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http://13.60.90.39/predict-query?neighbourhood_cleansed=Goya&amp;room_type=Private%20room&amp;accommodates=2&amp;bathrooms=1&amp;bedrooms=1&amp;beds=1&amp;minimum_nights=3&amp;number_of_reviews=30&amp;review_scores_rating=4.2&amp;availability_365=150 </a:t>
            </a:r>
            <a:endParaRPr sz="1700" dirty="0">
              <a:solidFill>
                <a:srgbClr val="F4D314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FFFF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C25DCC5-64DC-EA9F-8B43-E2FDC75FCA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8475" y="7483692"/>
            <a:ext cx="14365706" cy="20573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/>
          <p:nvPr/>
        </p:nvSpPr>
        <p:spPr>
          <a:xfrm>
            <a:off x="0" y="0"/>
            <a:ext cx="201168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3419" b="-83419"/>
            </a:stretch>
          </a:blipFill>
          <a:ln>
            <a:noFill/>
          </a:ln>
        </p:spPr>
      </p:sp>
      <p:sp>
        <p:nvSpPr>
          <p:cNvPr id="259" name="Google Shape;259;p12"/>
          <p:cNvSpPr txBox="1"/>
          <p:nvPr/>
        </p:nvSpPr>
        <p:spPr>
          <a:xfrm>
            <a:off x="2314586" y="4273591"/>
            <a:ext cx="13658700" cy="2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8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MUCHAS 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1512</Words>
  <Application>Microsoft Office PowerPoint</Application>
  <PresentationFormat>Personalizado</PresentationFormat>
  <Paragraphs>193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League Gothic</vt:lpstr>
      <vt:lpstr>Courier New</vt:lpstr>
      <vt:lpstr>Arial</vt:lpstr>
      <vt:lpstr>Calibri</vt:lpstr>
      <vt:lpstr>Roboto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Alan Pino</cp:lastModifiedBy>
  <cp:revision>1</cp:revision>
  <dcterms:created xsi:type="dcterms:W3CDTF">2006-08-16T00:00:00Z</dcterms:created>
  <dcterms:modified xsi:type="dcterms:W3CDTF">2026-05-20T08:58:05Z</dcterms:modified>
</cp:coreProperties>
</file>