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81" r:id="rId5"/>
    <p:sldId id="260" r:id="rId6"/>
    <p:sldId id="276" r:id="rId7"/>
    <p:sldId id="278" r:id="rId8"/>
    <p:sldId id="258" r:id="rId9"/>
    <p:sldId id="261" r:id="rId10"/>
    <p:sldId id="269" r:id="rId11"/>
    <p:sldId id="271" r:id="rId12"/>
    <p:sldId id="263" r:id="rId13"/>
    <p:sldId id="274" r:id="rId14"/>
    <p:sldId id="275" r:id="rId15"/>
    <p:sldId id="264" r:id="rId16"/>
    <p:sldId id="279" r:id="rId17"/>
    <p:sldId id="273" r:id="rId18"/>
    <p:sldId id="272" r:id="rId19"/>
    <p:sldId id="280" r:id="rId20"/>
    <p:sldId id="268" r:id="rId21"/>
  </p:sldIdLst>
  <p:sldSz cx="18288000" cy="10287000"/>
  <p:notesSz cx="6858000" cy="9144000"/>
  <p:embeddedFontLst>
    <p:embeddedFont>
      <p:font typeface="Bahnschrift SemiLight SemiConde" panose="020B0502040204020203" pitchFamily="34" charset="0"/>
      <p:regular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</p:embeddedFont>
    <p:embeddedFont>
      <p:font typeface="Inter Bold" panose="020B0604020202020204" charset="0"/>
      <p:regular r:id="rId29"/>
    </p:embeddedFont>
    <p:embeddedFont>
      <p:font typeface="Inter Italics" panose="020B0604020202020204" charset="0"/>
      <p:regular r:id="rId30"/>
    </p:embeddedFont>
    <p:embeddedFont>
      <p:font typeface="Microsoft YaHei UI" panose="020B0503020204020204" pitchFamily="34" charset="-122"/>
      <p:regular r:id="rId31"/>
      <p:bold r:id="rId32"/>
    </p:embeddedFont>
    <p:embeddedFont>
      <p:font typeface="Montserrat Bold" panose="020B0604020202020204" charset="0"/>
      <p:regular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Trebuchet MS" panose="020B060302020202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E5B1"/>
    <a:srgbClr val="10B981"/>
    <a:srgbClr val="4A7EBB"/>
    <a:srgbClr val="D1FAE5"/>
    <a:srgbClr val="243141"/>
    <a:srgbClr val="3C8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0" autoAdjust="0"/>
    <p:restoredTop sz="90405" autoAdjust="0"/>
  </p:normalViewPr>
  <p:slideViewPr>
    <p:cSldViewPr>
      <p:cViewPr varScale="1">
        <p:scale>
          <a:sx n="38" d="100"/>
          <a:sy n="38" d="100"/>
        </p:scale>
        <p:origin x="681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CF802-B75D-405A-AA85-79A11BE1BF23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49FE7-5A6E-4539-9FBB-2EAC703080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1591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9FE7-5A6E-4539-9FBB-2EAC703080F6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114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Subestacion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electrica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(Oasis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crucero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Plantas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solares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ecolicas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Calama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Chuquicamata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(mina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cobre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tajo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abierto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- </a:t>
            </a:r>
            <a:r>
              <a:rPr lang="en-US" sz="12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Crucero</a:t>
            </a:r>
            <a:r>
              <a:rPr lang="en-US" sz="1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s-CL" sz="12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9FE7-5A6E-4539-9FBB-2EAC703080F6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84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9FE7-5A6E-4539-9FBB-2EAC703080F6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469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 </a:t>
            </a: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Regression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modelo lineal que busca la relación promedio entre las variables de entrada y la variable objetivo. Es simple, interpretable y funciona bien cuando la relación es aproximadamente lineal.</a:t>
            </a:r>
          </a:p>
          <a:p>
            <a:b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Ridge: es una regresión lineal con regularización L2; penaliza coeficientes grandes para reducir sobreajuste. Suele ir bien cuando hay muchas variables correlacionadas, en estas reparte el peso.</a:t>
            </a:r>
          </a:p>
          <a:p>
            <a:b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Lasso: también es una regresión lineal con regularización, pero L1; además de reducir coeficientes, puede llevar algunos a cero, actuando como selección de variables.</a:t>
            </a:r>
          </a:p>
          <a:p>
            <a:b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Random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Forest: combina muchos árboles de decisión entrenados en paralelo y promedia sus resultados. Suele ser robusto y bastante estable, capturando relaciones no lineales.</a:t>
            </a:r>
          </a:p>
          <a:p>
            <a:b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Gradient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Boosting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construye árboles de forma secuencial, donde cada nuevo árbol corrige errores de los anteriores. Normalmente logra buena precisión, aunque requiere más ajuste de </a:t>
            </a: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hiperparámetros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</a:p>
          <a:p>
            <a:b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XGBoost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es una versión optimizada de </a:t>
            </a: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Gradient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CL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Boosting</a:t>
            </a:r>
            <a:r>
              <a:rPr lang="es-CL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diseñada para ser más rápida y eficiente. Suele rendir muy bien en datos complejos y no lineales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9FE7-5A6E-4539-9FBB-2EAC703080F6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200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9FE7-5A6E-4539-9FBB-2EAC703080F6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704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25126B8-5DB5-0D21-C9F3-06E4986F26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0" y="136139"/>
            <a:ext cx="18108460" cy="1001472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90600" y="-345430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Proyecto</a:t>
            </a:r>
            <a:r>
              <a:rPr lang="en-US" sz="4800" b="1" dirty="0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Machine Learning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439684"/>
            <a:ext cx="16116300" cy="1890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s-CL" sz="3600" b="1" dirty="0">
                <a:solidFill>
                  <a:srgbClr val="243141"/>
                </a:solidFill>
                <a:latin typeface="Bahnschrift SemiLight SemiConde" panose="020B0502040204020203" pitchFamily="34" charset="0"/>
                <a:ea typeface="Montserrat Bold"/>
                <a:cs typeface="Montserrat Bold"/>
                <a:sym typeface="Montserrat Bold"/>
              </a:rPr>
              <a:t>Uso de variables meteorológicas para predecir el costo de la energía</a:t>
            </a:r>
            <a:endParaRPr lang="en-US" sz="3600" b="1" dirty="0">
              <a:solidFill>
                <a:srgbClr val="243141"/>
              </a:solidFill>
              <a:latin typeface="Bahnschrift SemiLight SemiConde" panose="020B0502040204020203" pitchFamily="3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18291" y="8466605"/>
            <a:ext cx="4495800" cy="413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i="1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</a:rPr>
              <a:t>Ariela </a:t>
            </a:r>
            <a:r>
              <a:rPr lang="en-US" sz="2499" b="1" i="1" dirty="0" err="1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</a:rPr>
              <a:t>Astorga</a:t>
            </a:r>
            <a:r>
              <a:rPr lang="en-US" sz="2499" b="1" i="1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</a:rPr>
              <a:t> López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92956" y="8913147"/>
            <a:ext cx="2595044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6559678" y="1199158"/>
            <a:ext cx="699622" cy="1176735"/>
          </a:xfrm>
          <a:custGeom>
            <a:avLst/>
            <a:gdLst/>
            <a:ahLst/>
            <a:cxnLst/>
            <a:rect l="l" t="t" r="r" b="b"/>
            <a:pathLst>
              <a:path w="699622" h="1176735">
                <a:moveTo>
                  <a:pt x="0" y="0"/>
                </a:moveTo>
                <a:lnTo>
                  <a:pt x="699622" y="0"/>
                </a:lnTo>
                <a:lnTo>
                  <a:pt x="699622" y="1176735"/>
                </a:lnTo>
                <a:lnTo>
                  <a:pt x="0" y="1176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34798" y="1866900"/>
            <a:ext cx="7359449" cy="656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Contexto del negocio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Ubicación de Crucero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Objetivo del proyecto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Fuentes de datos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Variables del modelo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Limpieza de datos 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Modelos supervisados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Análisis no supervisado</a:t>
            </a:r>
          </a:p>
          <a:p>
            <a:pPr marL="514350" indent="-51435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s-CL" sz="3200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8BA37885-5E89-3643-2186-D7487F8F003B}"/>
              </a:ext>
            </a:extLst>
          </p:cNvPr>
          <p:cNvSpPr txBox="1"/>
          <p:nvPr/>
        </p:nvSpPr>
        <p:spPr>
          <a:xfrm>
            <a:off x="1060784" y="-342900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Índice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0741E078-528E-9F81-A4B8-00BB6C10D0A2}"/>
              </a:ext>
            </a:extLst>
          </p:cNvPr>
          <p:cNvGrpSpPr/>
          <p:nvPr/>
        </p:nvGrpSpPr>
        <p:grpSpPr>
          <a:xfrm rot="5400000">
            <a:off x="6918962" y="3637035"/>
            <a:ext cx="11919971" cy="4264904"/>
            <a:chOff x="0" y="0"/>
            <a:chExt cx="2357325" cy="103155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C869A7CD-B49B-FEED-6E43-FA60BC2B15E0}"/>
                </a:ext>
              </a:extLst>
            </p:cNvPr>
            <p:cNvSpPr/>
            <p:nvPr/>
          </p:nvSpPr>
          <p:spPr>
            <a:xfrm>
              <a:off x="0" y="0"/>
              <a:ext cx="2357325" cy="1031552"/>
            </a:xfrm>
            <a:custGeom>
              <a:avLst/>
              <a:gdLst/>
              <a:ahLst/>
              <a:cxnLst/>
              <a:rect l="l" t="t" r="r" b="b"/>
              <a:pathLst>
                <a:path w="2357325" h="1031552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000413"/>
                  </a:lnTo>
                  <a:cubicBezTo>
                    <a:pt x="2357325" y="1008672"/>
                    <a:pt x="2354044" y="1016592"/>
                    <a:pt x="2348204" y="1022432"/>
                  </a:cubicBezTo>
                  <a:cubicBezTo>
                    <a:pt x="2342365" y="1028272"/>
                    <a:pt x="2334444" y="1031552"/>
                    <a:pt x="2326186" y="1031552"/>
                  </a:cubicBezTo>
                  <a:lnTo>
                    <a:pt x="31139" y="1031552"/>
                  </a:lnTo>
                  <a:cubicBezTo>
                    <a:pt x="22880" y="1031552"/>
                    <a:pt x="14960" y="1028272"/>
                    <a:pt x="9120" y="1022432"/>
                  </a:cubicBezTo>
                  <a:cubicBezTo>
                    <a:pt x="3281" y="1016592"/>
                    <a:pt x="0" y="1008672"/>
                    <a:pt x="0" y="1000413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2E8ED151-E7B2-4736-C103-1CABF761F7CF}"/>
                </a:ext>
              </a:extLst>
            </p:cNvPr>
            <p:cNvSpPr txBox="1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0"/>
            <a:ext cx="2546351" cy="2546351"/>
          </a:xfrm>
          <a:custGeom>
            <a:avLst/>
            <a:gdLst/>
            <a:ahLst/>
            <a:cxnLst/>
            <a:rect l="l" t="t" r="r" b="b"/>
            <a:pathLst>
              <a:path w="2546351" h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539707C-D5D9-8D93-7008-69A52DC34A44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Contexto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del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problema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142A2AB-2724-19FC-0DD8-44E14B9167D3}"/>
              </a:ext>
            </a:extLst>
          </p:cNvPr>
          <p:cNvSpPr txBox="1"/>
          <p:nvPr/>
        </p:nvSpPr>
        <p:spPr>
          <a:xfrm>
            <a:off x="1524000" y="2751702"/>
            <a:ext cx="14879312" cy="556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precio de la energía no es fijo: cambia según hora, ubicación y condiciones del sistema.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Este proyecto busca entender y anticipar ese comportamiento con datos.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8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 interesante predecir el precio de la energía, por hora por ejemplo, para saber cuándo comprar y cuando vender energía, para empresas de almacenamiento eléctrico.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8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Sistemas de almacenamiento actual en plantas fotovoltaicas: baterías de litio – costoso </a:t>
            </a:r>
            <a:r>
              <a:rPr lang="en-US" sz="28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 </a:t>
            </a:r>
            <a:r>
              <a:rPr lang="es-CL" sz="28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complejo.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228600" algn="l"/>
              </a:tabLst>
            </a:pPr>
            <a:endParaRPr lang="es-CL" sz="28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1000"/>
              </a:spcAft>
              <a:tabLst>
                <a:tab pos="228600" algn="l"/>
              </a:tabLst>
            </a:pPr>
            <a:endParaRPr lang="es-CL" sz="28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0"/>
            <a:ext cx="2546351" cy="2546351"/>
          </a:xfrm>
          <a:custGeom>
            <a:avLst/>
            <a:gdLst/>
            <a:ahLst/>
            <a:cxnLst/>
            <a:rect l="l" t="t" r="r" b="b"/>
            <a:pathLst>
              <a:path w="2546351" h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539707C-D5D9-8D93-7008-69A52DC34A44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Contexto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del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problema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142A2AB-2724-19FC-0DD8-44E14B9167D3}"/>
              </a:ext>
            </a:extLst>
          </p:cNvPr>
          <p:cNvSpPr txBox="1"/>
          <p:nvPr/>
        </p:nvSpPr>
        <p:spPr>
          <a:xfrm>
            <a:off x="1323069" y="2761636"/>
            <a:ext cx="14879312" cy="1397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>
                <a:ea typeface="MS Mincho" panose="02020609040205080304" pitchFamily="49" charset="-128"/>
                <a:cs typeface="Times New Roman" panose="02020603050405020304" pitchFamily="18" charset="0"/>
              </a:rPr>
              <a:t>Thermophoton guarda electricidad como calor en una </a:t>
            </a:r>
            <a:r>
              <a:rPr lang="es-CL" sz="2400" dirty="0"/>
              <a:t>batería fotovoltaica. Esta batería diseñada para consumir electricidad renovable cuando sobra, por ejemplo al medio </a:t>
            </a:r>
            <a:r>
              <a:rPr lang="es-CL" sz="2400" dirty="0" err="1"/>
              <a:t>dia</a:t>
            </a:r>
            <a:r>
              <a:rPr lang="es-CL" sz="2400" dirty="0"/>
              <a:t>, y entregarla cuando lo necesite el usuario.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8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85AF74-D27A-CC29-9837-CBD8B09EA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9700" y="7528216"/>
            <a:ext cx="5307141" cy="2489118"/>
          </a:xfrm>
          <a:prstGeom prst="rect">
            <a:avLst/>
          </a:prstGeom>
        </p:spPr>
      </p:pic>
      <p:grpSp>
        <p:nvGrpSpPr>
          <p:cNvPr id="4" name="Grupo 21">
            <a:extLst>
              <a:ext uri="{FF2B5EF4-FFF2-40B4-BE49-F238E27FC236}">
                <a16:creationId xmlns:a16="http://schemas.microsoft.com/office/drawing/2014/main" id="{E2EC4BEF-10CA-2B6C-4F95-9A3112993148}"/>
              </a:ext>
            </a:extLst>
          </p:cNvPr>
          <p:cNvGrpSpPr>
            <a:grpSpLocks noChangeAspect="1"/>
          </p:cNvGrpSpPr>
          <p:nvPr/>
        </p:nvGrpSpPr>
        <p:grpSpPr>
          <a:xfrm>
            <a:off x="1371600" y="4209113"/>
            <a:ext cx="8933697" cy="5027111"/>
            <a:chOff x="0" y="-7461"/>
            <a:chExt cx="12192000" cy="6860601"/>
          </a:xfrm>
        </p:grpSpPr>
        <p:pic>
          <p:nvPicPr>
            <p:cNvPr id="5" name="Imagen 22">
              <a:extLst>
                <a:ext uri="{FF2B5EF4-FFF2-40B4-BE49-F238E27FC236}">
                  <a16:creationId xmlns:a16="http://schemas.microsoft.com/office/drawing/2014/main" id="{C747C114-C20B-B3A1-256A-BEF2C225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-7461"/>
              <a:ext cx="12192000" cy="6858000"/>
            </a:xfrm>
            <a:prstGeom prst="rect">
              <a:avLst/>
            </a:prstGeom>
          </p:spPr>
        </p:pic>
        <p:grpSp>
          <p:nvGrpSpPr>
            <p:cNvPr id="7" name="Grupo 23">
              <a:extLst>
                <a:ext uri="{FF2B5EF4-FFF2-40B4-BE49-F238E27FC236}">
                  <a16:creationId xmlns:a16="http://schemas.microsoft.com/office/drawing/2014/main" id="{A4C62D76-9A48-BCD9-270D-131CDEFD6103}"/>
                </a:ext>
              </a:extLst>
            </p:cNvPr>
            <p:cNvGrpSpPr/>
            <p:nvPr/>
          </p:nvGrpSpPr>
          <p:grpSpPr>
            <a:xfrm>
              <a:off x="304800" y="874236"/>
              <a:ext cx="11706225" cy="5065594"/>
              <a:chOff x="304800" y="874236"/>
              <a:chExt cx="11706225" cy="5065594"/>
            </a:xfrm>
          </p:grpSpPr>
          <p:sp>
            <p:nvSpPr>
              <p:cNvPr id="17" name="CuadroTexto 32">
                <a:extLst>
                  <a:ext uri="{FF2B5EF4-FFF2-40B4-BE49-F238E27FC236}">
                    <a16:creationId xmlns:a16="http://schemas.microsoft.com/office/drawing/2014/main" id="{8D20DE7B-478D-4882-0A29-30902E40F6B2}"/>
                  </a:ext>
                </a:extLst>
              </p:cNvPr>
              <p:cNvSpPr txBox="1"/>
              <p:nvPr/>
            </p:nvSpPr>
            <p:spPr>
              <a:xfrm>
                <a:off x="9886951" y="874236"/>
                <a:ext cx="2124074" cy="369332"/>
              </a:xfrm>
              <a:prstGeom prst="rect">
                <a:avLst/>
              </a:prstGeom>
              <a:solidFill>
                <a:srgbClr val="D59D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419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Hot </a:t>
                </a:r>
                <a:r>
                  <a:rPr kumimoji="0" lang="es-419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Water</a:t>
                </a:r>
                <a:r>
                  <a:rPr kumimoji="0" lang="es-419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 Storage</a:t>
                </a: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8" name="CuadroTexto 34">
                <a:extLst>
                  <a:ext uri="{FF2B5EF4-FFF2-40B4-BE49-F238E27FC236}">
                    <a16:creationId xmlns:a16="http://schemas.microsoft.com/office/drawing/2014/main" id="{ED4A3DA4-2F56-47C5-3EA4-62E75ABDD69E}"/>
                  </a:ext>
                </a:extLst>
              </p:cNvPr>
              <p:cNvSpPr txBox="1"/>
              <p:nvPr/>
            </p:nvSpPr>
            <p:spPr>
              <a:xfrm>
                <a:off x="304800" y="5570498"/>
                <a:ext cx="1790700" cy="369332"/>
              </a:xfrm>
              <a:prstGeom prst="rect">
                <a:avLst/>
              </a:prstGeom>
              <a:solidFill>
                <a:srgbClr val="D59D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419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Heat</a:t>
                </a:r>
                <a:r>
                  <a:rPr kumimoji="0" lang="es-419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 </a:t>
                </a:r>
                <a:r>
                  <a:rPr kumimoji="0" lang="es-419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Exchanger</a:t>
                </a: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cxnSp>
            <p:nvCxnSpPr>
              <p:cNvPr id="19" name="Conector recto 37">
                <a:extLst>
                  <a:ext uri="{FF2B5EF4-FFF2-40B4-BE49-F238E27FC236}">
                    <a16:creationId xmlns:a16="http://schemas.microsoft.com/office/drawing/2014/main" id="{35B5EA77-8F4E-9DE9-4BE8-9000FB563167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 flipV="1">
                <a:off x="2095500" y="4754265"/>
                <a:ext cx="1101725" cy="1000899"/>
              </a:xfrm>
              <a:prstGeom prst="line">
                <a:avLst/>
              </a:prstGeom>
              <a:ln w="38100">
                <a:solidFill>
                  <a:srgbClr val="FFC000"/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38">
                <a:extLst>
                  <a:ext uri="{FF2B5EF4-FFF2-40B4-BE49-F238E27FC236}">
                    <a16:creationId xmlns:a16="http://schemas.microsoft.com/office/drawing/2014/main" id="{288DC42A-FA8F-2212-34FC-BF7B8C4DF530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flipH="1">
                <a:off x="10369550" y="1243568"/>
                <a:ext cx="579438" cy="874236"/>
              </a:xfrm>
              <a:prstGeom prst="line">
                <a:avLst/>
              </a:prstGeom>
              <a:ln w="38100">
                <a:solidFill>
                  <a:srgbClr val="FFC000"/>
                </a:solidFill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upo 24">
              <a:extLst>
                <a:ext uri="{FF2B5EF4-FFF2-40B4-BE49-F238E27FC236}">
                  <a16:creationId xmlns:a16="http://schemas.microsoft.com/office/drawing/2014/main" id="{3D683072-1025-5491-55E4-1E1801060042}"/>
                </a:ext>
              </a:extLst>
            </p:cNvPr>
            <p:cNvGrpSpPr/>
            <p:nvPr/>
          </p:nvGrpSpPr>
          <p:grpSpPr>
            <a:xfrm>
              <a:off x="3566079" y="3918744"/>
              <a:ext cx="8560103" cy="2934396"/>
              <a:chOff x="3566079" y="3918744"/>
              <a:chExt cx="8560103" cy="2934396"/>
            </a:xfrm>
          </p:grpSpPr>
          <p:sp>
            <p:nvSpPr>
              <p:cNvPr id="9" name="CuadroTexto 25">
                <a:extLst>
                  <a:ext uri="{FF2B5EF4-FFF2-40B4-BE49-F238E27FC236}">
                    <a16:creationId xmlns:a16="http://schemas.microsoft.com/office/drawing/2014/main" id="{B6A0670D-3504-CC4A-F17B-A02A04F11A1A}"/>
                  </a:ext>
                </a:extLst>
              </p:cNvPr>
              <p:cNvSpPr txBox="1"/>
              <p:nvPr/>
            </p:nvSpPr>
            <p:spPr>
              <a:xfrm rot="20804426">
                <a:off x="9662940" y="3918744"/>
                <a:ext cx="1676400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419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Heat</a:t>
                </a:r>
                <a:r>
                  <a:rPr kumimoji="0" lang="es-419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 (&lt;100ºC)</a:t>
                </a: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1" name="CuadroTexto 26">
                <a:extLst>
                  <a:ext uri="{FF2B5EF4-FFF2-40B4-BE49-F238E27FC236}">
                    <a16:creationId xmlns:a16="http://schemas.microsoft.com/office/drawing/2014/main" id="{0FB69491-D72C-6E4F-B18A-BFC80AEBE2A4}"/>
                  </a:ext>
                </a:extLst>
              </p:cNvPr>
              <p:cNvSpPr txBox="1"/>
              <p:nvPr/>
            </p:nvSpPr>
            <p:spPr>
              <a:xfrm rot="20750038">
                <a:off x="3566079" y="5385832"/>
                <a:ext cx="1689100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419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Heat</a:t>
                </a:r>
                <a:r>
                  <a:rPr kumimoji="0" lang="es-419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 (&gt;100ºC)</a:t>
                </a:r>
                <a:endPara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3" name="CuadroTexto 27">
                <a:extLst>
                  <a:ext uri="{FF2B5EF4-FFF2-40B4-BE49-F238E27FC236}">
                    <a16:creationId xmlns:a16="http://schemas.microsoft.com/office/drawing/2014/main" id="{FEA42B59-6682-2FF6-57A0-F9CA8BD9B2FA}"/>
                  </a:ext>
                </a:extLst>
              </p:cNvPr>
              <p:cNvSpPr txBox="1"/>
              <p:nvPr/>
            </p:nvSpPr>
            <p:spPr>
              <a:xfrm rot="20804546">
                <a:off x="7761084" y="4101765"/>
                <a:ext cx="1609143" cy="649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419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Arial"/>
                  </a:rPr>
                  <a:t>Electricity</a:t>
                </a:r>
                <a:endPara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4" name="Flecha: hacia abajo 1">
                <a:extLst>
                  <a:ext uri="{FF2B5EF4-FFF2-40B4-BE49-F238E27FC236}">
                    <a16:creationId xmlns:a16="http://schemas.microsoft.com/office/drawing/2014/main" id="{01F1944B-2CDD-2341-7BE6-91B28C0919C3}"/>
                  </a:ext>
                </a:extLst>
              </p:cNvPr>
              <p:cNvSpPr/>
              <p:nvPr/>
            </p:nvSpPr>
            <p:spPr>
              <a:xfrm rot="18016772">
                <a:off x="4729542" y="5775378"/>
                <a:ext cx="850842" cy="1304681"/>
              </a:xfrm>
              <a:custGeom>
                <a:avLst/>
                <a:gdLst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902494 w 1203325"/>
                  <a:gd name="connsiteY3" fmla="*/ 0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805177 w 1203325"/>
                  <a:gd name="connsiteY3" fmla="*/ 554354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16922"/>
                  <a:gd name="connsiteY0" fmla="*/ 1320781 h 1922443"/>
                  <a:gd name="connsiteX1" fmla="*/ 300831 w 1216922"/>
                  <a:gd name="connsiteY1" fmla="*/ 1320781 h 1922443"/>
                  <a:gd name="connsiteX2" fmla="*/ 300831 w 1216922"/>
                  <a:gd name="connsiteY2" fmla="*/ 0 h 1922443"/>
                  <a:gd name="connsiteX3" fmla="*/ 805177 w 1216922"/>
                  <a:gd name="connsiteY3" fmla="*/ 554354 h 1922443"/>
                  <a:gd name="connsiteX4" fmla="*/ 902494 w 1216922"/>
                  <a:gd name="connsiteY4" fmla="*/ 1320781 h 1922443"/>
                  <a:gd name="connsiteX5" fmla="*/ 1216922 w 1216922"/>
                  <a:gd name="connsiteY5" fmla="*/ 1606259 h 1922443"/>
                  <a:gd name="connsiteX6" fmla="*/ 601663 w 1216922"/>
                  <a:gd name="connsiteY6" fmla="*/ 1922443 h 1922443"/>
                  <a:gd name="connsiteX7" fmla="*/ 0 w 1216922"/>
                  <a:gd name="connsiteY7" fmla="*/ 1320781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914494 w 1228922"/>
                  <a:gd name="connsiteY4" fmla="*/ 1320781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801986 w 1228922"/>
                  <a:gd name="connsiteY4" fmla="*/ 1565074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086213"/>
                  <a:gd name="connsiteY0" fmla="*/ 1059885 h 1922443"/>
                  <a:gd name="connsiteX1" fmla="*/ 312831 w 1086213"/>
                  <a:gd name="connsiteY1" fmla="*/ 1320781 h 1922443"/>
                  <a:gd name="connsiteX2" fmla="*/ 312831 w 1086213"/>
                  <a:gd name="connsiteY2" fmla="*/ 0 h 1922443"/>
                  <a:gd name="connsiteX3" fmla="*/ 817177 w 1086213"/>
                  <a:gd name="connsiteY3" fmla="*/ 554354 h 1922443"/>
                  <a:gd name="connsiteX4" fmla="*/ 801986 w 1086213"/>
                  <a:gd name="connsiteY4" fmla="*/ 1565074 h 1922443"/>
                  <a:gd name="connsiteX5" fmla="*/ 1086213 w 1086213"/>
                  <a:gd name="connsiteY5" fmla="*/ 1689582 h 1922443"/>
                  <a:gd name="connsiteX6" fmla="*/ 613663 w 1086213"/>
                  <a:gd name="connsiteY6" fmla="*/ 1922443 h 1922443"/>
                  <a:gd name="connsiteX7" fmla="*/ 0 w 1086213"/>
                  <a:gd name="connsiteY7" fmla="*/ 1059885 h 1922443"/>
                  <a:gd name="connsiteX0" fmla="*/ 0 w 1036219"/>
                  <a:gd name="connsiteY0" fmla="*/ 1145511 h 1922443"/>
                  <a:gd name="connsiteX1" fmla="*/ 262837 w 1036219"/>
                  <a:gd name="connsiteY1" fmla="*/ 1320781 h 1922443"/>
                  <a:gd name="connsiteX2" fmla="*/ 262837 w 1036219"/>
                  <a:gd name="connsiteY2" fmla="*/ 0 h 1922443"/>
                  <a:gd name="connsiteX3" fmla="*/ 767183 w 1036219"/>
                  <a:gd name="connsiteY3" fmla="*/ 554354 h 1922443"/>
                  <a:gd name="connsiteX4" fmla="*/ 751992 w 1036219"/>
                  <a:gd name="connsiteY4" fmla="*/ 1565074 h 1922443"/>
                  <a:gd name="connsiteX5" fmla="*/ 1036219 w 1036219"/>
                  <a:gd name="connsiteY5" fmla="*/ 1689582 h 1922443"/>
                  <a:gd name="connsiteX6" fmla="*/ 563669 w 1036219"/>
                  <a:gd name="connsiteY6" fmla="*/ 1922443 h 1922443"/>
                  <a:gd name="connsiteX7" fmla="*/ 0 w 1036219"/>
                  <a:gd name="connsiteY7" fmla="*/ 1145511 h 1922443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7183 w 1036219"/>
                  <a:gd name="connsiteY3" fmla="*/ 554354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1648 w 1036219"/>
                  <a:gd name="connsiteY1" fmla="*/ 1092057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963920"/>
                  <a:gd name="connsiteY0" fmla="*/ 891527 h 1916121"/>
                  <a:gd name="connsiteX1" fmla="*/ 189349 w 963920"/>
                  <a:gd name="connsiteY1" fmla="*/ 1092057 h 1916121"/>
                  <a:gd name="connsiteX2" fmla="*/ 190538 w 963920"/>
                  <a:gd name="connsiteY2" fmla="*/ 0 h 1916121"/>
                  <a:gd name="connsiteX3" fmla="*/ 692363 w 963920"/>
                  <a:gd name="connsiteY3" fmla="*/ 537443 h 1916121"/>
                  <a:gd name="connsiteX4" fmla="*/ 705442 w 963920"/>
                  <a:gd name="connsiteY4" fmla="*/ 1488274 h 1916121"/>
                  <a:gd name="connsiteX5" fmla="*/ 963920 w 963920"/>
                  <a:gd name="connsiteY5" fmla="*/ 1689582 h 1916121"/>
                  <a:gd name="connsiteX6" fmla="*/ 436649 w 963920"/>
                  <a:gd name="connsiteY6" fmla="*/ 1916121 h 1916121"/>
                  <a:gd name="connsiteX7" fmla="*/ 0 w 963920"/>
                  <a:gd name="connsiteY7" fmla="*/ 891527 h 1916121"/>
                  <a:gd name="connsiteX0" fmla="*/ 0 w 1014398"/>
                  <a:gd name="connsiteY0" fmla="*/ 850410 h 1916121"/>
                  <a:gd name="connsiteX1" fmla="*/ 239827 w 1014398"/>
                  <a:gd name="connsiteY1" fmla="*/ 109205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72393 w 1014398"/>
                  <a:gd name="connsiteY4" fmla="*/ 1531599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742841 w 1020448"/>
                  <a:gd name="connsiteY3" fmla="*/ 537443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676718 w 1020448"/>
                  <a:gd name="connsiteY3" fmla="*/ 692215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772393 w 1020448"/>
                  <a:gd name="connsiteY4" fmla="*/ 1520905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676294 w 1020448"/>
                  <a:gd name="connsiteY4" fmla="*/ 1750256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854265"/>
                  <a:gd name="connsiteY0" fmla="*/ 839716 h 2034123"/>
                  <a:gd name="connsiteX1" fmla="*/ 232142 w 854265"/>
                  <a:gd name="connsiteY1" fmla="*/ 1068203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76294 w 854265"/>
                  <a:gd name="connsiteY4" fmla="*/ 175025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4265"/>
                  <a:gd name="connsiteY0" fmla="*/ 839716 h 2034121"/>
                  <a:gd name="connsiteX1" fmla="*/ 232142 w 854265"/>
                  <a:gd name="connsiteY1" fmla="*/ 1068203 h 2034121"/>
                  <a:gd name="connsiteX2" fmla="*/ 233991 w 854265"/>
                  <a:gd name="connsiteY2" fmla="*/ 0 h 2034121"/>
                  <a:gd name="connsiteX3" fmla="*/ 676718 w 854265"/>
                  <a:gd name="connsiteY3" fmla="*/ 681521 h 2034121"/>
                  <a:gd name="connsiteX4" fmla="*/ 683843 w 854265"/>
                  <a:gd name="connsiteY4" fmla="*/ 1777776 h 2034121"/>
                  <a:gd name="connsiteX5" fmla="*/ 854265 w 854265"/>
                  <a:gd name="connsiteY5" fmla="*/ 2034122 h 2034121"/>
                  <a:gd name="connsiteX6" fmla="*/ 487127 w 854265"/>
                  <a:gd name="connsiteY6" fmla="*/ 1905427 h 2034121"/>
                  <a:gd name="connsiteX7" fmla="*/ 0 w 854265"/>
                  <a:gd name="connsiteY7" fmla="*/ 839716 h 2034121"/>
                  <a:gd name="connsiteX0" fmla="*/ 0 w 854265"/>
                  <a:gd name="connsiteY0" fmla="*/ 839716 h 2034123"/>
                  <a:gd name="connsiteX1" fmla="*/ 213469 w 854265"/>
                  <a:gd name="connsiteY1" fmla="*/ 1106698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83843 w 854265"/>
                  <a:gd name="connsiteY4" fmla="*/ 177777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0842"/>
                  <a:gd name="connsiteY0" fmla="*/ 819405 h 2034121"/>
                  <a:gd name="connsiteX1" fmla="*/ 210046 w 850842"/>
                  <a:gd name="connsiteY1" fmla="*/ 1106698 h 2034121"/>
                  <a:gd name="connsiteX2" fmla="*/ 230568 w 850842"/>
                  <a:gd name="connsiteY2" fmla="*/ 0 h 2034121"/>
                  <a:gd name="connsiteX3" fmla="*/ 673295 w 850842"/>
                  <a:gd name="connsiteY3" fmla="*/ 681521 h 2034121"/>
                  <a:gd name="connsiteX4" fmla="*/ 680420 w 850842"/>
                  <a:gd name="connsiteY4" fmla="*/ 1777776 h 2034121"/>
                  <a:gd name="connsiteX5" fmla="*/ 850842 w 850842"/>
                  <a:gd name="connsiteY5" fmla="*/ 2034122 h 2034121"/>
                  <a:gd name="connsiteX6" fmla="*/ 483704 w 850842"/>
                  <a:gd name="connsiteY6" fmla="*/ 1905427 h 2034121"/>
                  <a:gd name="connsiteX7" fmla="*/ 0 w 850842"/>
                  <a:gd name="connsiteY7" fmla="*/ 819405 h 2034121"/>
                  <a:gd name="connsiteX0" fmla="*/ 0 w 850842"/>
                  <a:gd name="connsiteY0" fmla="*/ 819405 h 2034123"/>
                  <a:gd name="connsiteX1" fmla="*/ 210046 w 850842"/>
                  <a:gd name="connsiteY1" fmla="*/ 1106698 h 2034123"/>
                  <a:gd name="connsiteX2" fmla="*/ 230568 w 850842"/>
                  <a:gd name="connsiteY2" fmla="*/ 0 h 2034123"/>
                  <a:gd name="connsiteX3" fmla="*/ 673295 w 850842"/>
                  <a:gd name="connsiteY3" fmla="*/ 681521 h 2034123"/>
                  <a:gd name="connsiteX4" fmla="*/ 680420 w 850842"/>
                  <a:gd name="connsiteY4" fmla="*/ 1777776 h 2034123"/>
                  <a:gd name="connsiteX5" fmla="*/ 850842 w 850842"/>
                  <a:gd name="connsiteY5" fmla="*/ 2034122 h 2034123"/>
                  <a:gd name="connsiteX6" fmla="*/ 455963 w 850842"/>
                  <a:gd name="connsiteY6" fmla="*/ 2008062 h 2034123"/>
                  <a:gd name="connsiteX7" fmla="*/ 0 w 850842"/>
                  <a:gd name="connsiteY7" fmla="*/ 819405 h 203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50842" h="2034123">
                    <a:moveTo>
                      <a:pt x="0" y="819405"/>
                    </a:moveTo>
                    <a:lnTo>
                      <a:pt x="210046" y="1106698"/>
                    </a:lnTo>
                    <a:cubicBezTo>
                      <a:pt x="210442" y="742679"/>
                      <a:pt x="230172" y="364019"/>
                      <a:pt x="230568" y="0"/>
                    </a:cubicBezTo>
                    <a:lnTo>
                      <a:pt x="673295" y="681521"/>
                    </a:lnTo>
                    <a:cubicBezTo>
                      <a:pt x="673154" y="1037766"/>
                      <a:pt x="680561" y="1421531"/>
                      <a:pt x="680420" y="1777776"/>
                    </a:cubicBezTo>
                    <a:lnTo>
                      <a:pt x="850842" y="2034122"/>
                    </a:lnTo>
                    <a:lnTo>
                      <a:pt x="455963" y="2008062"/>
                    </a:lnTo>
                    <a:lnTo>
                      <a:pt x="0" y="81940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5" name="Flecha: hacia abajo 1">
                <a:extLst>
                  <a:ext uri="{FF2B5EF4-FFF2-40B4-BE49-F238E27FC236}">
                    <a16:creationId xmlns:a16="http://schemas.microsoft.com/office/drawing/2014/main" id="{F471DD0A-AA25-B25E-3EC2-BA2A540FFF13}"/>
                  </a:ext>
                </a:extLst>
              </p:cNvPr>
              <p:cNvSpPr/>
              <p:nvPr/>
            </p:nvSpPr>
            <p:spPr>
              <a:xfrm rot="18016772">
                <a:off x="8650526" y="4658224"/>
                <a:ext cx="936230" cy="1307264"/>
              </a:xfrm>
              <a:custGeom>
                <a:avLst/>
                <a:gdLst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902494 w 1203325"/>
                  <a:gd name="connsiteY3" fmla="*/ 0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805177 w 1203325"/>
                  <a:gd name="connsiteY3" fmla="*/ 554354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16922"/>
                  <a:gd name="connsiteY0" fmla="*/ 1320781 h 1922443"/>
                  <a:gd name="connsiteX1" fmla="*/ 300831 w 1216922"/>
                  <a:gd name="connsiteY1" fmla="*/ 1320781 h 1922443"/>
                  <a:gd name="connsiteX2" fmla="*/ 300831 w 1216922"/>
                  <a:gd name="connsiteY2" fmla="*/ 0 h 1922443"/>
                  <a:gd name="connsiteX3" fmla="*/ 805177 w 1216922"/>
                  <a:gd name="connsiteY3" fmla="*/ 554354 h 1922443"/>
                  <a:gd name="connsiteX4" fmla="*/ 902494 w 1216922"/>
                  <a:gd name="connsiteY4" fmla="*/ 1320781 h 1922443"/>
                  <a:gd name="connsiteX5" fmla="*/ 1216922 w 1216922"/>
                  <a:gd name="connsiteY5" fmla="*/ 1606259 h 1922443"/>
                  <a:gd name="connsiteX6" fmla="*/ 601663 w 1216922"/>
                  <a:gd name="connsiteY6" fmla="*/ 1922443 h 1922443"/>
                  <a:gd name="connsiteX7" fmla="*/ 0 w 1216922"/>
                  <a:gd name="connsiteY7" fmla="*/ 1320781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914494 w 1228922"/>
                  <a:gd name="connsiteY4" fmla="*/ 1320781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801986 w 1228922"/>
                  <a:gd name="connsiteY4" fmla="*/ 1565074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086213"/>
                  <a:gd name="connsiteY0" fmla="*/ 1059885 h 1922443"/>
                  <a:gd name="connsiteX1" fmla="*/ 312831 w 1086213"/>
                  <a:gd name="connsiteY1" fmla="*/ 1320781 h 1922443"/>
                  <a:gd name="connsiteX2" fmla="*/ 312831 w 1086213"/>
                  <a:gd name="connsiteY2" fmla="*/ 0 h 1922443"/>
                  <a:gd name="connsiteX3" fmla="*/ 817177 w 1086213"/>
                  <a:gd name="connsiteY3" fmla="*/ 554354 h 1922443"/>
                  <a:gd name="connsiteX4" fmla="*/ 801986 w 1086213"/>
                  <a:gd name="connsiteY4" fmla="*/ 1565074 h 1922443"/>
                  <a:gd name="connsiteX5" fmla="*/ 1086213 w 1086213"/>
                  <a:gd name="connsiteY5" fmla="*/ 1689582 h 1922443"/>
                  <a:gd name="connsiteX6" fmla="*/ 613663 w 1086213"/>
                  <a:gd name="connsiteY6" fmla="*/ 1922443 h 1922443"/>
                  <a:gd name="connsiteX7" fmla="*/ 0 w 1086213"/>
                  <a:gd name="connsiteY7" fmla="*/ 1059885 h 1922443"/>
                  <a:gd name="connsiteX0" fmla="*/ 0 w 1036219"/>
                  <a:gd name="connsiteY0" fmla="*/ 1145511 h 1922443"/>
                  <a:gd name="connsiteX1" fmla="*/ 262837 w 1036219"/>
                  <a:gd name="connsiteY1" fmla="*/ 1320781 h 1922443"/>
                  <a:gd name="connsiteX2" fmla="*/ 262837 w 1036219"/>
                  <a:gd name="connsiteY2" fmla="*/ 0 h 1922443"/>
                  <a:gd name="connsiteX3" fmla="*/ 767183 w 1036219"/>
                  <a:gd name="connsiteY3" fmla="*/ 554354 h 1922443"/>
                  <a:gd name="connsiteX4" fmla="*/ 751992 w 1036219"/>
                  <a:gd name="connsiteY4" fmla="*/ 1565074 h 1922443"/>
                  <a:gd name="connsiteX5" fmla="*/ 1036219 w 1036219"/>
                  <a:gd name="connsiteY5" fmla="*/ 1689582 h 1922443"/>
                  <a:gd name="connsiteX6" fmla="*/ 563669 w 1036219"/>
                  <a:gd name="connsiteY6" fmla="*/ 1922443 h 1922443"/>
                  <a:gd name="connsiteX7" fmla="*/ 0 w 1036219"/>
                  <a:gd name="connsiteY7" fmla="*/ 1145511 h 1922443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7183 w 1036219"/>
                  <a:gd name="connsiteY3" fmla="*/ 554354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1648 w 1036219"/>
                  <a:gd name="connsiteY1" fmla="*/ 1092057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963920"/>
                  <a:gd name="connsiteY0" fmla="*/ 891527 h 1916121"/>
                  <a:gd name="connsiteX1" fmla="*/ 189349 w 963920"/>
                  <a:gd name="connsiteY1" fmla="*/ 1092057 h 1916121"/>
                  <a:gd name="connsiteX2" fmla="*/ 190538 w 963920"/>
                  <a:gd name="connsiteY2" fmla="*/ 0 h 1916121"/>
                  <a:gd name="connsiteX3" fmla="*/ 692363 w 963920"/>
                  <a:gd name="connsiteY3" fmla="*/ 537443 h 1916121"/>
                  <a:gd name="connsiteX4" fmla="*/ 705442 w 963920"/>
                  <a:gd name="connsiteY4" fmla="*/ 1488274 h 1916121"/>
                  <a:gd name="connsiteX5" fmla="*/ 963920 w 963920"/>
                  <a:gd name="connsiteY5" fmla="*/ 1689582 h 1916121"/>
                  <a:gd name="connsiteX6" fmla="*/ 436649 w 963920"/>
                  <a:gd name="connsiteY6" fmla="*/ 1916121 h 1916121"/>
                  <a:gd name="connsiteX7" fmla="*/ 0 w 963920"/>
                  <a:gd name="connsiteY7" fmla="*/ 891527 h 1916121"/>
                  <a:gd name="connsiteX0" fmla="*/ 0 w 1014398"/>
                  <a:gd name="connsiteY0" fmla="*/ 850410 h 1916121"/>
                  <a:gd name="connsiteX1" fmla="*/ 239827 w 1014398"/>
                  <a:gd name="connsiteY1" fmla="*/ 109205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72393 w 1014398"/>
                  <a:gd name="connsiteY4" fmla="*/ 1531599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742841 w 1020448"/>
                  <a:gd name="connsiteY3" fmla="*/ 537443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676718 w 1020448"/>
                  <a:gd name="connsiteY3" fmla="*/ 692215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772393 w 1020448"/>
                  <a:gd name="connsiteY4" fmla="*/ 1520905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676294 w 1020448"/>
                  <a:gd name="connsiteY4" fmla="*/ 1750256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854265"/>
                  <a:gd name="connsiteY0" fmla="*/ 839716 h 2034123"/>
                  <a:gd name="connsiteX1" fmla="*/ 232142 w 854265"/>
                  <a:gd name="connsiteY1" fmla="*/ 1068203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76294 w 854265"/>
                  <a:gd name="connsiteY4" fmla="*/ 175025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4265"/>
                  <a:gd name="connsiteY0" fmla="*/ 839716 h 2034121"/>
                  <a:gd name="connsiteX1" fmla="*/ 232142 w 854265"/>
                  <a:gd name="connsiteY1" fmla="*/ 1068203 h 2034121"/>
                  <a:gd name="connsiteX2" fmla="*/ 233991 w 854265"/>
                  <a:gd name="connsiteY2" fmla="*/ 0 h 2034121"/>
                  <a:gd name="connsiteX3" fmla="*/ 676718 w 854265"/>
                  <a:gd name="connsiteY3" fmla="*/ 681521 h 2034121"/>
                  <a:gd name="connsiteX4" fmla="*/ 683843 w 854265"/>
                  <a:gd name="connsiteY4" fmla="*/ 1777776 h 2034121"/>
                  <a:gd name="connsiteX5" fmla="*/ 854265 w 854265"/>
                  <a:gd name="connsiteY5" fmla="*/ 2034122 h 2034121"/>
                  <a:gd name="connsiteX6" fmla="*/ 487127 w 854265"/>
                  <a:gd name="connsiteY6" fmla="*/ 1905427 h 2034121"/>
                  <a:gd name="connsiteX7" fmla="*/ 0 w 854265"/>
                  <a:gd name="connsiteY7" fmla="*/ 839716 h 2034121"/>
                  <a:gd name="connsiteX0" fmla="*/ 0 w 854265"/>
                  <a:gd name="connsiteY0" fmla="*/ 839716 h 2034123"/>
                  <a:gd name="connsiteX1" fmla="*/ 213469 w 854265"/>
                  <a:gd name="connsiteY1" fmla="*/ 1106698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83843 w 854265"/>
                  <a:gd name="connsiteY4" fmla="*/ 177777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0842"/>
                  <a:gd name="connsiteY0" fmla="*/ 819405 h 2034121"/>
                  <a:gd name="connsiteX1" fmla="*/ 210046 w 850842"/>
                  <a:gd name="connsiteY1" fmla="*/ 1106698 h 2034121"/>
                  <a:gd name="connsiteX2" fmla="*/ 230568 w 850842"/>
                  <a:gd name="connsiteY2" fmla="*/ 0 h 2034121"/>
                  <a:gd name="connsiteX3" fmla="*/ 673295 w 850842"/>
                  <a:gd name="connsiteY3" fmla="*/ 681521 h 2034121"/>
                  <a:gd name="connsiteX4" fmla="*/ 680420 w 850842"/>
                  <a:gd name="connsiteY4" fmla="*/ 1777776 h 2034121"/>
                  <a:gd name="connsiteX5" fmla="*/ 850842 w 850842"/>
                  <a:gd name="connsiteY5" fmla="*/ 2034122 h 2034121"/>
                  <a:gd name="connsiteX6" fmla="*/ 483704 w 850842"/>
                  <a:gd name="connsiteY6" fmla="*/ 1905427 h 2034121"/>
                  <a:gd name="connsiteX7" fmla="*/ 0 w 850842"/>
                  <a:gd name="connsiteY7" fmla="*/ 819405 h 2034121"/>
                  <a:gd name="connsiteX0" fmla="*/ 0 w 850842"/>
                  <a:gd name="connsiteY0" fmla="*/ 819405 h 2034123"/>
                  <a:gd name="connsiteX1" fmla="*/ 210046 w 850842"/>
                  <a:gd name="connsiteY1" fmla="*/ 1106698 h 2034123"/>
                  <a:gd name="connsiteX2" fmla="*/ 230568 w 850842"/>
                  <a:gd name="connsiteY2" fmla="*/ 0 h 2034123"/>
                  <a:gd name="connsiteX3" fmla="*/ 673295 w 850842"/>
                  <a:gd name="connsiteY3" fmla="*/ 681521 h 2034123"/>
                  <a:gd name="connsiteX4" fmla="*/ 680420 w 850842"/>
                  <a:gd name="connsiteY4" fmla="*/ 1777776 h 2034123"/>
                  <a:gd name="connsiteX5" fmla="*/ 850842 w 850842"/>
                  <a:gd name="connsiteY5" fmla="*/ 2034122 h 2034123"/>
                  <a:gd name="connsiteX6" fmla="*/ 455963 w 850842"/>
                  <a:gd name="connsiteY6" fmla="*/ 2008062 h 2034123"/>
                  <a:gd name="connsiteX7" fmla="*/ 0 w 850842"/>
                  <a:gd name="connsiteY7" fmla="*/ 819405 h 2034123"/>
                  <a:gd name="connsiteX0" fmla="*/ 0 w 850842"/>
                  <a:gd name="connsiteY0" fmla="*/ 819405 h 2034121"/>
                  <a:gd name="connsiteX1" fmla="*/ 350638 w 850842"/>
                  <a:gd name="connsiteY1" fmla="*/ 1253857 h 2034121"/>
                  <a:gd name="connsiteX2" fmla="*/ 230568 w 850842"/>
                  <a:gd name="connsiteY2" fmla="*/ 0 h 2034121"/>
                  <a:gd name="connsiteX3" fmla="*/ 673295 w 850842"/>
                  <a:gd name="connsiteY3" fmla="*/ 681521 h 2034121"/>
                  <a:gd name="connsiteX4" fmla="*/ 680420 w 850842"/>
                  <a:gd name="connsiteY4" fmla="*/ 1777776 h 2034121"/>
                  <a:gd name="connsiteX5" fmla="*/ 850842 w 850842"/>
                  <a:gd name="connsiteY5" fmla="*/ 2034122 h 2034121"/>
                  <a:gd name="connsiteX6" fmla="*/ 455963 w 850842"/>
                  <a:gd name="connsiteY6" fmla="*/ 2008062 h 2034121"/>
                  <a:gd name="connsiteX7" fmla="*/ 0 w 850842"/>
                  <a:gd name="connsiteY7" fmla="*/ 819405 h 2034121"/>
                  <a:gd name="connsiteX0" fmla="*/ 0 w 799155"/>
                  <a:gd name="connsiteY0" fmla="*/ 523003 h 2034123"/>
                  <a:gd name="connsiteX1" fmla="*/ 298951 w 799155"/>
                  <a:gd name="connsiteY1" fmla="*/ 1253857 h 2034123"/>
                  <a:gd name="connsiteX2" fmla="*/ 178881 w 799155"/>
                  <a:gd name="connsiteY2" fmla="*/ 0 h 2034123"/>
                  <a:gd name="connsiteX3" fmla="*/ 621608 w 799155"/>
                  <a:gd name="connsiteY3" fmla="*/ 681521 h 2034123"/>
                  <a:gd name="connsiteX4" fmla="*/ 628733 w 799155"/>
                  <a:gd name="connsiteY4" fmla="*/ 1777776 h 2034123"/>
                  <a:gd name="connsiteX5" fmla="*/ 799155 w 799155"/>
                  <a:gd name="connsiteY5" fmla="*/ 2034122 h 2034123"/>
                  <a:gd name="connsiteX6" fmla="*/ 404276 w 799155"/>
                  <a:gd name="connsiteY6" fmla="*/ 2008062 h 2034123"/>
                  <a:gd name="connsiteX7" fmla="*/ 0 w 799155"/>
                  <a:gd name="connsiteY7" fmla="*/ 523003 h 2034123"/>
                  <a:gd name="connsiteX0" fmla="*/ 0 w 799155"/>
                  <a:gd name="connsiteY0" fmla="*/ 523003 h 2034121"/>
                  <a:gd name="connsiteX1" fmla="*/ 268011 w 799155"/>
                  <a:gd name="connsiteY1" fmla="*/ 920899 h 2034121"/>
                  <a:gd name="connsiteX2" fmla="*/ 178881 w 799155"/>
                  <a:gd name="connsiteY2" fmla="*/ 0 h 2034121"/>
                  <a:gd name="connsiteX3" fmla="*/ 621608 w 799155"/>
                  <a:gd name="connsiteY3" fmla="*/ 681521 h 2034121"/>
                  <a:gd name="connsiteX4" fmla="*/ 628733 w 799155"/>
                  <a:gd name="connsiteY4" fmla="*/ 1777776 h 2034121"/>
                  <a:gd name="connsiteX5" fmla="*/ 799155 w 799155"/>
                  <a:gd name="connsiteY5" fmla="*/ 2034122 h 2034121"/>
                  <a:gd name="connsiteX6" fmla="*/ 404276 w 799155"/>
                  <a:gd name="connsiteY6" fmla="*/ 2008062 h 2034121"/>
                  <a:gd name="connsiteX7" fmla="*/ 0 w 799155"/>
                  <a:gd name="connsiteY7" fmla="*/ 523003 h 2034121"/>
                  <a:gd name="connsiteX0" fmla="*/ 0 w 799155"/>
                  <a:gd name="connsiteY0" fmla="*/ 523003 h 2034123"/>
                  <a:gd name="connsiteX1" fmla="*/ 263720 w 799155"/>
                  <a:gd name="connsiteY1" fmla="*/ 894712 h 2034123"/>
                  <a:gd name="connsiteX2" fmla="*/ 178881 w 799155"/>
                  <a:gd name="connsiteY2" fmla="*/ 0 h 2034123"/>
                  <a:gd name="connsiteX3" fmla="*/ 621608 w 799155"/>
                  <a:gd name="connsiteY3" fmla="*/ 681521 h 2034123"/>
                  <a:gd name="connsiteX4" fmla="*/ 628733 w 799155"/>
                  <a:gd name="connsiteY4" fmla="*/ 1777776 h 2034123"/>
                  <a:gd name="connsiteX5" fmla="*/ 799155 w 799155"/>
                  <a:gd name="connsiteY5" fmla="*/ 2034122 h 2034123"/>
                  <a:gd name="connsiteX6" fmla="*/ 404276 w 799155"/>
                  <a:gd name="connsiteY6" fmla="*/ 2008062 h 2034123"/>
                  <a:gd name="connsiteX7" fmla="*/ 0 w 799155"/>
                  <a:gd name="connsiteY7" fmla="*/ 523003 h 2034123"/>
                  <a:gd name="connsiteX0" fmla="*/ 0 w 799155"/>
                  <a:gd name="connsiteY0" fmla="*/ 523003 h 2034121"/>
                  <a:gd name="connsiteX1" fmla="*/ 263720 w 799155"/>
                  <a:gd name="connsiteY1" fmla="*/ 894712 h 2034121"/>
                  <a:gd name="connsiteX2" fmla="*/ 178881 w 799155"/>
                  <a:gd name="connsiteY2" fmla="*/ 0 h 2034121"/>
                  <a:gd name="connsiteX3" fmla="*/ 621608 w 799155"/>
                  <a:gd name="connsiteY3" fmla="*/ 681521 h 2034121"/>
                  <a:gd name="connsiteX4" fmla="*/ 628733 w 799155"/>
                  <a:gd name="connsiteY4" fmla="*/ 1777776 h 2034121"/>
                  <a:gd name="connsiteX5" fmla="*/ 799155 w 799155"/>
                  <a:gd name="connsiteY5" fmla="*/ 2034122 h 2034121"/>
                  <a:gd name="connsiteX6" fmla="*/ 404276 w 799155"/>
                  <a:gd name="connsiteY6" fmla="*/ 2008062 h 2034121"/>
                  <a:gd name="connsiteX7" fmla="*/ 0 w 799155"/>
                  <a:gd name="connsiteY7" fmla="*/ 523003 h 2034121"/>
                  <a:gd name="connsiteX0" fmla="*/ 0 w 799155"/>
                  <a:gd name="connsiteY0" fmla="*/ 523003 h 2034123"/>
                  <a:gd name="connsiteX1" fmla="*/ 263720 w 799155"/>
                  <a:gd name="connsiteY1" fmla="*/ 894712 h 2034123"/>
                  <a:gd name="connsiteX2" fmla="*/ 178881 w 799155"/>
                  <a:gd name="connsiteY2" fmla="*/ 0 h 2034123"/>
                  <a:gd name="connsiteX3" fmla="*/ 621608 w 799155"/>
                  <a:gd name="connsiteY3" fmla="*/ 681521 h 2034123"/>
                  <a:gd name="connsiteX4" fmla="*/ 628733 w 799155"/>
                  <a:gd name="connsiteY4" fmla="*/ 1777776 h 2034123"/>
                  <a:gd name="connsiteX5" fmla="*/ 799155 w 799155"/>
                  <a:gd name="connsiteY5" fmla="*/ 2034122 h 2034123"/>
                  <a:gd name="connsiteX6" fmla="*/ 404276 w 799155"/>
                  <a:gd name="connsiteY6" fmla="*/ 2008062 h 2034123"/>
                  <a:gd name="connsiteX7" fmla="*/ 0 w 799155"/>
                  <a:gd name="connsiteY7" fmla="*/ 523003 h 2034123"/>
                  <a:gd name="connsiteX0" fmla="*/ 0 w 799155"/>
                  <a:gd name="connsiteY0" fmla="*/ 523003 h 2034121"/>
                  <a:gd name="connsiteX1" fmla="*/ 263720 w 799155"/>
                  <a:gd name="connsiteY1" fmla="*/ 894712 h 2034121"/>
                  <a:gd name="connsiteX2" fmla="*/ 178881 w 799155"/>
                  <a:gd name="connsiteY2" fmla="*/ 0 h 2034121"/>
                  <a:gd name="connsiteX3" fmla="*/ 621608 w 799155"/>
                  <a:gd name="connsiteY3" fmla="*/ 681521 h 2034121"/>
                  <a:gd name="connsiteX4" fmla="*/ 628733 w 799155"/>
                  <a:gd name="connsiteY4" fmla="*/ 1777776 h 2034121"/>
                  <a:gd name="connsiteX5" fmla="*/ 799155 w 799155"/>
                  <a:gd name="connsiteY5" fmla="*/ 2034122 h 2034121"/>
                  <a:gd name="connsiteX6" fmla="*/ 404276 w 799155"/>
                  <a:gd name="connsiteY6" fmla="*/ 2008062 h 2034121"/>
                  <a:gd name="connsiteX7" fmla="*/ 0 w 799155"/>
                  <a:gd name="connsiteY7" fmla="*/ 523003 h 2034121"/>
                  <a:gd name="connsiteX0" fmla="*/ 0 w 799155"/>
                  <a:gd name="connsiteY0" fmla="*/ 523003 h 2034123"/>
                  <a:gd name="connsiteX1" fmla="*/ 263720 w 799155"/>
                  <a:gd name="connsiteY1" fmla="*/ 894712 h 2034123"/>
                  <a:gd name="connsiteX2" fmla="*/ 178881 w 799155"/>
                  <a:gd name="connsiteY2" fmla="*/ 0 h 2034123"/>
                  <a:gd name="connsiteX3" fmla="*/ 621608 w 799155"/>
                  <a:gd name="connsiteY3" fmla="*/ 681521 h 2034123"/>
                  <a:gd name="connsiteX4" fmla="*/ 729290 w 799155"/>
                  <a:gd name="connsiteY4" fmla="*/ 1552966 h 2034123"/>
                  <a:gd name="connsiteX5" fmla="*/ 799155 w 799155"/>
                  <a:gd name="connsiteY5" fmla="*/ 2034122 h 2034123"/>
                  <a:gd name="connsiteX6" fmla="*/ 404276 w 799155"/>
                  <a:gd name="connsiteY6" fmla="*/ 2008062 h 2034123"/>
                  <a:gd name="connsiteX7" fmla="*/ 0 w 799155"/>
                  <a:gd name="connsiteY7" fmla="*/ 523003 h 2034123"/>
                  <a:gd name="connsiteX0" fmla="*/ 0 w 935719"/>
                  <a:gd name="connsiteY0" fmla="*/ 523003 h 2008063"/>
                  <a:gd name="connsiteX1" fmla="*/ 263720 w 935719"/>
                  <a:gd name="connsiteY1" fmla="*/ 894712 h 2008063"/>
                  <a:gd name="connsiteX2" fmla="*/ 178881 w 935719"/>
                  <a:gd name="connsiteY2" fmla="*/ 0 h 2008063"/>
                  <a:gd name="connsiteX3" fmla="*/ 621608 w 935719"/>
                  <a:gd name="connsiteY3" fmla="*/ 681521 h 2008063"/>
                  <a:gd name="connsiteX4" fmla="*/ 729290 w 935719"/>
                  <a:gd name="connsiteY4" fmla="*/ 1552966 h 2008063"/>
                  <a:gd name="connsiteX5" fmla="*/ 935719 w 935719"/>
                  <a:gd name="connsiteY5" fmla="*/ 1853918 h 2008063"/>
                  <a:gd name="connsiteX6" fmla="*/ 404276 w 935719"/>
                  <a:gd name="connsiteY6" fmla="*/ 2008062 h 2008063"/>
                  <a:gd name="connsiteX7" fmla="*/ 0 w 935719"/>
                  <a:gd name="connsiteY7" fmla="*/ 523003 h 2008063"/>
                  <a:gd name="connsiteX0" fmla="*/ 0 w 935719"/>
                  <a:gd name="connsiteY0" fmla="*/ 523003 h 2008061"/>
                  <a:gd name="connsiteX1" fmla="*/ 263720 w 935719"/>
                  <a:gd name="connsiteY1" fmla="*/ 894712 h 2008061"/>
                  <a:gd name="connsiteX2" fmla="*/ 178881 w 935719"/>
                  <a:gd name="connsiteY2" fmla="*/ 0 h 2008061"/>
                  <a:gd name="connsiteX3" fmla="*/ 621608 w 935719"/>
                  <a:gd name="connsiteY3" fmla="*/ 681521 h 2008061"/>
                  <a:gd name="connsiteX4" fmla="*/ 729290 w 935719"/>
                  <a:gd name="connsiteY4" fmla="*/ 1552966 h 2008061"/>
                  <a:gd name="connsiteX5" fmla="*/ 935719 w 935719"/>
                  <a:gd name="connsiteY5" fmla="*/ 1853918 h 2008061"/>
                  <a:gd name="connsiteX6" fmla="*/ 404276 w 935719"/>
                  <a:gd name="connsiteY6" fmla="*/ 2008062 h 2008061"/>
                  <a:gd name="connsiteX7" fmla="*/ 0 w 935719"/>
                  <a:gd name="connsiteY7" fmla="*/ 523003 h 2008061"/>
                  <a:gd name="connsiteX0" fmla="*/ 0 w 935719"/>
                  <a:gd name="connsiteY0" fmla="*/ 523003 h 2008063"/>
                  <a:gd name="connsiteX1" fmla="*/ 263720 w 935719"/>
                  <a:gd name="connsiteY1" fmla="*/ 894712 h 2008063"/>
                  <a:gd name="connsiteX2" fmla="*/ 178881 w 935719"/>
                  <a:gd name="connsiteY2" fmla="*/ 0 h 2008063"/>
                  <a:gd name="connsiteX3" fmla="*/ 621608 w 935719"/>
                  <a:gd name="connsiteY3" fmla="*/ 681521 h 2008063"/>
                  <a:gd name="connsiteX4" fmla="*/ 729290 w 935719"/>
                  <a:gd name="connsiteY4" fmla="*/ 1552966 h 2008063"/>
                  <a:gd name="connsiteX5" fmla="*/ 935719 w 935719"/>
                  <a:gd name="connsiteY5" fmla="*/ 1853918 h 2008063"/>
                  <a:gd name="connsiteX6" fmla="*/ 404276 w 935719"/>
                  <a:gd name="connsiteY6" fmla="*/ 2008062 h 2008063"/>
                  <a:gd name="connsiteX7" fmla="*/ 0 w 935719"/>
                  <a:gd name="connsiteY7" fmla="*/ 523003 h 2008063"/>
                  <a:gd name="connsiteX0" fmla="*/ 0 w 935719"/>
                  <a:gd name="connsiteY0" fmla="*/ 523003 h 2008061"/>
                  <a:gd name="connsiteX1" fmla="*/ 263720 w 935719"/>
                  <a:gd name="connsiteY1" fmla="*/ 894712 h 2008061"/>
                  <a:gd name="connsiteX2" fmla="*/ 178881 w 935719"/>
                  <a:gd name="connsiteY2" fmla="*/ 0 h 2008061"/>
                  <a:gd name="connsiteX3" fmla="*/ 621608 w 935719"/>
                  <a:gd name="connsiteY3" fmla="*/ 681521 h 2008061"/>
                  <a:gd name="connsiteX4" fmla="*/ 729290 w 935719"/>
                  <a:gd name="connsiteY4" fmla="*/ 1552966 h 2008061"/>
                  <a:gd name="connsiteX5" fmla="*/ 935719 w 935719"/>
                  <a:gd name="connsiteY5" fmla="*/ 1853918 h 2008061"/>
                  <a:gd name="connsiteX6" fmla="*/ 404276 w 935719"/>
                  <a:gd name="connsiteY6" fmla="*/ 2008062 h 2008061"/>
                  <a:gd name="connsiteX7" fmla="*/ 0 w 935719"/>
                  <a:gd name="connsiteY7" fmla="*/ 523003 h 2008061"/>
                  <a:gd name="connsiteX0" fmla="*/ 0 w 935719"/>
                  <a:gd name="connsiteY0" fmla="*/ 523003 h 2038148"/>
                  <a:gd name="connsiteX1" fmla="*/ 263720 w 935719"/>
                  <a:gd name="connsiteY1" fmla="*/ 894712 h 2038148"/>
                  <a:gd name="connsiteX2" fmla="*/ 178881 w 935719"/>
                  <a:gd name="connsiteY2" fmla="*/ 0 h 2038148"/>
                  <a:gd name="connsiteX3" fmla="*/ 621608 w 935719"/>
                  <a:gd name="connsiteY3" fmla="*/ 681521 h 2038148"/>
                  <a:gd name="connsiteX4" fmla="*/ 729290 w 935719"/>
                  <a:gd name="connsiteY4" fmla="*/ 1552966 h 2038148"/>
                  <a:gd name="connsiteX5" fmla="*/ 935719 w 935719"/>
                  <a:gd name="connsiteY5" fmla="*/ 1853918 h 2038148"/>
                  <a:gd name="connsiteX6" fmla="*/ 583747 w 935719"/>
                  <a:gd name="connsiteY6" fmla="*/ 2038149 h 2038148"/>
                  <a:gd name="connsiteX7" fmla="*/ 0 w 935719"/>
                  <a:gd name="connsiteY7" fmla="*/ 523003 h 2038148"/>
                  <a:gd name="connsiteX0" fmla="*/ 0 w 936230"/>
                  <a:gd name="connsiteY0" fmla="*/ 523003 h 2038150"/>
                  <a:gd name="connsiteX1" fmla="*/ 263720 w 936230"/>
                  <a:gd name="connsiteY1" fmla="*/ 894712 h 2038150"/>
                  <a:gd name="connsiteX2" fmla="*/ 178881 w 936230"/>
                  <a:gd name="connsiteY2" fmla="*/ 0 h 2038150"/>
                  <a:gd name="connsiteX3" fmla="*/ 621608 w 936230"/>
                  <a:gd name="connsiteY3" fmla="*/ 681521 h 2038150"/>
                  <a:gd name="connsiteX4" fmla="*/ 729290 w 936230"/>
                  <a:gd name="connsiteY4" fmla="*/ 1552966 h 2038150"/>
                  <a:gd name="connsiteX5" fmla="*/ 936230 w 936230"/>
                  <a:gd name="connsiteY5" fmla="*/ 1840554 h 2038150"/>
                  <a:gd name="connsiteX6" fmla="*/ 583747 w 936230"/>
                  <a:gd name="connsiteY6" fmla="*/ 2038149 h 2038150"/>
                  <a:gd name="connsiteX7" fmla="*/ 0 w 936230"/>
                  <a:gd name="connsiteY7" fmla="*/ 523003 h 20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6230" h="2038150">
                    <a:moveTo>
                      <a:pt x="0" y="523003"/>
                    </a:moveTo>
                    <a:lnTo>
                      <a:pt x="263720" y="894712"/>
                    </a:lnTo>
                    <a:cubicBezTo>
                      <a:pt x="227584" y="447871"/>
                      <a:pt x="202996" y="363202"/>
                      <a:pt x="178881" y="0"/>
                    </a:cubicBezTo>
                    <a:lnTo>
                      <a:pt x="621608" y="681521"/>
                    </a:lnTo>
                    <a:cubicBezTo>
                      <a:pt x="666886" y="1026514"/>
                      <a:pt x="677663" y="1183659"/>
                      <a:pt x="729290" y="1552966"/>
                    </a:cubicBezTo>
                    <a:lnTo>
                      <a:pt x="936230" y="1840554"/>
                    </a:lnTo>
                    <a:lnTo>
                      <a:pt x="583747" y="2038149"/>
                    </a:lnTo>
                    <a:lnTo>
                      <a:pt x="0" y="523003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  <p:sp>
            <p:nvSpPr>
              <p:cNvPr id="16" name="Flecha: hacia abajo 1">
                <a:extLst>
                  <a:ext uri="{FF2B5EF4-FFF2-40B4-BE49-F238E27FC236}">
                    <a16:creationId xmlns:a16="http://schemas.microsoft.com/office/drawing/2014/main" id="{575A89D1-6E93-D7EC-8CCF-FD36CD7BB721}"/>
                  </a:ext>
                </a:extLst>
              </p:cNvPr>
              <p:cNvSpPr/>
              <p:nvPr/>
            </p:nvSpPr>
            <p:spPr>
              <a:xfrm rot="18016772">
                <a:off x="11060761" y="3996182"/>
                <a:ext cx="762980" cy="1367863"/>
              </a:xfrm>
              <a:custGeom>
                <a:avLst/>
                <a:gdLst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902494 w 1203325"/>
                  <a:gd name="connsiteY3" fmla="*/ 0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03325"/>
                  <a:gd name="connsiteY0" fmla="*/ 1320781 h 1922443"/>
                  <a:gd name="connsiteX1" fmla="*/ 300831 w 1203325"/>
                  <a:gd name="connsiteY1" fmla="*/ 1320781 h 1922443"/>
                  <a:gd name="connsiteX2" fmla="*/ 300831 w 1203325"/>
                  <a:gd name="connsiteY2" fmla="*/ 0 h 1922443"/>
                  <a:gd name="connsiteX3" fmla="*/ 805177 w 1203325"/>
                  <a:gd name="connsiteY3" fmla="*/ 554354 h 1922443"/>
                  <a:gd name="connsiteX4" fmla="*/ 902494 w 1203325"/>
                  <a:gd name="connsiteY4" fmla="*/ 1320781 h 1922443"/>
                  <a:gd name="connsiteX5" fmla="*/ 1203325 w 1203325"/>
                  <a:gd name="connsiteY5" fmla="*/ 1320781 h 1922443"/>
                  <a:gd name="connsiteX6" fmla="*/ 601663 w 1203325"/>
                  <a:gd name="connsiteY6" fmla="*/ 1922443 h 1922443"/>
                  <a:gd name="connsiteX7" fmla="*/ 0 w 1203325"/>
                  <a:gd name="connsiteY7" fmla="*/ 1320781 h 1922443"/>
                  <a:gd name="connsiteX0" fmla="*/ 0 w 1216922"/>
                  <a:gd name="connsiteY0" fmla="*/ 1320781 h 1922443"/>
                  <a:gd name="connsiteX1" fmla="*/ 300831 w 1216922"/>
                  <a:gd name="connsiteY1" fmla="*/ 1320781 h 1922443"/>
                  <a:gd name="connsiteX2" fmla="*/ 300831 w 1216922"/>
                  <a:gd name="connsiteY2" fmla="*/ 0 h 1922443"/>
                  <a:gd name="connsiteX3" fmla="*/ 805177 w 1216922"/>
                  <a:gd name="connsiteY3" fmla="*/ 554354 h 1922443"/>
                  <a:gd name="connsiteX4" fmla="*/ 902494 w 1216922"/>
                  <a:gd name="connsiteY4" fmla="*/ 1320781 h 1922443"/>
                  <a:gd name="connsiteX5" fmla="*/ 1216922 w 1216922"/>
                  <a:gd name="connsiteY5" fmla="*/ 1606259 h 1922443"/>
                  <a:gd name="connsiteX6" fmla="*/ 601663 w 1216922"/>
                  <a:gd name="connsiteY6" fmla="*/ 1922443 h 1922443"/>
                  <a:gd name="connsiteX7" fmla="*/ 0 w 1216922"/>
                  <a:gd name="connsiteY7" fmla="*/ 1320781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914494 w 1228922"/>
                  <a:gd name="connsiteY4" fmla="*/ 1320781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228922"/>
                  <a:gd name="connsiteY0" fmla="*/ 1059885 h 1922443"/>
                  <a:gd name="connsiteX1" fmla="*/ 312831 w 1228922"/>
                  <a:gd name="connsiteY1" fmla="*/ 1320781 h 1922443"/>
                  <a:gd name="connsiteX2" fmla="*/ 312831 w 1228922"/>
                  <a:gd name="connsiteY2" fmla="*/ 0 h 1922443"/>
                  <a:gd name="connsiteX3" fmla="*/ 817177 w 1228922"/>
                  <a:gd name="connsiteY3" fmla="*/ 554354 h 1922443"/>
                  <a:gd name="connsiteX4" fmla="*/ 801986 w 1228922"/>
                  <a:gd name="connsiteY4" fmla="*/ 1565074 h 1922443"/>
                  <a:gd name="connsiteX5" fmla="*/ 1228922 w 1228922"/>
                  <a:gd name="connsiteY5" fmla="*/ 1606259 h 1922443"/>
                  <a:gd name="connsiteX6" fmla="*/ 613663 w 1228922"/>
                  <a:gd name="connsiteY6" fmla="*/ 1922443 h 1922443"/>
                  <a:gd name="connsiteX7" fmla="*/ 0 w 1228922"/>
                  <a:gd name="connsiteY7" fmla="*/ 1059885 h 1922443"/>
                  <a:gd name="connsiteX0" fmla="*/ 0 w 1086213"/>
                  <a:gd name="connsiteY0" fmla="*/ 1059885 h 1922443"/>
                  <a:gd name="connsiteX1" fmla="*/ 312831 w 1086213"/>
                  <a:gd name="connsiteY1" fmla="*/ 1320781 h 1922443"/>
                  <a:gd name="connsiteX2" fmla="*/ 312831 w 1086213"/>
                  <a:gd name="connsiteY2" fmla="*/ 0 h 1922443"/>
                  <a:gd name="connsiteX3" fmla="*/ 817177 w 1086213"/>
                  <a:gd name="connsiteY3" fmla="*/ 554354 h 1922443"/>
                  <a:gd name="connsiteX4" fmla="*/ 801986 w 1086213"/>
                  <a:gd name="connsiteY4" fmla="*/ 1565074 h 1922443"/>
                  <a:gd name="connsiteX5" fmla="*/ 1086213 w 1086213"/>
                  <a:gd name="connsiteY5" fmla="*/ 1689582 h 1922443"/>
                  <a:gd name="connsiteX6" fmla="*/ 613663 w 1086213"/>
                  <a:gd name="connsiteY6" fmla="*/ 1922443 h 1922443"/>
                  <a:gd name="connsiteX7" fmla="*/ 0 w 1086213"/>
                  <a:gd name="connsiteY7" fmla="*/ 1059885 h 1922443"/>
                  <a:gd name="connsiteX0" fmla="*/ 0 w 1036219"/>
                  <a:gd name="connsiteY0" fmla="*/ 1145511 h 1922443"/>
                  <a:gd name="connsiteX1" fmla="*/ 262837 w 1036219"/>
                  <a:gd name="connsiteY1" fmla="*/ 1320781 h 1922443"/>
                  <a:gd name="connsiteX2" fmla="*/ 262837 w 1036219"/>
                  <a:gd name="connsiteY2" fmla="*/ 0 h 1922443"/>
                  <a:gd name="connsiteX3" fmla="*/ 767183 w 1036219"/>
                  <a:gd name="connsiteY3" fmla="*/ 554354 h 1922443"/>
                  <a:gd name="connsiteX4" fmla="*/ 751992 w 1036219"/>
                  <a:gd name="connsiteY4" fmla="*/ 1565074 h 1922443"/>
                  <a:gd name="connsiteX5" fmla="*/ 1036219 w 1036219"/>
                  <a:gd name="connsiteY5" fmla="*/ 1689582 h 1922443"/>
                  <a:gd name="connsiteX6" fmla="*/ 563669 w 1036219"/>
                  <a:gd name="connsiteY6" fmla="*/ 1922443 h 1922443"/>
                  <a:gd name="connsiteX7" fmla="*/ 0 w 1036219"/>
                  <a:gd name="connsiteY7" fmla="*/ 1145511 h 1922443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7183 w 1036219"/>
                  <a:gd name="connsiteY3" fmla="*/ 554354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51992 w 1036219"/>
                  <a:gd name="connsiteY4" fmla="*/ 15650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2837 w 1036219"/>
                  <a:gd name="connsiteY1" fmla="*/ 1320781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1036219"/>
                  <a:gd name="connsiteY0" fmla="*/ 1145511 h 1916121"/>
                  <a:gd name="connsiteX1" fmla="*/ 261648 w 1036219"/>
                  <a:gd name="connsiteY1" fmla="*/ 1092057 h 1916121"/>
                  <a:gd name="connsiteX2" fmla="*/ 262837 w 1036219"/>
                  <a:gd name="connsiteY2" fmla="*/ 0 h 1916121"/>
                  <a:gd name="connsiteX3" fmla="*/ 764662 w 1036219"/>
                  <a:gd name="connsiteY3" fmla="*/ 537443 h 1916121"/>
                  <a:gd name="connsiteX4" fmla="*/ 777741 w 1036219"/>
                  <a:gd name="connsiteY4" fmla="*/ 1488274 h 1916121"/>
                  <a:gd name="connsiteX5" fmla="*/ 1036219 w 1036219"/>
                  <a:gd name="connsiteY5" fmla="*/ 1689582 h 1916121"/>
                  <a:gd name="connsiteX6" fmla="*/ 508948 w 1036219"/>
                  <a:gd name="connsiteY6" fmla="*/ 1916121 h 1916121"/>
                  <a:gd name="connsiteX7" fmla="*/ 0 w 1036219"/>
                  <a:gd name="connsiteY7" fmla="*/ 1145511 h 1916121"/>
                  <a:gd name="connsiteX0" fmla="*/ 0 w 963920"/>
                  <a:gd name="connsiteY0" fmla="*/ 891527 h 1916121"/>
                  <a:gd name="connsiteX1" fmla="*/ 189349 w 963920"/>
                  <a:gd name="connsiteY1" fmla="*/ 1092057 h 1916121"/>
                  <a:gd name="connsiteX2" fmla="*/ 190538 w 963920"/>
                  <a:gd name="connsiteY2" fmla="*/ 0 h 1916121"/>
                  <a:gd name="connsiteX3" fmla="*/ 692363 w 963920"/>
                  <a:gd name="connsiteY3" fmla="*/ 537443 h 1916121"/>
                  <a:gd name="connsiteX4" fmla="*/ 705442 w 963920"/>
                  <a:gd name="connsiteY4" fmla="*/ 1488274 h 1916121"/>
                  <a:gd name="connsiteX5" fmla="*/ 963920 w 963920"/>
                  <a:gd name="connsiteY5" fmla="*/ 1689582 h 1916121"/>
                  <a:gd name="connsiteX6" fmla="*/ 436649 w 963920"/>
                  <a:gd name="connsiteY6" fmla="*/ 1916121 h 1916121"/>
                  <a:gd name="connsiteX7" fmla="*/ 0 w 963920"/>
                  <a:gd name="connsiteY7" fmla="*/ 891527 h 1916121"/>
                  <a:gd name="connsiteX0" fmla="*/ 0 w 1014398"/>
                  <a:gd name="connsiteY0" fmla="*/ 850410 h 1916121"/>
                  <a:gd name="connsiteX1" fmla="*/ 239827 w 1014398"/>
                  <a:gd name="connsiteY1" fmla="*/ 109205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55920 w 1014398"/>
                  <a:gd name="connsiteY4" fmla="*/ 1488274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14398"/>
                  <a:gd name="connsiteY0" fmla="*/ 850410 h 1916121"/>
                  <a:gd name="connsiteX1" fmla="*/ 232142 w 1014398"/>
                  <a:gd name="connsiteY1" fmla="*/ 1078897 h 1916121"/>
                  <a:gd name="connsiteX2" fmla="*/ 241016 w 1014398"/>
                  <a:gd name="connsiteY2" fmla="*/ 0 h 1916121"/>
                  <a:gd name="connsiteX3" fmla="*/ 742841 w 1014398"/>
                  <a:gd name="connsiteY3" fmla="*/ 537443 h 1916121"/>
                  <a:gd name="connsiteX4" fmla="*/ 772393 w 1014398"/>
                  <a:gd name="connsiteY4" fmla="*/ 1531599 h 1916121"/>
                  <a:gd name="connsiteX5" fmla="*/ 1014398 w 1014398"/>
                  <a:gd name="connsiteY5" fmla="*/ 1689582 h 1916121"/>
                  <a:gd name="connsiteX6" fmla="*/ 487127 w 1014398"/>
                  <a:gd name="connsiteY6" fmla="*/ 1916121 h 1916121"/>
                  <a:gd name="connsiteX7" fmla="*/ 0 w 101439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742841 w 1020448"/>
                  <a:gd name="connsiteY3" fmla="*/ 537443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50410 h 1916121"/>
                  <a:gd name="connsiteX1" fmla="*/ 232142 w 1020448"/>
                  <a:gd name="connsiteY1" fmla="*/ 1078897 h 1916121"/>
                  <a:gd name="connsiteX2" fmla="*/ 241016 w 1020448"/>
                  <a:gd name="connsiteY2" fmla="*/ 0 h 1916121"/>
                  <a:gd name="connsiteX3" fmla="*/ 676718 w 1020448"/>
                  <a:gd name="connsiteY3" fmla="*/ 692215 h 1916121"/>
                  <a:gd name="connsiteX4" fmla="*/ 772393 w 1020448"/>
                  <a:gd name="connsiteY4" fmla="*/ 1531599 h 1916121"/>
                  <a:gd name="connsiteX5" fmla="*/ 1020448 w 1020448"/>
                  <a:gd name="connsiteY5" fmla="*/ 1730169 h 1916121"/>
                  <a:gd name="connsiteX6" fmla="*/ 487127 w 1020448"/>
                  <a:gd name="connsiteY6" fmla="*/ 1916121 h 1916121"/>
                  <a:gd name="connsiteX7" fmla="*/ 0 w 1020448"/>
                  <a:gd name="connsiteY7" fmla="*/ 850410 h 1916121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772393 w 1020448"/>
                  <a:gd name="connsiteY4" fmla="*/ 1520905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1020448"/>
                  <a:gd name="connsiteY0" fmla="*/ 839716 h 1905427"/>
                  <a:gd name="connsiteX1" fmla="*/ 232142 w 1020448"/>
                  <a:gd name="connsiteY1" fmla="*/ 1068203 h 1905427"/>
                  <a:gd name="connsiteX2" fmla="*/ 233991 w 1020448"/>
                  <a:gd name="connsiteY2" fmla="*/ 0 h 1905427"/>
                  <a:gd name="connsiteX3" fmla="*/ 676718 w 1020448"/>
                  <a:gd name="connsiteY3" fmla="*/ 681521 h 1905427"/>
                  <a:gd name="connsiteX4" fmla="*/ 676294 w 1020448"/>
                  <a:gd name="connsiteY4" fmla="*/ 1750256 h 1905427"/>
                  <a:gd name="connsiteX5" fmla="*/ 1020448 w 1020448"/>
                  <a:gd name="connsiteY5" fmla="*/ 1719475 h 1905427"/>
                  <a:gd name="connsiteX6" fmla="*/ 487127 w 1020448"/>
                  <a:gd name="connsiteY6" fmla="*/ 1905427 h 1905427"/>
                  <a:gd name="connsiteX7" fmla="*/ 0 w 1020448"/>
                  <a:gd name="connsiteY7" fmla="*/ 839716 h 1905427"/>
                  <a:gd name="connsiteX0" fmla="*/ 0 w 854265"/>
                  <a:gd name="connsiteY0" fmla="*/ 839716 h 2034123"/>
                  <a:gd name="connsiteX1" fmla="*/ 232142 w 854265"/>
                  <a:gd name="connsiteY1" fmla="*/ 1068203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76294 w 854265"/>
                  <a:gd name="connsiteY4" fmla="*/ 175025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4265"/>
                  <a:gd name="connsiteY0" fmla="*/ 839716 h 2034121"/>
                  <a:gd name="connsiteX1" fmla="*/ 232142 w 854265"/>
                  <a:gd name="connsiteY1" fmla="*/ 1068203 h 2034121"/>
                  <a:gd name="connsiteX2" fmla="*/ 233991 w 854265"/>
                  <a:gd name="connsiteY2" fmla="*/ 0 h 2034121"/>
                  <a:gd name="connsiteX3" fmla="*/ 676718 w 854265"/>
                  <a:gd name="connsiteY3" fmla="*/ 681521 h 2034121"/>
                  <a:gd name="connsiteX4" fmla="*/ 683843 w 854265"/>
                  <a:gd name="connsiteY4" fmla="*/ 1777776 h 2034121"/>
                  <a:gd name="connsiteX5" fmla="*/ 854265 w 854265"/>
                  <a:gd name="connsiteY5" fmla="*/ 2034122 h 2034121"/>
                  <a:gd name="connsiteX6" fmla="*/ 487127 w 854265"/>
                  <a:gd name="connsiteY6" fmla="*/ 1905427 h 2034121"/>
                  <a:gd name="connsiteX7" fmla="*/ 0 w 854265"/>
                  <a:gd name="connsiteY7" fmla="*/ 839716 h 2034121"/>
                  <a:gd name="connsiteX0" fmla="*/ 0 w 854265"/>
                  <a:gd name="connsiteY0" fmla="*/ 839716 h 2034123"/>
                  <a:gd name="connsiteX1" fmla="*/ 213469 w 854265"/>
                  <a:gd name="connsiteY1" fmla="*/ 1106698 h 2034123"/>
                  <a:gd name="connsiteX2" fmla="*/ 233991 w 854265"/>
                  <a:gd name="connsiteY2" fmla="*/ 0 h 2034123"/>
                  <a:gd name="connsiteX3" fmla="*/ 676718 w 854265"/>
                  <a:gd name="connsiteY3" fmla="*/ 681521 h 2034123"/>
                  <a:gd name="connsiteX4" fmla="*/ 683843 w 854265"/>
                  <a:gd name="connsiteY4" fmla="*/ 1777776 h 2034123"/>
                  <a:gd name="connsiteX5" fmla="*/ 854265 w 854265"/>
                  <a:gd name="connsiteY5" fmla="*/ 2034122 h 2034123"/>
                  <a:gd name="connsiteX6" fmla="*/ 487127 w 854265"/>
                  <a:gd name="connsiteY6" fmla="*/ 1905427 h 2034123"/>
                  <a:gd name="connsiteX7" fmla="*/ 0 w 854265"/>
                  <a:gd name="connsiteY7" fmla="*/ 839716 h 2034123"/>
                  <a:gd name="connsiteX0" fmla="*/ 0 w 850842"/>
                  <a:gd name="connsiteY0" fmla="*/ 819405 h 2034121"/>
                  <a:gd name="connsiteX1" fmla="*/ 210046 w 850842"/>
                  <a:gd name="connsiteY1" fmla="*/ 1106698 h 2034121"/>
                  <a:gd name="connsiteX2" fmla="*/ 230568 w 850842"/>
                  <a:gd name="connsiteY2" fmla="*/ 0 h 2034121"/>
                  <a:gd name="connsiteX3" fmla="*/ 673295 w 850842"/>
                  <a:gd name="connsiteY3" fmla="*/ 681521 h 2034121"/>
                  <a:gd name="connsiteX4" fmla="*/ 680420 w 850842"/>
                  <a:gd name="connsiteY4" fmla="*/ 1777776 h 2034121"/>
                  <a:gd name="connsiteX5" fmla="*/ 850842 w 850842"/>
                  <a:gd name="connsiteY5" fmla="*/ 2034122 h 2034121"/>
                  <a:gd name="connsiteX6" fmla="*/ 483704 w 850842"/>
                  <a:gd name="connsiteY6" fmla="*/ 1905427 h 2034121"/>
                  <a:gd name="connsiteX7" fmla="*/ 0 w 850842"/>
                  <a:gd name="connsiteY7" fmla="*/ 819405 h 2034121"/>
                  <a:gd name="connsiteX0" fmla="*/ 0 w 850842"/>
                  <a:gd name="connsiteY0" fmla="*/ 819405 h 2034123"/>
                  <a:gd name="connsiteX1" fmla="*/ 210046 w 850842"/>
                  <a:gd name="connsiteY1" fmla="*/ 1106698 h 2034123"/>
                  <a:gd name="connsiteX2" fmla="*/ 230568 w 850842"/>
                  <a:gd name="connsiteY2" fmla="*/ 0 h 2034123"/>
                  <a:gd name="connsiteX3" fmla="*/ 673295 w 850842"/>
                  <a:gd name="connsiteY3" fmla="*/ 681521 h 2034123"/>
                  <a:gd name="connsiteX4" fmla="*/ 680420 w 850842"/>
                  <a:gd name="connsiteY4" fmla="*/ 1777776 h 2034123"/>
                  <a:gd name="connsiteX5" fmla="*/ 850842 w 850842"/>
                  <a:gd name="connsiteY5" fmla="*/ 2034122 h 2034123"/>
                  <a:gd name="connsiteX6" fmla="*/ 455963 w 850842"/>
                  <a:gd name="connsiteY6" fmla="*/ 2008062 h 2034123"/>
                  <a:gd name="connsiteX7" fmla="*/ 0 w 850842"/>
                  <a:gd name="connsiteY7" fmla="*/ 819405 h 2034123"/>
                  <a:gd name="connsiteX0" fmla="*/ 0 w 850842"/>
                  <a:gd name="connsiteY0" fmla="*/ 781447 h 1996164"/>
                  <a:gd name="connsiteX1" fmla="*/ 210046 w 850842"/>
                  <a:gd name="connsiteY1" fmla="*/ 1068740 h 1996164"/>
                  <a:gd name="connsiteX2" fmla="*/ 217208 w 850842"/>
                  <a:gd name="connsiteY2" fmla="*/ -1 h 1996164"/>
                  <a:gd name="connsiteX3" fmla="*/ 673295 w 850842"/>
                  <a:gd name="connsiteY3" fmla="*/ 643563 h 1996164"/>
                  <a:gd name="connsiteX4" fmla="*/ 680420 w 850842"/>
                  <a:gd name="connsiteY4" fmla="*/ 1739818 h 1996164"/>
                  <a:gd name="connsiteX5" fmla="*/ 850842 w 850842"/>
                  <a:gd name="connsiteY5" fmla="*/ 1996164 h 1996164"/>
                  <a:gd name="connsiteX6" fmla="*/ 455963 w 850842"/>
                  <a:gd name="connsiteY6" fmla="*/ 1970104 h 1996164"/>
                  <a:gd name="connsiteX7" fmla="*/ 0 w 850842"/>
                  <a:gd name="connsiteY7" fmla="*/ 781447 h 1996164"/>
                  <a:gd name="connsiteX0" fmla="*/ 0 w 850842"/>
                  <a:gd name="connsiteY0" fmla="*/ 781449 h 1996166"/>
                  <a:gd name="connsiteX1" fmla="*/ 210046 w 850842"/>
                  <a:gd name="connsiteY1" fmla="*/ 1068742 h 1996166"/>
                  <a:gd name="connsiteX2" fmla="*/ 217208 w 850842"/>
                  <a:gd name="connsiteY2" fmla="*/ 1 h 1996166"/>
                  <a:gd name="connsiteX3" fmla="*/ 630621 w 850842"/>
                  <a:gd name="connsiteY3" fmla="*/ 669513 h 1996166"/>
                  <a:gd name="connsiteX4" fmla="*/ 680420 w 850842"/>
                  <a:gd name="connsiteY4" fmla="*/ 1739820 h 1996166"/>
                  <a:gd name="connsiteX5" fmla="*/ 850842 w 850842"/>
                  <a:gd name="connsiteY5" fmla="*/ 1996166 h 1996166"/>
                  <a:gd name="connsiteX6" fmla="*/ 455963 w 850842"/>
                  <a:gd name="connsiteY6" fmla="*/ 1970106 h 1996166"/>
                  <a:gd name="connsiteX7" fmla="*/ 0 w 850842"/>
                  <a:gd name="connsiteY7" fmla="*/ 781449 h 1996166"/>
                  <a:gd name="connsiteX0" fmla="*/ 0 w 850842"/>
                  <a:gd name="connsiteY0" fmla="*/ 776369 h 1991086"/>
                  <a:gd name="connsiteX1" fmla="*/ 210046 w 850842"/>
                  <a:gd name="connsiteY1" fmla="*/ 1063662 h 1991086"/>
                  <a:gd name="connsiteX2" fmla="*/ 216352 w 850842"/>
                  <a:gd name="connsiteY2" fmla="*/ -1 h 1991086"/>
                  <a:gd name="connsiteX3" fmla="*/ 630621 w 850842"/>
                  <a:gd name="connsiteY3" fmla="*/ 664433 h 1991086"/>
                  <a:gd name="connsiteX4" fmla="*/ 680420 w 850842"/>
                  <a:gd name="connsiteY4" fmla="*/ 1734740 h 1991086"/>
                  <a:gd name="connsiteX5" fmla="*/ 850842 w 850842"/>
                  <a:gd name="connsiteY5" fmla="*/ 1991086 h 1991086"/>
                  <a:gd name="connsiteX6" fmla="*/ 455963 w 850842"/>
                  <a:gd name="connsiteY6" fmla="*/ 1965026 h 1991086"/>
                  <a:gd name="connsiteX7" fmla="*/ 0 w 850842"/>
                  <a:gd name="connsiteY7" fmla="*/ 776369 h 1991086"/>
                  <a:gd name="connsiteX0" fmla="*/ 0 w 850842"/>
                  <a:gd name="connsiteY0" fmla="*/ 776371 h 1991088"/>
                  <a:gd name="connsiteX1" fmla="*/ 321396 w 850842"/>
                  <a:gd name="connsiteY1" fmla="*/ 816133 h 1991088"/>
                  <a:gd name="connsiteX2" fmla="*/ 216352 w 850842"/>
                  <a:gd name="connsiteY2" fmla="*/ 1 h 1991088"/>
                  <a:gd name="connsiteX3" fmla="*/ 630621 w 850842"/>
                  <a:gd name="connsiteY3" fmla="*/ 664435 h 1991088"/>
                  <a:gd name="connsiteX4" fmla="*/ 680420 w 850842"/>
                  <a:gd name="connsiteY4" fmla="*/ 1734742 h 1991088"/>
                  <a:gd name="connsiteX5" fmla="*/ 850842 w 850842"/>
                  <a:gd name="connsiteY5" fmla="*/ 1991088 h 1991088"/>
                  <a:gd name="connsiteX6" fmla="*/ 455963 w 850842"/>
                  <a:gd name="connsiteY6" fmla="*/ 1965028 h 1991088"/>
                  <a:gd name="connsiteX7" fmla="*/ 0 w 850842"/>
                  <a:gd name="connsiteY7" fmla="*/ 776371 h 1991088"/>
                  <a:gd name="connsiteX0" fmla="*/ 0 w 850842"/>
                  <a:gd name="connsiteY0" fmla="*/ 776369 h 1991086"/>
                  <a:gd name="connsiteX1" fmla="*/ 321396 w 850842"/>
                  <a:gd name="connsiteY1" fmla="*/ 816131 h 1991086"/>
                  <a:gd name="connsiteX2" fmla="*/ 216352 w 850842"/>
                  <a:gd name="connsiteY2" fmla="*/ -1 h 1991086"/>
                  <a:gd name="connsiteX3" fmla="*/ 630621 w 850842"/>
                  <a:gd name="connsiteY3" fmla="*/ 664433 h 1991086"/>
                  <a:gd name="connsiteX4" fmla="*/ 680420 w 850842"/>
                  <a:gd name="connsiteY4" fmla="*/ 1734740 h 1991086"/>
                  <a:gd name="connsiteX5" fmla="*/ 850842 w 850842"/>
                  <a:gd name="connsiteY5" fmla="*/ 1991086 h 1991086"/>
                  <a:gd name="connsiteX6" fmla="*/ 455963 w 850842"/>
                  <a:gd name="connsiteY6" fmla="*/ 1965026 h 1991086"/>
                  <a:gd name="connsiteX7" fmla="*/ 0 w 850842"/>
                  <a:gd name="connsiteY7" fmla="*/ 776369 h 1991086"/>
                  <a:gd name="connsiteX0" fmla="*/ 0 w 850842"/>
                  <a:gd name="connsiteY0" fmla="*/ 776371 h 1991088"/>
                  <a:gd name="connsiteX1" fmla="*/ 321396 w 850842"/>
                  <a:gd name="connsiteY1" fmla="*/ 816133 h 1991088"/>
                  <a:gd name="connsiteX2" fmla="*/ 216352 w 850842"/>
                  <a:gd name="connsiteY2" fmla="*/ 1 h 1991088"/>
                  <a:gd name="connsiteX3" fmla="*/ 630621 w 850842"/>
                  <a:gd name="connsiteY3" fmla="*/ 664435 h 1991088"/>
                  <a:gd name="connsiteX4" fmla="*/ 680420 w 850842"/>
                  <a:gd name="connsiteY4" fmla="*/ 1734742 h 1991088"/>
                  <a:gd name="connsiteX5" fmla="*/ 850842 w 850842"/>
                  <a:gd name="connsiteY5" fmla="*/ 1991088 h 1991088"/>
                  <a:gd name="connsiteX6" fmla="*/ 455963 w 850842"/>
                  <a:gd name="connsiteY6" fmla="*/ 1965028 h 1991088"/>
                  <a:gd name="connsiteX7" fmla="*/ 0 w 850842"/>
                  <a:gd name="connsiteY7" fmla="*/ 776371 h 1991088"/>
                  <a:gd name="connsiteX0" fmla="*/ 0 w 850842"/>
                  <a:gd name="connsiteY0" fmla="*/ 776369 h 1991086"/>
                  <a:gd name="connsiteX1" fmla="*/ 375744 w 850842"/>
                  <a:gd name="connsiteY1" fmla="*/ 865535 h 1991086"/>
                  <a:gd name="connsiteX2" fmla="*/ 216352 w 850842"/>
                  <a:gd name="connsiteY2" fmla="*/ -1 h 1991086"/>
                  <a:gd name="connsiteX3" fmla="*/ 630621 w 850842"/>
                  <a:gd name="connsiteY3" fmla="*/ 664433 h 1991086"/>
                  <a:gd name="connsiteX4" fmla="*/ 680420 w 850842"/>
                  <a:gd name="connsiteY4" fmla="*/ 1734740 h 1991086"/>
                  <a:gd name="connsiteX5" fmla="*/ 850842 w 850842"/>
                  <a:gd name="connsiteY5" fmla="*/ 1991086 h 1991086"/>
                  <a:gd name="connsiteX6" fmla="*/ 455963 w 850842"/>
                  <a:gd name="connsiteY6" fmla="*/ 1965026 h 1991086"/>
                  <a:gd name="connsiteX7" fmla="*/ 0 w 850842"/>
                  <a:gd name="connsiteY7" fmla="*/ 776369 h 1991086"/>
                  <a:gd name="connsiteX0" fmla="*/ 0 w 850842"/>
                  <a:gd name="connsiteY0" fmla="*/ 776371 h 1991088"/>
                  <a:gd name="connsiteX1" fmla="*/ 375744 w 850842"/>
                  <a:gd name="connsiteY1" fmla="*/ 865537 h 1991088"/>
                  <a:gd name="connsiteX2" fmla="*/ 216352 w 850842"/>
                  <a:gd name="connsiteY2" fmla="*/ 1 h 1991088"/>
                  <a:gd name="connsiteX3" fmla="*/ 630621 w 850842"/>
                  <a:gd name="connsiteY3" fmla="*/ 664435 h 1991088"/>
                  <a:gd name="connsiteX4" fmla="*/ 680420 w 850842"/>
                  <a:gd name="connsiteY4" fmla="*/ 1734742 h 1991088"/>
                  <a:gd name="connsiteX5" fmla="*/ 850842 w 850842"/>
                  <a:gd name="connsiteY5" fmla="*/ 1991088 h 1991088"/>
                  <a:gd name="connsiteX6" fmla="*/ 455963 w 850842"/>
                  <a:gd name="connsiteY6" fmla="*/ 1965028 h 1991088"/>
                  <a:gd name="connsiteX7" fmla="*/ 0 w 850842"/>
                  <a:gd name="connsiteY7" fmla="*/ 776371 h 1991088"/>
                  <a:gd name="connsiteX0" fmla="*/ 0 w 850842"/>
                  <a:gd name="connsiteY0" fmla="*/ 776369 h 1991086"/>
                  <a:gd name="connsiteX1" fmla="*/ 429940 w 850842"/>
                  <a:gd name="connsiteY1" fmla="*/ 988165 h 1991086"/>
                  <a:gd name="connsiteX2" fmla="*/ 216352 w 850842"/>
                  <a:gd name="connsiteY2" fmla="*/ -1 h 1991086"/>
                  <a:gd name="connsiteX3" fmla="*/ 630621 w 850842"/>
                  <a:gd name="connsiteY3" fmla="*/ 664433 h 1991086"/>
                  <a:gd name="connsiteX4" fmla="*/ 680420 w 850842"/>
                  <a:gd name="connsiteY4" fmla="*/ 1734740 h 1991086"/>
                  <a:gd name="connsiteX5" fmla="*/ 850842 w 850842"/>
                  <a:gd name="connsiteY5" fmla="*/ 1991086 h 1991086"/>
                  <a:gd name="connsiteX6" fmla="*/ 455963 w 850842"/>
                  <a:gd name="connsiteY6" fmla="*/ 1965026 h 1991086"/>
                  <a:gd name="connsiteX7" fmla="*/ 0 w 850842"/>
                  <a:gd name="connsiteY7" fmla="*/ 776369 h 1991086"/>
                  <a:gd name="connsiteX0" fmla="*/ 0 w 850842"/>
                  <a:gd name="connsiteY0" fmla="*/ 776371 h 1991088"/>
                  <a:gd name="connsiteX1" fmla="*/ 429940 w 850842"/>
                  <a:gd name="connsiteY1" fmla="*/ 988167 h 1991088"/>
                  <a:gd name="connsiteX2" fmla="*/ 216352 w 850842"/>
                  <a:gd name="connsiteY2" fmla="*/ 1 h 1991088"/>
                  <a:gd name="connsiteX3" fmla="*/ 630621 w 850842"/>
                  <a:gd name="connsiteY3" fmla="*/ 664435 h 1991088"/>
                  <a:gd name="connsiteX4" fmla="*/ 680420 w 850842"/>
                  <a:gd name="connsiteY4" fmla="*/ 1734742 h 1991088"/>
                  <a:gd name="connsiteX5" fmla="*/ 850842 w 850842"/>
                  <a:gd name="connsiteY5" fmla="*/ 1991088 h 1991088"/>
                  <a:gd name="connsiteX6" fmla="*/ 455963 w 850842"/>
                  <a:gd name="connsiteY6" fmla="*/ 1965028 h 1991088"/>
                  <a:gd name="connsiteX7" fmla="*/ 0 w 850842"/>
                  <a:gd name="connsiteY7" fmla="*/ 776371 h 1991088"/>
                  <a:gd name="connsiteX0" fmla="*/ 21719 w 634490"/>
                  <a:gd name="connsiteY0" fmla="*/ 727315 h 1991086"/>
                  <a:gd name="connsiteX1" fmla="*/ 213588 w 634490"/>
                  <a:gd name="connsiteY1" fmla="*/ 988165 h 1991086"/>
                  <a:gd name="connsiteX2" fmla="*/ 0 w 634490"/>
                  <a:gd name="connsiteY2" fmla="*/ -1 h 1991086"/>
                  <a:gd name="connsiteX3" fmla="*/ 414269 w 634490"/>
                  <a:gd name="connsiteY3" fmla="*/ 664433 h 1991086"/>
                  <a:gd name="connsiteX4" fmla="*/ 464068 w 634490"/>
                  <a:gd name="connsiteY4" fmla="*/ 1734740 h 1991086"/>
                  <a:gd name="connsiteX5" fmla="*/ 634490 w 634490"/>
                  <a:gd name="connsiteY5" fmla="*/ 1991086 h 1991086"/>
                  <a:gd name="connsiteX6" fmla="*/ 239611 w 634490"/>
                  <a:gd name="connsiteY6" fmla="*/ 1965026 h 1991086"/>
                  <a:gd name="connsiteX7" fmla="*/ 21719 w 634490"/>
                  <a:gd name="connsiteY7" fmla="*/ 727315 h 1991086"/>
                  <a:gd name="connsiteX0" fmla="*/ 21719 w 634490"/>
                  <a:gd name="connsiteY0" fmla="*/ 727317 h 1991088"/>
                  <a:gd name="connsiteX1" fmla="*/ 213588 w 634490"/>
                  <a:gd name="connsiteY1" fmla="*/ 988167 h 1991088"/>
                  <a:gd name="connsiteX2" fmla="*/ 0 w 634490"/>
                  <a:gd name="connsiteY2" fmla="*/ 1 h 1991088"/>
                  <a:gd name="connsiteX3" fmla="*/ 414269 w 634490"/>
                  <a:gd name="connsiteY3" fmla="*/ 664435 h 1991088"/>
                  <a:gd name="connsiteX4" fmla="*/ 578344 w 634490"/>
                  <a:gd name="connsiteY4" fmla="*/ 1531834 h 1991088"/>
                  <a:gd name="connsiteX5" fmla="*/ 634490 w 634490"/>
                  <a:gd name="connsiteY5" fmla="*/ 1991088 h 1991088"/>
                  <a:gd name="connsiteX6" fmla="*/ 239611 w 634490"/>
                  <a:gd name="connsiteY6" fmla="*/ 1965028 h 1991088"/>
                  <a:gd name="connsiteX7" fmla="*/ 21719 w 634490"/>
                  <a:gd name="connsiteY7" fmla="*/ 727317 h 1991088"/>
                  <a:gd name="connsiteX0" fmla="*/ 21719 w 634490"/>
                  <a:gd name="connsiteY0" fmla="*/ 727315 h 1991086"/>
                  <a:gd name="connsiteX1" fmla="*/ 213588 w 634490"/>
                  <a:gd name="connsiteY1" fmla="*/ 988165 h 1991086"/>
                  <a:gd name="connsiteX2" fmla="*/ 0 w 634490"/>
                  <a:gd name="connsiteY2" fmla="*/ -1 h 1991086"/>
                  <a:gd name="connsiteX3" fmla="*/ 414269 w 634490"/>
                  <a:gd name="connsiteY3" fmla="*/ 664433 h 1991086"/>
                  <a:gd name="connsiteX4" fmla="*/ 578344 w 634490"/>
                  <a:gd name="connsiteY4" fmla="*/ 1531832 h 1991086"/>
                  <a:gd name="connsiteX5" fmla="*/ 634490 w 634490"/>
                  <a:gd name="connsiteY5" fmla="*/ 1991086 h 1991086"/>
                  <a:gd name="connsiteX6" fmla="*/ 239611 w 634490"/>
                  <a:gd name="connsiteY6" fmla="*/ 1965026 h 1991086"/>
                  <a:gd name="connsiteX7" fmla="*/ 21719 w 634490"/>
                  <a:gd name="connsiteY7" fmla="*/ 727315 h 1991086"/>
                  <a:gd name="connsiteX0" fmla="*/ 21719 w 634490"/>
                  <a:gd name="connsiteY0" fmla="*/ 727317 h 1991088"/>
                  <a:gd name="connsiteX1" fmla="*/ 213588 w 634490"/>
                  <a:gd name="connsiteY1" fmla="*/ 988167 h 1991088"/>
                  <a:gd name="connsiteX2" fmla="*/ 0 w 634490"/>
                  <a:gd name="connsiteY2" fmla="*/ 1 h 1991088"/>
                  <a:gd name="connsiteX3" fmla="*/ 414269 w 634490"/>
                  <a:gd name="connsiteY3" fmla="*/ 664435 h 1991088"/>
                  <a:gd name="connsiteX4" fmla="*/ 578344 w 634490"/>
                  <a:gd name="connsiteY4" fmla="*/ 1531834 h 1991088"/>
                  <a:gd name="connsiteX5" fmla="*/ 634490 w 634490"/>
                  <a:gd name="connsiteY5" fmla="*/ 1991088 h 1991088"/>
                  <a:gd name="connsiteX6" fmla="*/ 239611 w 634490"/>
                  <a:gd name="connsiteY6" fmla="*/ 1965028 h 1991088"/>
                  <a:gd name="connsiteX7" fmla="*/ 21719 w 634490"/>
                  <a:gd name="connsiteY7" fmla="*/ 727317 h 1991088"/>
                  <a:gd name="connsiteX0" fmla="*/ 21719 w 634490"/>
                  <a:gd name="connsiteY0" fmla="*/ 727315 h 1991086"/>
                  <a:gd name="connsiteX1" fmla="*/ 213588 w 634490"/>
                  <a:gd name="connsiteY1" fmla="*/ 988165 h 1991086"/>
                  <a:gd name="connsiteX2" fmla="*/ 0 w 634490"/>
                  <a:gd name="connsiteY2" fmla="*/ -1 h 1991086"/>
                  <a:gd name="connsiteX3" fmla="*/ 414269 w 634490"/>
                  <a:gd name="connsiteY3" fmla="*/ 664433 h 1991086"/>
                  <a:gd name="connsiteX4" fmla="*/ 622576 w 634490"/>
                  <a:gd name="connsiteY4" fmla="*/ 1568951 h 1991086"/>
                  <a:gd name="connsiteX5" fmla="*/ 634490 w 634490"/>
                  <a:gd name="connsiteY5" fmla="*/ 1991086 h 1991086"/>
                  <a:gd name="connsiteX6" fmla="*/ 239611 w 634490"/>
                  <a:gd name="connsiteY6" fmla="*/ 1965026 h 1991086"/>
                  <a:gd name="connsiteX7" fmla="*/ 21719 w 634490"/>
                  <a:gd name="connsiteY7" fmla="*/ 727315 h 1991086"/>
                  <a:gd name="connsiteX0" fmla="*/ 21719 w 634490"/>
                  <a:gd name="connsiteY0" fmla="*/ 727317 h 1991088"/>
                  <a:gd name="connsiteX1" fmla="*/ 213588 w 634490"/>
                  <a:gd name="connsiteY1" fmla="*/ 988167 h 1991088"/>
                  <a:gd name="connsiteX2" fmla="*/ 0 w 634490"/>
                  <a:gd name="connsiteY2" fmla="*/ 1 h 1991088"/>
                  <a:gd name="connsiteX3" fmla="*/ 414269 w 634490"/>
                  <a:gd name="connsiteY3" fmla="*/ 664435 h 1991088"/>
                  <a:gd name="connsiteX4" fmla="*/ 622576 w 634490"/>
                  <a:gd name="connsiteY4" fmla="*/ 1568953 h 1991088"/>
                  <a:gd name="connsiteX5" fmla="*/ 634490 w 634490"/>
                  <a:gd name="connsiteY5" fmla="*/ 1991088 h 1991088"/>
                  <a:gd name="connsiteX6" fmla="*/ 239611 w 634490"/>
                  <a:gd name="connsiteY6" fmla="*/ 1965028 h 1991088"/>
                  <a:gd name="connsiteX7" fmla="*/ 21719 w 634490"/>
                  <a:gd name="connsiteY7" fmla="*/ 727317 h 1991088"/>
                  <a:gd name="connsiteX0" fmla="*/ 21719 w 762650"/>
                  <a:gd name="connsiteY0" fmla="*/ 727315 h 1965026"/>
                  <a:gd name="connsiteX1" fmla="*/ 213588 w 762650"/>
                  <a:gd name="connsiteY1" fmla="*/ 988165 h 1965026"/>
                  <a:gd name="connsiteX2" fmla="*/ 0 w 762650"/>
                  <a:gd name="connsiteY2" fmla="*/ -1 h 1965026"/>
                  <a:gd name="connsiteX3" fmla="*/ 414269 w 762650"/>
                  <a:gd name="connsiteY3" fmla="*/ 664433 h 1965026"/>
                  <a:gd name="connsiteX4" fmla="*/ 622576 w 762650"/>
                  <a:gd name="connsiteY4" fmla="*/ 1568951 h 1965026"/>
                  <a:gd name="connsiteX5" fmla="*/ 762650 w 762650"/>
                  <a:gd name="connsiteY5" fmla="*/ 1788438 h 1965026"/>
                  <a:gd name="connsiteX6" fmla="*/ 239611 w 762650"/>
                  <a:gd name="connsiteY6" fmla="*/ 1965026 h 1965026"/>
                  <a:gd name="connsiteX7" fmla="*/ 21719 w 762650"/>
                  <a:gd name="connsiteY7" fmla="*/ 727315 h 1965026"/>
                  <a:gd name="connsiteX0" fmla="*/ 21719 w 762650"/>
                  <a:gd name="connsiteY0" fmla="*/ 727317 h 1996105"/>
                  <a:gd name="connsiteX1" fmla="*/ 213588 w 762650"/>
                  <a:gd name="connsiteY1" fmla="*/ 988167 h 1996105"/>
                  <a:gd name="connsiteX2" fmla="*/ 0 w 762650"/>
                  <a:gd name="connsiteY2" fmla="*/ 1 h 1996105"/>
                  <a:gd name="connsiteX3" fmla="*/ 414269 w 762650"/>
                  <a:gd name="connsiteY3" fmla="*/ 664435 h 1996105"/>
                  <a:gd name="connsiteX4" fmla="*/ 622576 w 762650"/>
                  <a:gd name="connsiteY4" fmla="*/ 1568953 h 1996105"/>
                  <a:gd name="connsiteX5" fmla="*/ 762650 w 762650"/>
                  <a:gd name="connsiteY5" fmla="*/ 1788440 h 1996105"/>
                  <a:gd name="connsiteX6" fmla="*/ 540779 w 762650"/>
                  <a:gd name="connsiteY6" fmla="*/ 1996105 h 1996105"/>
                  <a:gd name="connsiteX7" fmla="*/ 21719 w 762650"/>
                  <a:gd name="connsiteY7" fmla="*/ 727317 h 1996105"/>
                  <a:gd name="connsiteX0" fmla="*/ 21719 w 762650"/>
                  <a:gd name="connsiteY0" fmla="*/ 727315 h 2085354"/>
                  <a:gd name="connsiteX1" fmla="*/ 213588 w 762650"/>
                  <a:gd name="connsiteY1" fmla="*/ 988165 h 2085354"/>
                  <a:gd name="connsiteX2" fmla="*/ 0 w 762650"/>
                  <a:gd name="connsiteY2" fmla="*/ -1 h 2085354"/>
                  <a:gd name="connsiteX3" fmla="*/ 414269 w 762650"/>
                  <a:gd name="connsiteY3" fmla="*/ 664433 h 2085354"/>
                  <a:gd name="connsiteX4" fmla="*/ 622576 w 762650"/>
                  <a:gd name="connsiteY4" fmla="*/ 1568951 h 2085354"/>
                  <a:gd name="connsiteX5" fmla="*/ 762650 w 762650"/>
                  <a:gd name="connsiteY5" fmla="*/ 1788438 h 2085354"/>
                  <a:gd name="connsiteX6" fmla="*/ 546630 w 762650"/>
                  <a:gd name="connsiteY6" fmla="*/ 2085354 h 2085354"/>
                  <a:gd name="connsiteX7" fmla="*/ 21719 w 762650"/>
                  <a:gd name="connsiteY7" fmla="*/ 727315 h 2085354"/>
                  <a:gd name="connsiteX0" fmla="*/ 21719 w 762650"/>
                  <a:gd name="connsiteY0" fmla="*/ 727317 h 2354668"/>
                  <a:gd name="connsiteX1" fmla="*/ 213588 w 762650"/>
                  <a:gd name="connsiteY1" fmla="*/ 988167 h 2354668"/>
                  <a:gd name="connsiteX2" fmla="*/ 0 w 762650"/>
                  <a:gd name="connsiteY2" fmla="*/ 1 h 2354668"/>
                  <a:gd name="connsiteX3" fmla="*/ 414269 w 762650"/>
                  <a:gd name="connsiteY3" fmla="*/ 664435 h 2354668"/>
                  <a:gd name="connsiteX4" fmla="*/ 622576 w 762650"/>
                  <a:gd name="connsiteY4" fmla="*/ 1568953 h 2354668"/>
                  <a:gd name="connsiteX5" fmla="*/ 762650 w 762650"/>
                  <a:gd name="connsiteY5" fmla="*/ 1788440 h 2354668"/>
                  <a:gd name="connsiteX6" fmla="*/ 647487 w 762650"/>
                  <a:gd name="connsiteY6" fmla="*/ 2354668 h 2354668"/>
                  <a:gd name="connsiteX7" fmla="*/ 21719 w 762650"/>
                  <a:gd name="connsiteY7" fmla="*/ 727317 h 2354668"/>
                  <a:gd name="connsiteX0" fmla="*/ 21719 w 773953"/>
                  <a:gd name="connsiteY0" fmla="*/ 727315 h 2354666"/>
                  <a:gd name="connsiteX1" fmla="*/ 213588 w 773953"/>
                  <a:gd name="connsiteY1" fmla="*/ 988165 h 2354666"/>
                  <a:gd name="connsiteX2" fmla="*/ 0 w 773953"/>
                  <a:gd name="connsiteY2" fmla="*/ -1 h 2354666"/>
                  <a:gd name="connsiteX3" fmla="*/ 414269 w 773953"/>
                  <a:gd name="connsiteY3" fmla="*/ 664433 h 2354666"/>
                  <a:gd name="connsiteX4" fmla="*/ 622576 w 773953"/>
                  <a:gd name="connsiteY4" fmla="*/ 1568951 h 2354666"/>
                  <a:gd name="connsiteX5" fmla="*/ 773953 w 773953"/>
                  <a:gd name="connsiteY5" fmla="*/ 1752355 h 2354666"/>
                  <a:gd name="connsiteX6" fmla="*/ 647487 w 773953"/>
                  <a:gd name="connsiteY6" fmla="*/ 2354666 h 2354666"/>
                  <a:gd name="connsiteX7" fmla="*/ 21719 w 773953"/>
                  <a:gd name="connsiteY7" fmla="*/ 727315 h 2354666"/>
                  <a:gd name="connsiteX0" fmla="*/ 21719 w 777058"/>
                  <a:gd name="connsiteY0" fmla="*/ 727317 h 2354668"/>
                  <a:gd name="connsiteX1" fmla="*/ 213588 w 777058"/>
                  <a:gd name="connsiteY1" fmla="*/ 988167 h 2354668"/>
                  <a:gd name="connsiteX2" fmla="*/ 0 w 777058"/>
                  <a:gd name="connsiteY2" fmla="*/ 1 h 2354668"/>
                  <a:gd name="connsiteX3" fmla="*/ 414269 w 777058"/>
                  <a:gd name="connsiteY3" fmla="*/ 664435 h 2354668"/>
                  <a:gd name="connsiteX4" fmla="*/ 622576 w 777058"/>
                  <a:gd name="connsiteY4" fmla="*/ 1568953 h 2354668"/>
                  <a:gd name="connsiteX5" fmla="*/ 777058 w 777058"/>
                  <a:gd name="connsiteY5" fmla="*/ 1826915 h 2354668"/>
                  <a:gd name="connsiteX6" fmla="*/ 647487 w 777058"/>
                  <a:gd name="connsiteY6" fmla="*/ 2354668 h 2354668"/>
                  <a:gd name="connsiteX7" fmla="*/ 21719 w 777058"/>
                  <a:gd name="connsiteY7" fmla="*/ 727317 h 2354668"/>
                  <a:gd name="connsiteX0" fmla="*/ 21719 w 777058"/>
                  <a:gd name="connsiteY0" fmla="*/ 727315 h 2354666"/>
                  <a:gd name="connsiteX1" fmla="*/ 213588 w 777058"/>
                  <a:gd name="connsiteY1" fmla="*/ 988165 h 2354666"/>
                  <a:gd name="connsiteX2" fmla="*/ 0 w 777058"/>
                  <a:gd name="connsiteY2" fmla="*/ -1 h 2354666"/>
                  <a:gd name="connsiteX3" fmla="*/ 414269 w 777058"/>
                  <a:gd name="connsiteY3" fmla="*/ 664433 h 2354666"/>
                  <a:gd name="connsiteX4" fmla="*/ 641442 w 777058"/>
                  <a:gd name="connsiteY4" fmla="*/ 1611965 h 2354666"/>
                  <a:gd name="connsiteX5" fmla="*/ 777058 w 777058"/>
                  <a:gd name="connsiteY5" fmla="*/ 1826913 h 2354666"/>
                  <a:gd name="connsiteX6" fmla="*/ 647487 w 777058"/>
                  <a:gd name="connsiteY6" fmla="*/ 2354666 h 2354666"/>
                  <a:gd name="connsiteX7" fmla="*/ 21719 w 777058"/>
                  <a:gd name="connsiteY7" fmla="*/ 727315 h 2354666"/>
                  <a:gd name="connsiteX0" fmla="*/ 21719 w 738305"/>
                  <a:gd name="connsiteY0" fmla="*/ 727317 h 2354668"/>
                  <a:gd name="connsiteX1" fmla="*/ 213588 w 738305"/>
                  <a:gd name="connsiteY1" fmla="*/ 988167 h 2354668"/>
                  <a:gd name="connsiteX2" fmla="*/ 0 w 738305"/>
                  <a:gd name="connsiteY2" fmla="*/ 1 h 2354668"/>
                  <a:gd name="connsiteX3" fmla="*/ 414269 w 738305"/>
                  <a:gd name="connsiteY3" fmla="*/ 664435 h 2354668"/>
                  <a:gd name="connsiteX4" fmla="*/ 641442 w 738305"/>
                  <a:gd name="connsiteY4" fmla="*/ 1611967 h 2354668"/>
                  <a:gd name="connsiteX5" fmla="*/ 738305 w 738305"/>
                  <a:gd name="connsiteY5" fmla="*/ 1767611 h 2354668"/>
                  <a:gd name="connsiteX6" fmla="*/ 647487 w 738305"/>
                  <a:gd name="connsiteY6" fmla="*/ 2354668 h 2354668"/>
                  <a:gd name="connsiteX7" fmla="*/ 21719 w 738305"/>
                  <a:gd name="connsiteY7" fmla="*/ 727317 h 2354668"/>
                  <a:gd name="connsiteX0" fmla="*/ 21719 w 738305"/>
                  <a:gd name="connsiteY0" fmla="*/ 727315 h 2509638"/>
                  <a:gd name="connsiteX1" fmla="*/ 213588 w 738305"/>
                  <a:gd name="connsiteY1" fmla="*/ 988165 h 2509638"/>
                  <a:gd name="connsiteX2" fmla="*/ 0 w 738305"/>
                  <a:gd name="connsiteY2" fmla="*/ -1 h 2509638"/>
                  <a:gd name="connsiteX3" fmla="*/ 414269 w 738305"/>
                  <a:gd name="connsiteY3" fmla="*/ 664433 h 2509638"/>
                  <a:gd name="connsiteX4" fmla="*/ 641442 w 738305"/>
                  <a:gd name="connsiteY4" fmla="*/ 1611965 h 2509638"/>
                  <a:gd name="connsiteX5" fmla="*/ 738305 w 738305"/>
                  <a:gd name="connsiteY5" fmla="*/ 1767609 h 2509638"/>
                  <a:gd name="connsiteX6" fmla="*/ 694493 w 738305"/>
                  <a:gd name="connsiteY6" fmla="*/ 2509637 h 2509638"/>
                  <a:gd name="connsiteX7" fmla="*/ 21719 w 738305"/>
                  <a:gd name="connsiteY7" fmla="*/ 727315 h 2509638"/>
                  <a:gd name="connsiteX0" fmla="*/ 21719 w 738305"/>
                  <a:gd name="connsiteY0" fmla="*/ 727317 h 2509638"/>
                  <a:gd name="connsiteX1" fmla="*/ 213588 w 738305"/>
                  <a:gd name="connsiteY1" fmla="*/ 988167 h 2509638"/>
                  <a:gd name="connsiteX2" fmla="*/ 0 w 738305"/>
                  <a:gd name="connsiteY2" fmla="*/ 1 h 2509638"/>
                  <a:gd name="connsiteX3" fmla="*/ 414269 w 738305"/>
                  <a:gd name="connsiteY3" fmla="*/ 664435 h 2509638"/>
                  <a:gd name="connsiteX4" fmla="*/ 646935 w 738305"/>
                  <a:gd name="connsiteY4" fmla="*/ 1641359 h 2509638"/>
                  <a:gd name="connsiteX5" fmla="*/ 738305 w 738305"/>
                  <a:gd name="connsiteY5" fmla="*/ 1767611 h 2509638"/>
                  <a:gd name="connsiteX6" fmla="*/ 694493 w 738305"/>
                  <a:gd name="connsiteY6" fmla="*/ 2509639 h 2509638"/>
                  <a:gd name="connsiteX7" fmla="*/ 21719 w 738305"/>
                  <a:gd name="connsiteY7" fmla="*/ 727317 h 2509638"/>
                  <a:gd name="connsiteX0" fmla="*/ 21719 w 738305"/>
                  <a:gd name="connsiteY0" fmla="*/ 727315 h 2509638"/>
                  <a:gd name="connsiteX1" fmla="*/ 213588 w 738305"/>
                  <a:gd name="connsiteY1" fmla="*/ 988165 h 2509638"/>
                  <a:gd name="connsiteX2" fmla="*/ 0 w 738305"/>
                  <a:gd name="connsiteY2" fmla="*/ -1 h 2509638"/>
                  <a:gd name="connsiteX3" fmla="*/ 414269 w 738305"/>
                  <a:gd name="connsiteY3" fmla="*/ 664433 h 2509638"/>
                  <a:gd name="connsiteX4" fmla="*/ 642643 w 738305"/>
                  <a:gd name="connsiteY4" fmla="*/ 1615173 h 2509638"/>
                  <a:gd name="connsiteX5" fmla="*/ 738305 w 738305"/>
                  <a:gd name="connsiteY5" fmla="*/ 1767609 h 2509638"/>
                  <a:gd name="connsiteX6" fmla="*/ 694493 w 738305"/>
                  <a:gd name="connsiteY6" fmla="*/ 2509637 h 2509638"/>
                  <a:gd name="connsiteX7" fmla="*/ 21719 w 738305"/>
                  <a:gd name="connsiteY7" fmla="*/ 727315 h 2509638"/>
                  <a:gd name="connsiteX0" fmla="*/ 21719 w 697495"/>
                  <a:gd name="connsiteY0" fmla="*/ 727317 h 2509638"/>
                  <a:gd name="connsiteX1" fmla="*/ 213588 w 697495"/>
                  <a:gd name="connsiteY1" fmla="*/ 988167 h 2509638"/>
                  <a:gd name="connsiteX2" fmla="*/ 0 w 697495"/>
                  <a:gd name="connsiteY2" fmla="*/ 1 h 2509638"/>
                  <a:gd name="connsiteX3" fmla="*/ 414269 w 697495"/>
                  <a:gd name="connsiteY3" fmla="*/ 664435 h 2509638"/>
                  <a:gd name="connsiteX4" fmla="*/ 642643 w 697495"/>
                  <a:gd name="connsiteY4" fmla="*/ 1615175 h 2509638"/>
                  <a:gd name="connsiteX5" fmla="*/ 697495 w 697495"/>
                  <a:gd name="connsiteY5" fmla="*/ 1710180 h 2509638"/>
                  <a:gd name="connsiteX6" fmla="*/ 694493 w 697495"/>
                  <a:gd name="connsiteY6" fmla="*/ 2509639 h 2509638"/>
                  <a:gd name="connsiteX7" fmla="*/ 21719 w 697495"/>
                  <a:gd name="connsiteY7" fmla="*/ 727317 h 2509638"/>
                  <a:gd name="connsiteX0" fmla="*/ 21719 w 775857"/>
                  <a:gd name="connsiteY0" fmla="*/ 727315 h 2509638"/>
                  <a:gd name="connsiteX1" fmla="*/ 213588 w 775857"/>
                  <a:gd name="connsiteY1" fmla="*/ 988165 h 2509638"/>
                  <a:gd name="connsiteX2" fmla="*/ 0 w 775857"/>
                  <a:gd name="connsiteY2" fmla="*/ -1 h 2509638"/>
                  <a:gd name="connsiteX3" fmla="*/ 414269 w 775857"/>
                  <a:gd name="connsiteY3" fmla="*/ 664433 h 2509638"/>
                  <a:gd name="connsiteX4" fmla="*/ 642643 w 775857"/>
                  <a:gd name="connsiteY4" fmla="*/ 1615173 h 2509638"/>
                  <a:gd name="connsiteX5" fmla="*/ 775857 w 775857"/>
                  <a:gd name="connsiteY5" fmla="*/ 1823706 h 2509638"/>
                  <a:gd name="connsiteX6" fmla="*/ 694493 w 775857"/>
                  <a:gd name="connsiteY6" fmla="*/ 2509637 h 2509638"/>
                  <a:gd name="connsiteX7" fmla="*/ 21719 w 775857"/>
                  <a:gd name="connsiteY7" fmla="*/ 727315 h 2509638"/>
                  <a:gd name="connsiteX0" fmla="*/ 21719 w 775857"/>
                  <a:gd name="connsiteY0" fmla="*/ 727317 h 2509638"/>
                  <a:gd name="connsiteX1" fmla="*/ 213588 w 775857"/>
                  <a:gd name="connsiteY1" fmla="*/ 988167 h 2509638"/>
                  <a:gd name="connsiteX2" fmla="*/ 0 w 775857"/>
                  <a:gd name="connsiteY2" fmla="*/ 1 h 2509638"/>
                  <a:gd name="connsiteX3" fmla="*/ 414269 w 775857"/>
                  <a:gd name="connsiteY3" fmla="*/ 664435 h 2509638"/>
                  <a:gd name="connsiteX4" fmla="*/ 642643 w 775857"/>
                  <a:gd name="connsiteY4" fmla="*/ 1615175 h 2509638"/>
                  <a:gd name="connsiteX5" fmla="*/ 775857 w 775857"/>
                  <a:gd name="connsiteY5" fmla="*/ 1823708 h 2509638"/>
                  <a:gd name="connsiteX6" fmla="*/ 694493 w 775857"/>
                  <a:gd name="connsiteY6" fmla="*/ 2509639 h 2509638"/>
                  <a:gd name="connsiteX7" fmla="*/ 21719 w 775857"/>
                  <a:gd name="connsiteY7" fmla="*/ 727317 h 2509638"/>
                  <a:gd name="connsiteX0" fmla="*/ 21719 w 775857"/>
                  <a:gd name="connsiteY0" fmla="*/ 727315 h 2509638"/>
                  <a:gd name="connsiteX1" fmla="*/ 213588 w 775857"/>
                  <a:gd name="connsiteY1" fmla="*/ 988165 h 2509638"/>
                  <a:gd name="connsiteX2" fmla="*/ 0 w 775857"/>
                  <a:gd name="connsiteY2" fmla="*/ -1 h 2509638"/>
                  <a:gd name="connsiteX3" fmla="*/ 414269 w 775857"/>
                  <a:gd name="connsiteY3" fmla="*/ 664433 h 2509638"/>
                  <a:gd name="connsiteX4" fmla="*/ 642643 w 775857"/>
                  <a:gd name="connsiteY4" fmla="*/ 1615173 h 2509638"/>
                  <a:gd name="connsiteX5" fmla="*/ 775857 w 775857"/>
                  <a:gd name="connsiteY5" fmla="*/ 1823706 h 2509638"/>
                  <a:gd name="connsiteX6" fmla="*/ 694493 w 775857"/>
                  <a:gd name="connsiteY6" fmla="*/ 2509637 h 2509638"/>
                  <a:gd name="connsiteX7" fmla="*/ 21719 w 775857"/>
                  <a:gd name="connsiteY7" fmla="*/ 727315 h 2509638"/>
                  <a:gd name="connsiteX0" fmla="*/ 21719 w 775857"/>
                  <a:gd name="connsiteY0" fmla="*/ 727317 h 2528916"/>
                  <a:gd name="connsiteX1" fmla="*/ 213588 w 775857"/>
                  <a:gd name="connsiteY1" fmla="*/ 988167 h 2528916"/>
                  <a:gd name="connsiteX2" fmla="*/ 0 w 775857"/>
                  <a:gd name="connsiteY2" fmla="*/ 1 h 2528916"/>
                  <a:gd name="connsiteX3" fmla="*/ 414269 w 775857"/>
                  <a:gd name="connsiteY3" fmla="*/ 664435 h 2528916"/>
                  <a:gd name="connsiteX4" fmla="*/ 642643 w 775857"/>
                  <a:gd name="connsiteY4" fmla="*/ 1615175 h 2528916"/>
                  <a:gd name="connsiteX5" fmla="*/ 775857 w 775857"/>
                  <a:gd name="connsiteY5" fmla="*/ 1823708 h 2528916"/>
                  <a:gd name="connsiteX6" fmla="*/ 635534 w 775857"/>
                  <a:gd name="connsiteY6" fmla="*/ 2528917 h 2528916"/>
                  <a:gd name="connsiteX7" fmla="*/ 21719 w 775857"/>
                  <a:gd name="connsiteY7" fmla="*/ 727317 h 2528916"/>
                  <a:gd name="connsiteX0" fmla="*/ 21719 w 775857"/>
                  <a:gd name="connsiteY0" fmla="*/ 727315 h 2528916"/>
                  <a:gd name="connsiteX1" fmla="*/ 213588 w 775857"/>
                  <a:gd name="connsiteY1" fmla="*/ 988165 h 2528916"/>
                  <a:gd name="connsiteX2" fmla="*/ 0 w 775857"/>
                  <a:gd name="connsiteY2" fmla="*/ -1 h 2528916"/>
                  <a:gd name="connsiteX3" fmla="*/ 414269 w 775857"/>
                  <a:gd name="connsiteY3" fmla="*/ 664433 h 2528916"/>
                  <a:gd name="connsiteX4" fmla="*/ 642643 w 775857"/>
                  <a:gd name="connsiteY4" fmla="*/ 1615173 h 2528916"/>
                  <a:gd name="connsiteX5" fmla="*/ 775857 w 775857"/>
                  <a:gd name="connsiteY5" fmla="*/ 1823706 h 2528916"/>
                  <a:gd name="connsiteX6" fmla="*/ 635534 w 775857"/>
                  <a:gd name="connsiteY6" fmla="*/ 2528915 h 2528916"/>
                  <a:gd name="connsiteX7" fmla="*/ 21719 w 775857"/>
                  <a:gd name="connsiteY7" fmla="*/ 727315 h 2528916"/>
                  <a:gd name="connsiteX0" fmla="*/ 0 w 754138"/>
                  <a:gd name="connsiteY0" fmla="*/ 388503 h 2190102"/>
                  <a:gd name="connsiteX1" fmla="*/ 191869 w 754138"/>
                  <a:gd name="connsiteY1" fmla="*/ 649353 h 2190102"/>
                  <a:gd name="connsiteX2" fmla="*/ 50018 w 754138"/>
                  <a:gd name="connsiteY2" fmla="*/ 0 h 2190102"/>
                  <a:gd name="connsiteX3" fmla="*/ 392550 w 754138"/>
                  <a:gd name="connsiteY3" fmla="*/ 325621 h 2190102"/>
                  <a:gd name="connsiteX4" fmla="*/ 620924 w 754138"/>
                  <a:gd name="connsiteY4" fmla="*/ 1276361 h 2190102"/>
                  <a:gd name="connsiteX5" fmla="*/ 754138 w 754138"/>
                  <a:gd name="connsiteY5" fmla="*/ 1484894 h 2190102"/>
                  <a:gd name="connsiteX6" fmla="*/ 613815 w 754138"/>
                  <a:gd name="connsiteY6" fmla="*/ 2190103 h 2190102"/>
                  <a:gd name="connsiteX7" fmla="*/ 0 w 754138"/>
                  <a:gd name="connsiteY7" fmla="*/ 388503 h 2190102"/>
                  <a:gd name="connsiteX0" fmla="*/ 0 w 754138"/>
                  <a:gd name="connsiteY0" fmla="*/ 388503 h 2190104"/>
                  <a:gd name="connsiteX1" fmla="*/ 191869 w 754138"/>
                  <a:gd name="connsiteY1" fmla="*/ 649353 h 2190104"/>
                  <a:gd name="connsiteX2" fmla="*/ 50018 w 754138"/>
                  <a:gd name="connsiteY2" fmla="*/ 0 h 2190104"/>
                  <a:gd name="connsiteX3" fmla="*/ 427065 w 754138"/>
                  <a:gd name="connsiteY3" fmla="*/ 565045 h 2190104"/>
                  <a:gd name="connsiteX4" fmla="*/ 620924 w 754138"/>
                  <a:gd name="connsiteY4" fmla="*/ 1276361 h 2190104"/>
                  <a:gd name="connsiteX5" fmla="*/ 754138 w 754138"/>
                  <a:gd name="connsiteY5" fmla="*/ 1484894 h 2190104"/>
                  <a:gd name="connsiteX6" fmla="*/ 613815 w 754138"/>
                  <a:gd name="connsiteY6" fmla="*/ 2190103 h 2190104"/>
                  <a:gd name="connsiteX7" fmla="*/ 0 w 754138"/>
                  <a:gd name="connsiteY7" fmla="*/ 388503 h 2190104"/>
                  <a:gd name="connsiteX0" fmla="*/ 0 w 754138"/>
                  <a:gd name="connsiteY0" fmla="*/ 388503 h 2190102"/>
                  <a:gd name="connsiteX1" fmla="*/ 191869 w 754138"/>
                  <a:gd name="connsiteY1" fmla="*/ 649353 h 2190102"/>
                  <a:gd name="connsiteX2" fmla="*/ 50018 w 754138"/>
                  <a:gd name="connsiteY2" fmla="*/ 0 h 2190102"/>
                  <a:gd name="connsiteX3" fmla="*/ 466164 w 754138"/>
                  <a:gd name="connsiteY3" fmla="*/ 632632 h 2190102"/>
                  <a:gd name="connsiteX4" fmla="*/ 620924 w 754138"/>
                  <a:gd name="connsiteY4" fmla="*/ 1276361 h 2190102"/>
                  <a:gd name="connsiteX5" fmla="*/ 754138 w 754138"/>
                  <a:gd name="connsiteY5" fmla="*/ 1484894 h 2190102"/>
                  <a:gd name="connsiteX6" fmla="*/ 613815 w 754138"/>
                  <a:gd name="connsiteY6" fmla="*/ 2190103 h 2190102"/>
                  <a:gd name="connsiteX7" fmla="*/ 0 w 754138"/>
                  <a:gd name="connsiteY7" fmla="*/ 388503 h 2190102"/>
                  <a:gd name="connsiteX0" fmla="*/ 0 w 754138"/>
                  <a:gd name="connsiteY0" fmla="*/ 388503 h 2190104"/>
                  <a:gd name="connsiteX1" fmla="*/ 191869 w 754138"/>
                  <a:gd name="connsiteY1" fmla="*/ 649353 h 2190104"/>
                  <a:gd name="connsiteX2" fmla="*/ 50018 w 754138"/>
                  <a:gd name="connsiteY2" fmla="*/ 0 h 2190104"/>
                  <a:gd name="connsiteX3" fmla="*/ 466164 w 754138"/>
                  <a:gd name="connsiteY3" fmla="*/ 632632 h 2190104"/>
                  <a:gd name="connsiteX4" fmla="*/ 620924 w 754138"/>
                  <a:gd name="connsiteY4" fmla="*/ 1276361 h 2190104"/>
                  <a:gd name="connsiteX5" fmla="*/ 754138 w 754138"/>
                  <a:gd name="connsiteY5" fmla="*/ 1484894 h 2190104"/>
                  <a:gd name="connsiteX6" fmla="*/ 613815 w 754138"/>
                  <a:gd name="connsiteY6" fmla="*/ 2190103 h 2190104"/>
                  <a:gd name="connsiteX7" fmla="*/ 0 w 754138"/>
                  <a:gd name="connsiteY7" fmla="*/ 388503 h 2190104"/>
                  <a:gd name="connsiteX0" fmla="*/ 0 w 754138"/>
                  <a:gd name="connsiteY0" fmla="*/ 388503 h 2190102"/>
                  <a:gd name="connsiteX1" fmla="*/ 246284 w 754138"/>
                  <a:gd name="connsiteY1" fmla="*/ 956642 h 2190102"/>
                  <a:gd name="connsiteX2" fmla="*/ 50018 w 754138"/>
                  <a:gd name="connsiteY2" fmla="*/ 0 h 2190102"/>
                  <a:gd name="connsiteX3" fmla="*/ 466164 w 754138"/>
                  <a:gd name="connsiteY3" fmla="*/ 632632 h 2190102"/>
                  <a:gd name="connsiteX4" fmla="*/ 620924 w 754138"/>
                  <a:gd name="connsiteY4" fmla="*/ 1276361 h 2190102"/>
                  <a:gd name="connsiteX5" fmla="*/ 754138 w 754138"/>
                  <a:gd name="connsiteY5" fmla="*/ 1484894 h 2190102"/>
                  <a:gd name="connsiteX6" fmla="*/ 613815 w 754138"/>
                  <a:gd name="connsiteY6" fmla="*/ 2190103 h 2190102"/>
                  <a:gd name="connsiteX7" fmla="*/ 0 w 754138"/>
                  <a:gd name="connsiteY7" fmla="*/ 388503 h 2190102"/>
                  <a:gd name="connsiteX0" fmla="*/ 35602 w 704120"/>
                  <a:gd name="connsiteY0" fmla="*/ 727576 h 2190104"/>
                  <a:gd name="connsiteX1" fmla="*/ 196266 w 704120"/>
                  <a:gd name="connsiteY1" fmla="*/ 956642 h 2190104"/>
                  <a:gd name="connsiteX2" fmla="*/ 0 w 704120"/>
                  <a:gd name="connsiteY2" fmla="*/ 0 h 2190104"/>
                  <a:gd name="connsiteX3" fmla="*/ 416146 w 704120"/>
                  <a:gd name="connsiteY3" fmla="*/ 632632 h 2190104"/>
                  <a:gd name="connsiteX4" fmla="*/ 570906 w 704120"/>
                  <a:gd name="connsiteY4" fmla="*/ 1276361 h 2190104"/>
                  <a:gd name="connsiteX5" fmla="*/ 704120 w 704120"/>
                  <a:gd name="connsiteY5" fmla="*/ 1484894 h 2190104"/>
                  <a:gd name="connsiteX6" fmla="*/ 563797 w 704120"/>
                  <a:gd name="connsiteY6" fmla="*/ 2190103 h 2190104"/>
                  <a:gd name="connsiteX7" fmla="*/ 35602 w 704120"/>
                  <a:gd name="connsiteY7" fmla="*/ 727576 h 2190104"/>
                  <a:gd name="connsiteX0" fmla="*/ 35602 w 704120"/>
                  <a:gd name="connsiteY0" fmla="*/ 727576 h 2190102"/>
                  <a:gd name="connsiteX1" fmla="*/ 196266 w 704120"/>
                  <a:gd name="connsiteY1" fmla="*/ 956642 h 2190102"/>
                  <a:gd name="connsiteX2" fmla="*/ 0 w 704120"/>
                  <a:gd name="connsiteY2" fmla="*/ 0 h 2190102"/>
                  <a:gd name="connsiteX3" fmla="*/ 416146 w 704120"/>
                  <a:gd name="connsiteY3" fmla="*/ 632632 h 2190102"/>
                  <a:gd name="connsiteX4" fmla="*/ 633202 w 704120"/>
                  <a:gd name="connsiteY4" fmla="*/ 1567878 h 2190102"/>
                  <a:gd name="connsiteX5" fmla="*/ 704120 w 704120"/>
                  <a:gd name="connsiteY5" fmla="*/ 1484894 h 2190102"/>
                  <a:gd name="connsiteX6" fmla="*/ 563797 w 704120"/>
                  <a:gd name="connsiteY6" fmla="*/ 2190103 h 2190102"/>
                  <a:gd name="connsiteX7" fmla="*/ 35602 w 704120"/>
                  <a:gd name="connsiteY7" fmla="*/ 727576 h 2190102"/>
                  <a:gd name="connsiteX0" fmla="*/ 35602 w 727662"/>
                  <a:gd name="connsiteY0" fmla="*/ 727576 h 2190104"/>
                  <a:gd name="connsiteX1" fmla="*/ 196266 w 727662"/>
                  <a:gd name="connsiteY1" fmla="*/ 956642 h 2190104"/>
                  <a:gd name="connsiteX2" fmla="*/ 0 w 727662"/>
                  <a:gd name="connsiteY2" fmla="*/ 0 h 2190104"/>
                  <a:gd name="connsiteX3" fmla="*/ 416146 w 727662"/>
                  <a:gd name="connsiteY3" fmla="*/ 632632 h 2190104"/>
                  <a:gd name="connsiteX4" fmla="*/ 633202 w 727662"/>
                  <a:gd name="connsiteY4" fmla="*/ 1567878 h 2190104"/>
                  <a:gd name="connsiteX5" fmla="*/ 727662 w 727662"/>
                  <a:gd name="connsiteY5" fmla="*/ 1717112 h 2190104"/>
                  <a:gd name="connsiteX6" fmla="*/ 563797 w 727662"/>
                  <a:gd name="connsiteY6" fmla="*/ 2190103 h 2190104"/>
                  <a:gd name="connsiteX7" fmla="*/ 35602 w 727662"/>
                  <a:gd name="connsiteY7" fmla="*/ 727576 h 2190104"/>
                  <a:gd name="connsiteX0" fmla="*/ 35602 w 727662"/>
                  <a:gd name="connsiteY0" fmla="*/ 727576 h 2190102"/>
                  <a:gd name="connsiteX1" fmla="*/ 196266 w 727662"/>
                  <a:gd name="connsiteY1" fmla="*/ 956642 h 2190102"/>
                  <a:gd name="connsiteX2" fmla="*/ 0 w 727662"/>
                  <a:gd name="connsiteY2" fmla="*/ 0 h 2190102"/>
                  <a:gd name="connsiteX3" fmla="*/ 416146 w 727662"/>
                  <a:gd name="connsiteY3" fmla="*/ 632632 h 2190102"/>
                  <a:gd name="connsiteX4" fmla="*/ 633202 w 727662"/>
                  <a:gd name="connsiteY4" fmla="*/ 1567878 h 2190102"/>
                  <a:gd name="connsiteX5" fmla="*/ 727662 w 727662"/>
                  <a:gd name="connsiteY5" fmla="*/ 1717112 h 2190102"/>
                  <a:gd name="connsiteX6" fmla="*/ 563797 w 727662"/>
                  <a:gd name="connsiteY6" fmla="*/ 2190103 h 2190102"/>
                  <a:gd name="connsiteX7" fmla="*/ 35602 w 727662"/>
                  <a:gd name="connsiteY7" fmla="*/ 727576 h 2190102"/>
                  <a:gd name="connsiteX0" fmla="*/ 35602 w 727662"/>
                  <a:gd name="connsiteY0" fmla="*/ 727576 h 2190104"/>
                  <a:gd name="connsiteX1" fmla="*/ 196266 w 727662"/>
                  <a:gd name="connsiteY1" fmla="*/ 956642 h 2190104"/>
                  <a:gd name="connsiteX2" fmla="*/ 0 w 727662"/>
                  <a:gd name="connsiteY2" fmla="*/ 0 h 2190104"/>
                  <a:gd name="connsiteX3" fmla="*/ 416146 w 727662"/>
                  <a:gd name="connsiteY3" fmla="*/ 632632 h 2190104"/>
                  <a:gd name="connsiteX4" fmla="*/ 633202 w 727662"/>
                  <a:gd name="connsiteY4" fmla="*/ 1567878 h 2190104"/>
                  <a:gd name="connsiteX5" fmla="*/ 727662 w 727662"/>
                  <a:gd name="connsiteY5" fmla="*/ 1717112 h 2190104"/>
                  <a:gd name="connsiteX6" fmla="*/ 563797 w 727662"/>
                  <a:gd name="connsiteY6" fmla="*/ 2190103 h 2190104"/>
                  <a:gd name="connsiteX7" fmla="*/ 35602 w 727662"/>
                  <a:gd name="connsiteY7" fmla="*/ 727576 h 2190104"/>
                  <a:gd name="connsiteX0" fmla="*/ 35602 w 727662"/>
                  <a:gd name="connsiteY0" fmla="*/ 727576 h 2132631"/>
                  <a:gd name="connsiteX1" fmla="*/ 196266 w 727662"/>
                  <a:gd name="connsiteY1" fmla="*/ 956642 h 2132631"/>
                  <a:gd name="connsiteX2" fmla="*/ 0 w 727662"/>
                  <a:gd name="connsiteY2" fmla="*/ 0 h 2132631"/>
                  <a:gd name="connsiteX3" fmla="*/ 416146 w 727662"/>
                  <a:gd name="connsiteY3" fmla="*/ 632632 h 2132631"/>
                  <a:gd name="connsiteX4" fmla="*/ 633202 w 727662"/>
                  <a:gd name="connsiteY4" fmla="*/ 1567878 h 2132631"/>
                  <a:gd name="connsiteX5" fmla="*/ 727662 w 727662"/>
                  <a:gd name="connsiteY5" fmla="*/ 1717112 h 2132631"/>
                  <a:gd name="connsiteX6" fmla="*/ 589150 w 727662"/>
                  <a:gd name="connsiteY6" fmla="*/ 2132631 h 2132631"/>
                  <a:gd name="connsiteX7" fmla="*/ 35602 w 727662"/>
                  <a:gd name="connsiteY7" fmla="*/ 727576 h 2132631"/>
                  <a:gd name="connsiteX0" fmla="*/ 35602 w 699881"/>
                  <a:gd name="connsiteY0" fmla="*/ 727576 h 2132631"/>
                  <a:gd name="connsiteX1" fmla="*/ 196266 w 699881"/>
                  <a:gd name="connsiteY1" fmla="*/ 956642 h 2132631"/>
                  <a:gd name="connsiteX2" fmla="*/ 0 w 699881"/>
                  <a:gd name="connsiteY2" fmla="*/ 0 h 2132631"/>
                  <a:gd name="connsiteX3" fmla="*/ 416146 w 699881"/>
                  <a:gd name="connsiteY3" fmla="*/ 632632 h 2132631"/>
                  <a:gd name="connsiteX4" fmla="*/ 633202 w 699881"/>
                  <a:gd name="connsiteY4" fmla="*/ 1567878 h 2132631"/>
                  <a:gd name="connsiteX5" fmla="*/ 699881 w 699881"/>
                  <a:gd name="connsiteY5" fmla="*/ 1665018 h 2132631"/>
                  <a:gd name="connsiteX6" fmla="*/ 589150 w 699881"/>
                  <a:gd name="connsiteY6" fmla="*/ 2132631 h 2132631"/>
                  <a:gd name="connsiteX7" fmla="*/ 35602 w 699881"/>
                  <a:gd name="connsiteY7" fmla="*/ 727576 h 2132631"/>
                  <a:gd name="connsiteX0" fmla="*/ 35602 w 699881"/>
                  <a:gd name="connsiteY0" fmla="*/ 727576 h 2132631"/>
                  <a:gd name="connsiteX1" fmla="*/ 196266 w 699881"/>
                  <a:gd name="connsiteY1" fmla="*/ 956642 h 2132631"/>
                  <a:gd name="connsiteX2" fmla="*/ 0 w 699881"/>
                  <a:gd name="connsiteY2" fmla="*/ 0 h 2132631"/>
                  <a:gd name="connsiteX3" fmla="*/ 416146 w 699881"/>
                  <a:gd name="connsiteY3" fmla="*/ 632632 h 2132631"/>
                  <a:gd name="connsiteX4" fmla="*/ 633202 w 699881"/>
                  <a:gd name="connsiteY4" fmla="*/ 1567878 h 2132631"/>
                  <a:gd name="connsiteX5" fmla="*/ 699881 w 699881"/>
                  <a:gd name="connsiteY5" fmla="*/ 1665018 h 2132631"/>
                  <a:gd name="connsiteX6" fmla="*/ 589150 w 699881"/>
                  <a:gd name="connsiteY6" fmla="*/ 2132631 h 2132631"/>
                  <a:gd name="connsiteX7" fmla="*/ 35602 w 699881"/>
                  <a:gd name="connsiteY7" fmla="*/ 727576 h 2132631"/>
                  <a:gd name="connsiteX0" fmla="*/ 35602 w 762980"/>
                  <a:gd name="connsiteY0" fmla="*/ 727576 h 2132631"/>
                  <a:gd name="connsiteX1" fmla="*/ 196266 w 762980"/>
                  <a:gd name="connsiteY1" fmla="*/ 956642 h 2132631"/>
                  <a:gd name="connsiteX2" fmla="*/ 0 w 762980"/>
                  <a:gd name="connsiteY2" fmla="*/ 0 h 2132631"/>
                  <a:gd name="connsiteX3" fmla="*/ 416146 w 762980"/>
                  <a:gd name="connsiteY3" fmla="*/ 632632 h 2132631"/>
                  <a:gd name="connsiteX4" fmla="*/ 633202 w 762980"/>
                  <a:gd name="connsiteY4" fmla="*/ 1567878 h 2132631"/>
                  <a:gd name="connsiteX5" fmla="*/ 762980 w 762980"/>
                  <a:gd name="connsiteY5" fmla="*/ 1745152 h 2132631"/>
                  <a:gd name="connsiteX6" fmla="*/ 589150 w 762980"/>
                  <a:gd name="connsiteY6" fmla="*/ 2132631 h 2132631"/>
                  <a:gd name="connsiteX7" fmla="*/ 35602 w 762980"/>
                  <a:gd name="connsiteY7" fmla="*/ 727576 h 2132631"/>
                  <a:gd name="connsiteX0" fmla="*/ 35602 w 762980"/>
                  <a:gd name="connsiteY0" fmla="*/ 727576 h 2132631"/>
                  <a:gd name="connsiteX1" fmla="*/ 196266 w 762980"/>
                  <a:gd name="connsiteY1" fmla="*/ 956642 h 2132631"/>
                  <a:gd name="connsiteX2" fmla="*/ 0 w 762980"/>
                  <a:gd name="connsiteY2" fmla="*/ 0 h 2132631"/>
                  <a:gd name="connsiteX3" fmla="*/ 416146 w 762980"/>
                  <a:gd name="connsiteY3" fmla="*/ 632632 h 2132631"/>
                  <a:gd name="connsiteX4" fmla="*/ 633202 w 762980"/>
                  <a:gd name="connsiteY4" fmla="*/ 1567878 h 2132631"/>
                  <a:gd name="connsiteX5" fmla="*/ 762980 w 762980"/>
                  <a:gd name="connsiteY5" fmla="*/ 1745152 h 2132631"/>
                  <a:gd name="connsiteX6" fmla="*/ 589150 w 762980"/>
                  <a:gd name="connsiteY6" fmla="*/ 2132631 h 2132631"/>
                  <a:gd name="connsiteX7" fmla="*/ 35602 w 762980"/>
                  <a:gd name="connsiteY7" fmla="*/ 727576 h 2132631"/>
                  <a:gd name="connsiteX0" fmla="*/ 35602 w 762980"/>
                  <a:gd name="connsiteY0" fmla="*/ 727576 h 2132631"/>
                  <a:gd name="connsiteX1" fmla="*/ 196266 w 762980"/>
                  <a:gd name="connsiteY1" fmla="*/ 956642 h 2132631"/>
                  <a:gd name="connsiteX2" fmla="*/ 0 w 762980"/>
                  <a:gd name="connsiteY2" fmla="*/ 0 h 2132631"/>
                  <a:gd name="connsiteX3" fmla="*/ 416146 w 762980"/>
                  <a:gd name="connsiteY3" fmla="*/ 632632 h 2132631"/>
                  <a:gd name="connsiteX4" fmla="*/ 633202 w 762980"/>
                  <a:gd name="connsiteY4" fmla="*/ 1567878 h 2132631"/>
                  <a:gd name="connsiteX5" fmla="*/ 762980 w 762980"/>
                  <a:gd name="connsiteY5" fmla="*/ 1745152 h 2132631"/>
                  <a:gd name="connsiteX6" fmla="*/ 589150 w 762980"/>
                  <a:gd name="connsiteY6" fmla="*/ 2132631 h 2132631"/>
                  <a:gd name="connsiteX7" fmla="*/ 35602 w 762980"/>
                  <a:gd name="connsiteY7" fmla="*/ 727576 h 2132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980" h="2132631">
                    <a:moveTo>
                      <a:pt x="35602" y="727576"/>
                    </a:moveTo>
                    <a:lnTo>
                      <a:pt x="196266" y="956642"/>
                    </a:lnTo>
                    <a:cubicBezTo>
                      <a:pt x="87440" y="455598"/>
                      <a:pt x="91492" y="417943"/>
                      <a:pt x="0" y="0"/>
                    </a:cubicBezTo>
                    <a:lnTo>
                      <a:pt x="416146" y="632632"/>
                    </a:lnTo>
                    <a:cubicBezTo>
                      <a:pt x="508748" y="1037723"/>
                      <a:pt x="551930" y="1229859"/>
                      <a:pt x="633202" y="1567878"/>
                    </a:cubicBezTo>
                    <a:lnTo>
                      <a:pt x="762980" y="1745152"/>
                    </a:lnTo>
                    <a:cubicBezTo>
                      <a:pt x="666654" y="1926453"/>
                      <a:pt x="677935" y="1958198"/>
                      <a:pt x="589150" y="2132631"/>
                    </a:cubicBezTo>
                    <a:lnTo>
                      <a:pt x="35602" y="72757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Arial"/>
                </a:endParaRPr>
              </a:p>
            </p:txBody>
          </p:sp>
        </p:grp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C5BCC6F-7AD7-A329-81BF-952EEE179E13}"/>
              </a:ext>
            </a:extLst>
          </p:cNvPr>
          <p:cNvSpPr txBox="1"/>
          <p:nvPr/>
        </p:nvSpPr>
        <p:spPr>
          <a:xfrm>
            <a:off x="3714369" y="9415907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b="1" dirty="0"/>
              <a:t>Batería termofotovoltaica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4A4E6C3-BAA8-CBF3-2687-619300EFBE62}"/>
              </a:ext>
            </a:extLst>
          </p:cNvPr>
          <p:cNvCxnSpPr/>
          <p:nvPr/>
        </p:nvCxnSpPr>
        <p:spPr>
          <a:xfrm flipV="1">
            <a:off x="11997053" y="4649979"/>
            <a:ext cx="0" cy="22099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A6C0D14-18AE-5F25-CDAA-3208E2E1627A}"/>
              </a:ext>
            </a:extLst>
          </p:cNvPr>
          <p:cNvCxnSpPr/>
          <p:nvPr/>
        </p:nvCxnSpPr>
        <p:spPr>
          <a:xfrm>
            <a:off x="11997053" y="6859976"/>
            <a:ext cx="449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BDF6A74-317E-41B2-D2BF-8FB5B34EC6A5}"/>
              </a:ext>
            </a:extLst>
          </p:cNvPr>
          <p:cNvSpPr txBox="1"/>
          <p:nvPr/>
        </p:nvSpPr>
        <p:spPr>
          <a:xfrm>
            <a:off x="10542625" y="4209113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4A7EBB"/>
                </a:solidFill>
              </a:rPr>
              <a:t>Precio</a:t>
            </a:r>
            <a:r>
              <a:rPr lang="en-US" dirty="0">
                <a:solidFill>
                  <a:srgbClr val="4A7EBB"/>
                </a:solidFill>
              </a:rPr>
              <a:t> (euro/MWh)</a:t>
            </a:r>
            <a:endParaRPr lang="es-CL" dirty="0">
              <a:solidFill>
                <a:srgbClr val="4A7EBB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B94579D-BA84-CB27-135C-F397A87DEB5A}"/>
              </a:ext>
            </a:extLst>
          </p:cNvPr>
          <p:cNvSpPr txBox="1"/>
          <p:nvPr/>
        </p:nvSpPr>
        <p:spPr>
          <a:xfrm>
            <a:off x="16599718" y="6642314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A7EBB"/>
                </a:solidFill>
              </a:rPr>
              <a:t>Hora</a:t>
            </a:r>
            <a:endParaRPr lang="es-CL" dirty="0">
              <a:solidFill>
                <a:srgbClr val="4A7EBB"/>
              </a:solidFill>
            </a:endParaRP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B874ACEC-917F-FAFA-8DE6-538B914DBDE3}"/>
              </a:ext>
            </a:extLst>
          </p:cNvPr>
          <p:cNvSpPr/>
          <p:nvPr/>
        </p:nvSpPr>
        <p:spPr>
          <a:xfrm>
            <a:off x="12162710" y="4656410"/>
            <a:ext cx="4361122" cy="2170570"/>
          </a:xfrm>
          <a:custGeom>
            <a:avLst/>
            <a:gdLst>
              <a:gd name="connsiteX0" fmla="*/ 0 w 4717143"/>
              <a:gd name="connsiteY0" fmla="*/ 738616 h 2240193"/>
              <a:gd name="connsiteX1" fmla="*/ 994228 w 4717143"/>
              <a:gd name="connsiteY1" fmla="*/ 716844 h 2240193"/>
              <a:gd name="connsiteX2" fmla="*/ 1233714 w 4717143"/>
              <a:gd name="connsiteY2" fmla="*/ 1355473 h 2240193"/>
              <a:gd name="connsiteX3" fmla="*/ 1393371 w 4717143"/>
              <a:gd name="connsiteY3" fmla="*/ 1914273 h 2240193"/>
              <a:gd name="connsiteX4" fmla="*/ 2133600 w 4717143"/>
              <a:gd name="connsiteY4" fmla="*/ 2182787 h 2240193"/>
              <a:gd name="connsiteX5" fmla="*/ 2844800 w 4717143"/>
              <a:gd name="connsiteY5" fmla="*/ 2204558 h 2240193"/>
              <a:gd name="connsiteX6" fmla="*/ 3214914 w 4717143"/>
              <a:gd name="connsiteY6" fmla="*/ 1776387 h 2240193"/>
              <a:gd name="connsiteX7" fmla="*/ 3425371 w 4717143"/>
              <a:gd name="connsiteY7" fmla="*/ 1115987 h 2240193"/>
              <a:gd name="connsiteX8" fmla="*/ 3635828 w 4717143"/>
              <a:gd name="connsiteY8" fmla="*/ 426558 h 2240193"/>
              <a:gd name="connsiteX9" fmla="*/ 3976914 w 4717143"/>
              <a:gd name="connsiteY9" fmla="*/ 34673 h 2240193"/>
              <a:gd name="connsiteX10" fmla="*/ 4717143 w 4717143"/>
              <a:gd name="connsiteY10" fmla="*/ 12901 h 224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7143" h="2240193">
                <a:moveTo>
                  <a:pt x="0" y="738616"/>
                </a:moveTo>
                <a:cubicBezTo>
                  <a:pt x="394304" y="676325"/>
                  <a:pt x="788609" y="614035"/>
                  <a:pt x="994228" y="716844"/>
                </a:cubicBezTo>
                <a:cubicBezTo>
                  <a:pt x="1199847" y="819653"/>
                  <a:pt x="1167190" y="1155902"/>
                  <a:pt x="1233714" y="1355473"/>
                </a:cubicBezTo>
                <a:cubicBezTo>
                  <a:pt x="1300238" y="1555044"/>
                  <a:pt x="1243390" y="1776387"/>
                  <a:pt x="1393371" y="1914273"/>
                </a:cubicBezTo>
                <a:cubicBezTo>
                  <a:pt x="1543352" y="2052159"/>
                  <a:pt x="1891695" y="2134406"/>
                  <a:pt x="2133600" y="2182787"/>
                </a:cubicBezTo>
                <a:cubicBezTo>
                  <a:pt x="2375505" y="2231168"/>
                  <a:pt x="2664581" y="2272291"/>
                  <a:pt x="2844800" y="2204558"/>
                </a:cubicBezTo>
                <a:cubicBezTo>
                  <a:pt x="3025019" y="2136825"/>
                  <a:pt x="3118152" y="1957816"/>
                  <a:pt x="3214914" y="1776387"/>
                </a:cubicBezTo>
                <a:cubicBezTo>
                  <a:pt x="3311676" y="1594959"/>
                  <a:pt x="3355219" y="1340958"/>
                  <a:pt x="3425371" y="1115987"/>
                </a:cubicBezTo>
                <a:cubicBezTo>
                  <a:pt x="3495523" y="891016"/>
                  <a:pt x="3543904" y="606777"/>
                  <a:pt x="3635828" y="426558"/>
                </a:cubicBezTo>
                <a:cubicBezTo>
                  <a:pt x="3727752" y="246339"/>
                  <a:pt x="3796695" y="103616"/>
                  <a:pt x="3976914" y="34673"/>
                </a:cubicBezTo>
                <a:cubicBezTo>
                  <a:pt x="4157133" y="-34270"/>
                  <a:pt x="4593771" y="22577"/>
                  <a:pt x="4717143" y="12901"/>
                </a:cubicBezTo>
              </a:path>
            </a:pathLst>
          </a:custGeom>
          <a:noFill/>
          <a:ln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33" name="Group 2050">
            <a:extLst>
              <a:ext uri="{FF2B5EF4-FFF2-40B4-BE49-F238E27FC236}">
                <a16:creationId xmlns:a16="http://schemas.microsoft.com/office/drawing/2014/main" id="{8DD30831-C8C2-A219-B613-407AFD5CE680}"/>
              </a:ext>
            </a:extLst>
          </p:cNvPr>
          <p:cNvGrpSpPr/>
          <p:nvPr/>
        </p:nvGrpSpPr>
        <p:grpSpPr>
          <a:xfrm>
            <a:off x="12055845" y="5739044"/>
            <a:ext cx="4493811" cy="640515"/>
            <a:chOff x="845059" y="2164839"/>
            <a:chExt cx="4493811" cy="1122344"/>
          </a:xfrm>
        </p:grpSpPr>
        <p:grpSp>
          <p:nvGrpSpPr>
            <p:cNvPr id="34" name="Group 62">
              <a:extLst>
                <a:ext uri="{FF2B5EF4-FFF2-40B4-BE49-F238E27FC236}">
                  <a16:creationId xmlns:a16="http://schemas.microsoft.com/office/drawing/2014/main" id="{CD8E88C5-5CA8-E2DD-AD5C-ECC5E64BEAD0}"/>
                </a:ext>
              </a:extLst>
            </p:cNvPr>
            <p:cNvGrpSpPr/>
            <p:nvPr/>
          </p:nvGrpSpPr>
          <p:grpSpPr>
            <a:xfrm>
              <a:off x="845059" y="2164839"/>
              <a:ext cx="4474729" cy="1122344"/>
              <a:chOff x="778574" y="1743002"/>
              <a:chExt cx="4474729" cy="1122344"/>
            </a:xfrm>
          </p:grpSpPr>
          <p:sp>
            <p:nvSpPr>
              <p:cNvPr id="37" name="Rectangle 5">
                <a:extLst>
                  <a:ext uri="{FF2B5EF4-FFF2-40B4-BE49-F238E27FC236}">
                    <a16:creationId xmlns:a16="http://schemas.microsoft.com/office/drawing/2014/main" id="{D62542AF-6270-11A5-6D74-863E1BD5A5AE}"/>
                  </a:ext>
                </a:extLst>
              </p:cNvPr>
              <p:cNvSpPr/>
              <p:nvPr/>
            </p:nvSpPr>
            <p:spPr>
              <a:xfrm>
                <a:off x="778574" y="1946059"/>
                <a:ext cx="4474729" cy="716233"/>
              </a:xfrm>
              <a:prstGeom prst="rect">
                <a:avLst/>
              </a:prstGeom>
              <a:solidFill>
                <a:srgbClr val="595959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38" name="Text Placeholder 1">
                <a:extLst>
                  <a:ext uri="{FF2B5EF4-FFF2-40B4-BE49-F238E27FC236}">
                    <a16:creationId xmlns:a16="http://schemas.microsoft.com/office/drawing/2014/main" id="{8295D20C-CB7C-1705-B439-F819CA5A90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9875" y="1743002"/>
                <a:ext cx="3175613" cy="1122344"/>
              </a:xfrm>
              <a:prstGeom prst="rect">
                <a:avLst/>
              </a:prstGeom>
            </p:spPr>
            <p:txBody>
              <a:bodyPr vert="horz" wrap="square" lIns="180000" tIns="180000" rIns="180000" bIns="180000" rtlCol="0" anchor="b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CL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Precio</a:t>
                </a:r>
                <a:r>
                  <a:rPr 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del gas</a:t>
                </a:r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cxnSp>
          <p:nvCxnSpPr>
            <p:cNvPr id="35" name="Straight Connector 2047">
              <a:extLst>
                <a:ext uri="{FF2B5EF4-FFF2-40B4-BE49-F238E27FC236}">
                  <a16:creationId xmlns:a16="http://schemas.microsoft.com/office/drawing/2014/main" id="{E6FBC305-E913-5238-FC92-8453C5833C3B}"/>
                </a:ext>
              </a:extLst>
            </p:cNvPr>
            <p:cNvCxnSpPr/>
            <p:nvPr/>
          </p:nvCxnSpPr>
          <p:spPr>
            <a:xfrm>
              <a:off x="864141" y="2376619"/>
              <a:ext cx="447472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2048">
              <a:extLst>
                <a:ext uri="{FF2B5EF4-FFF2-40B4-BE49-F238E27FC236}">
                  <a16:creationId xmlns:a16="http://schemas.microsoft.com/office/drawing/2014/main" id="{87B9C5A0-425A-37D2-E167-07D2DC0F96E2}"/>
                </a:ext>
              </a:extLst>
            </p:cNvPr>
            <p:cNvCxnSpPr/>
            <p:nvPr/>
          </p:nvCxnSpPr>
          <p:spPr>
            <a:xfrm>
              <a:off x="864141" y="3084129"/>
              <a:ext cx="447472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orma libre: forma 38">
            <a:extLst>
              <a:ext uri="{FF2B5EF4-FFF2-40B4-BE49-F238E27FC236}">
                <a16:creationId xmlns:a16="http://schemas.microsoft.com/office/drawing/2014/main" id="{4E4B0283-0C08-5413-3EDB-ECE5BEDB05AF}"/>
              </a:ext>
            </a:extLst>
          </p:cNvPr>
          <p:cNvSpPr/>
          <p:nvPr/>
        </p:nvSpPr>
        <p:spPr>
          <a:xfrm>
            <a:off x="13391513" y="6288476"/>
            <a:ext cx="1748790" cy="487680"/>
          </a:xfrm>
          <a:custGeom>
            <a:avLst/>
            <a:gdLst>
              <a:gd name="connsiteX0" fmla="*/ 0 w 1748790"/>
              <a:gd name="connsiteY0" fmla="*/ 11430 h 487680"/>
              <a:gd name="connsiteX1" fmla="*/ 91440 w 1748790"/>
              <a:gd name="connsiteY1" fmla="*/ 186690 h 487680"/>
              <a:gd name="connsiteX2" fmla="*/ 247650 w 1748790"/>
              <a:gd name="connsiteY2" fmla="*/ 270510 h 487680"/>
              <a:gd name="connsiteX3" fmla="*/ 468630 w 1748790"/>
              <a:gd name="connsiteY3" fmla="*/ 339090 h 487680"/>
              <a:gd name="connsiteX4" fmla="*/ 845820 w 1748790"/>
              <a:gd name="connsiteY4" fmla="*/ 430530 h 487680"/>
              <a:gd name="connsiteX5" fmla="*/ 1085850 w 1748790"/>
              <a:gd name="connsiteY5" fmla="*/ 487680 h 487680"/>
              <a:gd name="connsiteX6" fmla="*/ 1306830 w 1748790"/>
              <a:gd name="connsiteY6" fmla="*/ 480060 h 487680"/>
              <a:gd name="connsiteX7" fmla="*/ 1432560 w 1748790"/>
              <a:gd name="connsiteY7" fmla="*/ 400050 h 487680"/>
              <a:gd name="connsiteX8" fmla="*/ 1535430 w 1748790"/>
              <a:gd name="connsiteY8" fmla="*/ 297180 h 487680"/>
              <a:gd name="connsiteX9" fmla="*/ 1607820 w 1748790"/>
              <a:gd name="connsiteY9" fmla="*/ 201930 h 487680"/>
              <a:gd name="connsiteX10" fmla="*/ 1748790 w 1748790"/>
              <a:gd name="connsiteY10" fmla="*/ 0 h 487680"/>
              <a:gd name="connsiteX11" fmla="*/ 0 w 1748790"/>
              <a:gd name="connsiteY11" fmla="*/ 11430 h 48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48790" h="487680">
                <a:moveTo>
                  <a:pt x="0" y="11430"/>
                </a:moveTo>
                <a:lnTo>
                  <a:pt x="91440" y="186690"/>
                </a:lnTo>
                <a:lnTo>
                  <a:pt x="247650" y="270510"/>
                </a:lnTo>
                <a:lnTo>
                  <a:pt x="468630" y="339090"/>
                </a:lnTo>
                <a:lnTo>
                  <a:pt x="845820" y="430530"/>
                </a:lnTo>
                <a:lnTo>
                  <a:pt x="1085850" y="487680"/>
                </a:lnTo>
                <a:lnTo>
                  <a:pt x="1306830" y="480060"/>
                </a:lnTo>
                <a:lnTo>
                  <a:pt x="1432560" y="400050"/>
                </a:lnTo>
                <a:lnTo>
                  <a:pt x="1535430" y="297180"/>
                </a:lnTo>
                <a:lnTo>
                  <a:pt x="1607820" y="201930"/>
                </a:lnTo>
                <a:lnTo>
                  <a:pt x="1748790" y="0"/>
                </a:lnTo>
                <a:lnTo>
                  <a:pt x="0" y="11430"/>
                </a:lnTo>
                <a:close/>
              </a:path>
            </a:pathLst>
          </a:custGeom>
          <a:solidFill>
            <a:srgbClr val="B2E5B1"/>
          </a:solidFill>
          <a:ln>
            <a:solidFill>
              <a:srgbClr val="B2E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423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1">
            <a:extLst>
              <a:ext uri="{FF2B5EF4-FFF2-40B4-BE49-F238E27FC236}">
                <a16:creationId xmlns:a16="http://schemas.microsoft.com/office/drawing/2014/main" id="{C55B4882-68A1-B525-6168-B40E0F711FFF}"/>
              </a:ext>
            </a:extLst>
          </p:cNvPr>
          <p:cNvSpPr/>
          <p:nvPr/>
        </p:nvSpPr>
        <p:spPr>
          <a:xfrm>
            <a:off x="13819849" y="2720108"/>
            <a:ext cx="3443462" cy="5963639"/>
          </a:xfrm>
          <a:prstGeom prst="roundRect">
            <a:avLst>
              <a:gd name="adj" fmla="val 11275"/>
            </a:avLst>
          </a:prstGeom>
          <a:solidFill>
            <a:srgbClr val="1E293B">
              <a:alpha val="95000"/>
            </a:srgbClr>
          </a:solidFill>
          <a:ln w="9525">
            <a:solidFill>
              <a:srgbClr val="94A3B8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90A53EAA-E185-6A4A-170D-FD9032C6EA90}"/>
              </a:ext>
            </a:extLst>
          </p:cNvPr>
          <p:cNvSpPr/>
          <p:nvPr/>
        </p:nvSpPr>
        <p:spPr>
          <a:xfrm>
            <a:off x="9533541" y="2735814"/>
            <a:ext cx="3443462" cy="5963639"/>
          </a:xfrm>
          <a:prstGeom prst="roundRect">
            <a:avLst>
              <a:gd name="adj" fmla="val 11275"/>
            </a:avLst>
          </a:prstGeom>
          <a:solidFill>
            <a:srgbClr val="1E293B">
              <a:alpha val="95000"/>
            </a:srgbClr>
          </a:solidFill>
          <a:ln w="9525">
            <a:solidFill>
              <a:srgbClr val="94A3B8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ED073E3C-AE54-482F-0DA8-E7D64AD39575}"/>
              </a:ext>
            </a:extLst>
          </p:cNvPr>
          <p:cNvSpPr/>
          <p:nvPr/>
        </p:nvSpPr>
        <p:spPr>
          <a:xfrm>
            <a:off x="5216521" y="2720108"/>
            <a:ext cx="3443462" cy="5963639"/>
          </a:xfrm>
          <a:prstGeom prst="roundRect">
            <a:avLst>
              <a:gd name="adj" fmla="val 11275"/>
            </a:avLst>
          </a:prstGeom>
          <a:solidFill>
            <a:srgbClr val="1E293B">
              <a:alpha val="95000"/>
            </a:srgbClr>
          </a:solidFill>
          <a:ln w="9525">
            <a:solidFill>
              <a:srgbClr val="94A3B8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4080F75-A06B-FF68-BC8A-BC42EEDA6CB2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Flujo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compra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/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venta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sistema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eléctrico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CF5EA0C-9B93-A0E2-C505-FA5EE832A8F9}"/>
              </a:ext>
            </a:extLst>
          </p:cNvPr>
          <p:cNvSpPr/>
          <p:nvPr/>
        </p:nvSpPr>
        <p:spPr>
          <a:xfrm>
            <a:off x="2398016" y="3978655"/>
            <a:ext cx="228600" cy="228600"/>
          </a:xfrm>
          <a:prstGeom prst="roundRect">
            <a:avLst>
              <a:gd name="adj" fmla="val 2000000"/>
            </a:avLst>
          </a:prstGeom>
          <a:solidFill>
            <a:srgbClr val="E5E7EB"/>
          </a:solidFill>
          <a:ln w="57150">
            <a:solidFill>
              <a:srgbClr val="38BDF8"/>
            </a:solidFill>
          </a:ln>
          <a:effectLst>
            <a:outerShdw blurRad="101600" dist="50800" dir="16200000" algn="bl" rotWithShape="0">
              <a:srgbClr val="38BDF8">
                <a:alpha val="15000"/>
              </a:srgbClr>
            </a:outerShdw>
          </a:effectLst>
        </p:spPr>
        <p:txBody>
          <a:bodyPr wrap="non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B57F9EC-28B4-6CBC-91E5-D7757D1CBE90}"/>
              </a:ext>
            </a:extLst>
          </p:cNvPr>
          <p:cNvSpPr/>
          <p:nvPr/>
        </p:nvSpPr>
        <p:spPr>
          <a:xfrm>
            <a:off x="899501" y="2731601"/>
            <a:ext cx="3443462" cy="5963639"/>
          </a:xfrm>
          <a:prstGeom prst="roundRect">
            <a:avLst>
              <a:gd name="adj" fmla="val 11275"/>
            </a:avLst>
          </a:prstGeom>
          <a:solidFill>
            <a:srgbClr val="1E293B">
              <a:alpha val="95000"/>
            </a:srgbClr>
          </a:solidFill>
          <a:ln w="9525">
            <a:solidFill>
              <a:srgbClr val="94A3B8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2B5711DB-5604-AA51-570A-1CD285DD85BB}"/>
              </a:ext>
            </a:extLst>
          </p:cNvPr>
          <p:cNvSpPr/>
          <p:nvPr/>
        </p:nvSpPr>
        <p:spPr>
          <a:xfrm>
            <a:off x="2016807" y="2911959"/>
            <a:ext cx="1203233" cy="471430"/>
          </a:xfrm>
          <a:prstGeom prst="roundRect">
            <a:avLst>
              <a:gd name="adj" fmla="val 39960000"/>
            </a:avLst>
          </a:prstGeom>
          <a:solidFill>
            <a:srgbClr val="E2E8F0"/>
          </a:solidFill>
          <a:ln/>
        </p:spPr>
        <p:txBody>
          <a:bodyPr wrap="square" lIns="85725" tIns="85725" rIns="85725" bIns="85725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DB12B6F-86CA-3863-F744-0547F1FF7DD9}"/>
              </a:ext>
            </a:extLst>
          </p:cNvPr>
          <p:cNvSpPr/>
          <p:nvPr/>
        </p:nvSpPr>
        <p:spPr>
          <a:xfrm>
            <a:off x="6673497" y="2306570"/>
            <a:ext cx="228600" cy="228600"/>
          </a:xfrm>
          <a:prstGeom prst="roundRect">
            <a:avLst>
              <a:gd name="adj" fmla="val 2000000"/>
            </a:avLst>
          </a:prstGeom>
          <a:solidFill>
            <a:srgbClr val="E5E7EB"/>
          </a:solidFill>
          <a:ln w="57150">
            <a:solidFill>
              <a:srgbClr val="F59E0B"/>
            </a:solidFill>
          </a:ln>
          <a:effectLst>
            <a:outerShdw blurRad="101600" dist="50800" dir="16200000" algn="bl" rotWithShape="0">
              <a:srgbClr val="38BDF8">
                <a:alpha val="15000"/>
              </a:srgbClr>
            </a:outerShdw>
          </a:effectLst>
        </p:spPr>
        <p:txBody>
          <a:bodyPr wrap="none" lIns="0" tIns="0" rIns="0" bIns="0" rtlCol="0" anchor="ctr">
            <a:normAutofit fontScale="6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66CFA38-01FA-BF18-C252-75902E711B6D}"/>
              </a:ext>
            </a:extLst>
          </p:cNvPr>
          <p:cNvSpPr/>
          <p:nvPr/>
        </p:nvSpPr>
        <p:spPr>
          <a:xfrm>
            <a:off x="11140972" y="2319399"/>
            <a:ext cx="228600" cy="228600"/>
          </a:xfrm>
          <a:prstGeom prst="roundRect">
            <a:avLst>
              <a:gd name="adj" fmla="val 2000000"/>
            </a:avLst>
          </a:prstGeom>
          <a:solidFill>
            <a:srgbClr val="E5E7EB"/>
          </a:solidFill>
          <a:ln w="57150">
            <a:solidFill>
              <a:srgbClr val="22C55E"/>
            </a:solidFill>
          </a:ln>
          <a:effectLst>
            <a:outerShdw blurRad="101600" dist="50800" dir="16200000" algn="bl" rotWithShape="0">
              <a:srgbClr val="38BDF8">
                <a:alpha val="15000"/>
              </a:srgbClr>
            </a:outerShdw>
          </a:effectLst>
        </p:spPr>
        <p:txBody>
          <a:bodyPr wrap="none" lIns="0" tIns="0" rIns="0" bIns="0" rtlCol="0" anchor="ctr">
            <a:normAutofit fontScale="6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6A2D60FA-2D41-3D70-0D0C-5B3329D67F36}"/>
              </a:ext>
            </a:extLst>
          </p:cNvPr>
          <p:cNvSpPr/>
          <p:nvPr/>
        </p:nvSpPr>
        <p:spPr>
          <a:xfrm>
            <a:off x="15377722" y="2306571"/>
            <a:ext cx="228600" cy="228600"/>
          </a:xfrm>
          <a:prstGeom prst="roundRect">
            <a:avLst>
              <a:gd name="adj" fmla="val 2000000"/>
            </a:avLst>
          </a:prstGeom>
          <a:solidFill>
            <a:srgbClr val="E5E7EB"/>
          </a:solidFill>
          <a:ln w="57150">
            <a:solidFill>
              <a:srgbClr val="22C55E"/>
            </a:solidFill>
          </a:ln>
          <a:effectLst>
            <a:outerShdw blurRad="101600" dist="50800" dir="16200000" algn="bl" rotWithShape="0">
              <a:srgbClr val="38BDF8">
                <a:alpha val="15000"/>
              </a:srgbClr>
            </a:outerShdw>
          </a:effectLst>
        </p:spPr>
        <p:txBody>
          <a:bodyPr wrap="none" lIns="0" tIns="0" rIns="0" bIns="0" rtlCol="0" anchor="ctr">
            <a:normAutofit fontScale="6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D82A824-9A40-8BD3-D9F4-FDF26E825BC3}"/>
              </a:ext>
            </a:extLst>
          </p:cNvPr>
          <p:cNvSpPr/>
          <p:nvPr/>
        </p:nvSpPr>
        <p:spPr>
          <a:xfrm>
            <a:off x="4349664" y="6018550"/>
            <a:ext cx="809625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A2A62B1F-A6EA-A5A9-1974-13905DB4AED6}"/>
              </a:ext>
            </a:extLst>
          </p:cNvPr>
          <p:cNvSpPr/>
          <p:nvPr/>
        </p:nvSpPr>
        <p:spPr>
          <a:xfrm>
            <a:off x="8659223" y="6018551"/>
            <a:ext cx="809625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0B9836B-7111-464C-2DE3-94635976E05E}"/>
              </a:ext>
            </a:extLst>
          </p:cNvPr>
          <p:cNvSpPr/>
          <p:nvPr/>
        </p:nvSpPr>
        <p:spPr>
          <a:xfrm>
            <a:off x="1585094" y="3765162"/>
            <a:ext cx="2225870" cy="347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85"/>
              </a:lnSpc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Generadoras</a:t>
            </a:r>
            <a:endParaRPr lang="en-US" sz="28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73C743C-8BC9-6BE3-C035-2BD4771E90D5}"/>
              </a:ext>
            </a:extLst>
          </p:cNvPr>
          <p:cNvSpPr/>
          <p:nvPr/>
        </p:nvSpPr>
        <p:spPr>
          <a:xfrm>
            <a:off x="1184464" y="4305974"/>
            <a:ext cx="3027130" cy="504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Venden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energía al sistema.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Ofertan producción según su tecnología y disponibilidad.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Reciben pagos según contratos y liquidaciones del mercado.</a:t>
            </a: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60E64DD-3434-1FF8-325E-E69011CB74FC}"/>
              </a:ext>
            </a:extLst>
          </p:cNvPr>
          <p:cNvSpPr/>
          <p:nvPr/>
        </p:nvSpPr>
        <p:spPr>
          <a:xfrm>
            <a:off x="6516131" y="3906314"/>
            <a:ext cx="1962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85"/>
              </a:lnSpc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</a:t>
            </a:r>
            <a:endParaRPr lang="en-US" sz="28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8CCB1B47-0426-55CE-B450-C2289A408624}"/>
              </a:ext>
            </a:extLst>
          </p:cNvPr>
          <p:cNvSpPr/>
          <p:nvPr/>
        </p:nvSpPr>
        <p:spPr>
          <a:xfrm>
            <a:off x="5451883" y="4255749"/>
            <a:ext cx="3075475" cy="380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compra ni vende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energía.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 el despacho y la operación segura del sistema.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y gestiona transferencias y balances operativos.</a:t>
            </a:r>
            <a:endParaRPr lang="en-US" sz="24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872EE73-74E1-9CD7-EEE6-D6EF08AB1432}"/>
              </a:ext>
            </a:extLst>
          </p:cNvPr>
          <p:cNvSpPr/>
          <p:nvPr/>
        </p:nvSpPr>
        <p:spPr>
          <a:xfrm>
            <a:off x="9834781" y="3887723"/>
            <a:ext cx="2709321" cy="19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85"/>
              </a:lnSpc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Distribuidoras</a:t>
            </a:r>
            <a:endParaRPr lang="en-US" sz="28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587145CC-6D6D-84D4-B724-EB8B6A7DA332}"/>
              </a:ext>
            </a:extLst>
          </p:cNvPr>
          <p:cNvSpPr/>
          <p:nvPr/>
        </p:nvSpPr>
        <p:spPr>
          <a:xfrm>
            <a:off x="9714690" y="4324461"/>
            <a:ext cx="3262313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Compran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energía para abastecer clientes regulados.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Trasladan suministro a hogares y pequeños consumos.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 bajo contratos y regulación tarifaria.</a:t>
            </a:r>
            <a:endParaRPr lang="en-US" sz="24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329678F7-7017-0213-7DD5-F09276C04FB4}"/>
              </a:ext>
            </a:extLst>
          </p:cNvPr>
          <p:cNvSpPr/>
          <p:nvPr/>
        </p:nvSpPr>
        <p:spPr>
          <a:xfrm>
            <a:off x="6313213" y="2916809"/>
            <a:ext cx="1203233" cy="471430"/>
          </a:xfrm>
          <a:prstGeom prst="roundRect">
            <a:avLst>
              <a:gd name="adj" fmla="val 39960000"/>
            </a:avLst>
          </a:prstGeom>
          <a:solidFill>
            <a:srgbClr val="E2E8F0"/>
          </a:solidFill>
          <a:ln/>
        </p:spPr>
        <p:txBody>
          <a:bodyPr wrap="square" lIns="85725" tIns="85725" rIns="85725" bIns="85725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4324DB85-0551-76FF-8FE7-F6992DDAD39A}"/>
              </a:ext>
            </a:extLst>
          </p:cNvPr>
          <p:cNvSpPr/>
          <p:nvPr/>
        </p:nvSpPr>
        <p:spPr>
          <a:xfrm>
            <a:off x="14002104" y="4329220"/>
            <a:ext cx="3259835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Compran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directamente a </a:t>
            </a:r>
            <a:r>
              <a:rPr lang="en-US" sz="24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generadora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r>
              <a:rPr lang="en-US" sz="2400" dirty="0" err="1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Negocian</a:t>
            </a: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precio, plazo y condiciones del contrato.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Normalmente son mineras, industrias y grandes consumidores.</a:t>
            </a:r>
            <a:endParaRPr lang="en-US" sz="24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D56B5926-A3D4-3191-C032-BD0C6886542C}"/>
              </a:ext>
            </a:extLst>
          </p:cNvPr>
          <p:cNvSpPr/>
          <p:nvPr/>
        </p:nvSpPr>
        <p:spPr>
          <a:xfrm>
            <a:off x="14235127" y="3524060"/>
            <a:ext cx="2862645" cy="6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libres / grandes empresas</a:t>
            </a:r>
            <a:endParaRPr lang="en-US" sz="2400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09D819A5-A0CB-5483-46CE-448ACD81C9E1}"/>
              </a:ext>
            </a:extLst>
          </p:cNvPr>
          <p:cNvSpPr/>
          <p:nvPr/>
        </p:nvSpPr>
        <p:spPr>
          <a:xfrm>
            <a:off x="10705730" y="2927667"/>
            <a:ext cx="1203233" cy="471430"/>
          </a:xfrm>
          <a:prstGeom prst="roundRect">
            <a:avLst>
              <a:gd name="adj" fmla="val 39960000"/>
            </a:avLst>
          </a:prstGeom>
          <a:solidFill>
            <a:srgbClr val="E2E8F0"/>
          </a:solidFill>
          <a:ln/>
        </p:spPr>
        <p:txBody>
          <a:bodyPr wrap="square" lIns="85725" tIns="85725" rIns="85725" bIns="85725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dirty="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92550787-AFBE-CC7D-A2D9-DBC0D3EA20D9}"/>
              </a:ext>
            </a:extLst>
          </p:cNvPr>
          <p:cNvSpPr/>
          <p:nvPr/>
        </p:nvSpPr>
        <p:spPr>
          <a:xfrm>
            <a:off x="2469429" y="2373478"/>
            <a:ext cx="228600" cy="228600"/>
          </a:xfrm>
          <a:prstGeom prst="roundRect">
            <a:avLst>
              <a:gd name="adj" fmla="val 2000000"/>
            </a:avLst>
          </a:prstGeom>
          <a:solidFill>
            <a:srgbClr val="E5E7EB"/>
          </a:solidFill>
          <a:ln w="5715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101600" dist="50800" dir="16200000" algn="bl" rotWithShape="0">
              <a:srgbClr val="38BDF8">
                <a:alpha val="15000"/>
              </a:srgbClr>
            </a:outerShdw>
          </a:effectLst>
        </p:spPr>
        <p:txBody>
          <a:bodyPr wrap="none" lIns="0" tIns="0" rIns="0" bIns="0" rtlCol="0" anchor="ctr">
            <a:normAutofit fontScale="6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659C9621-C685-5A0F-45E5-64AA7990A1F6}"/>
              </a:ext>
            </a:extLst>
          </p:cNvPr>
          <p:cNvSpPr/>
          <p:nvPr/>
        </p:nvSpPr>
        <p:spPr>
          <a:xfrm>
            <a:off x="13029078" y="6028807"/>
            <a:ext cx="809625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E80E12-D698-8266-41D4-8C226A8D329F}"/>
              </a:ext>
            </a:extLst>
          </p:cNvPr>
          <p:cNvSpPr txBox="1"/>
          <p:nvPr/>
        </p:nvSpPr>
        <p:spPr>
          <a:xfrm>
            <a:off x="973111" y="9339552"/>
            <a:ext cx="13733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/>
              <a:t>* La </a:t>
            </a:r>
            <a:r>
              <a:rPr lang="es-CL" sz="2400" b="1" dirty="0"/>
              <a:t>barra Crucero</a:t>
            </a:r>
            <a:r>
              <a:rPr lang="es-CL" sz="2400" dirty="0"/>
              <a:t> forma parte del sistema coordinado por el Coordinador Eléctrico Nacional (CEN).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DBAC4C-8DD5-345C-3CB4-2E3ECDADAC2B}"/>
              </a:ext>
            </a:extLst>
          </p:cNvPr>
          <p:cNvSpPr/>
          <p:nvPr/>
        </p:nvSpPr>
        <p:spPr>
          <a:xfrm>
            <a:off x="15004705" y="2927667"/>
            <a:ext cx="1203233" cy="471430"/>
          </a:xfrm>
          <a:prstGeom prst="roundRect">
            <a:avLst>
              <a:gd name="adj" fmla="val 39960000"/>
            </a:avLst>
          </a:prstGeom>
          <a:solidFill>
            <a:srgbClr val="E2E8F0"/>
          </a:solidFill>
          <a:ln/>
        </p:spPr>
        <p:txBody>
          <a:bodyPr wrap="square" lIns="85725" tIns="85725" rIns="85725" bIns="85725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0"/>
            <a:ext cx="2546351" cy="2546351"/>
          </a:xfrm>
          <a:custGeom>
            <a:avLst/>
            <a:gdLst/>
            <a:ahLst/>
            <a:cxnLst/>
            <a:rect l="l" t="t" r="r" b="b"/>
            <a:pathLst>
              <a:path w="2546351" h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539707C-D5D9-8D93-7008-69A52DC34A44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Ubicación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la barra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Crucero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887F85-522A-768F-1EE3-7110A964B6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8568" r="2500" b="20370"/>
          <a:stretch/>
        </p:blipFill>
        <p:spPr>
          <a:xfrm>
            <a:off x="7108133" y="3314700"/>
            <a:ext cx="10993552" cy="65037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9F5F03-3A72-D4FC-28AD-D076EFAF2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51517"/>
            <a:ext cx="6557539" cy="644958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8A4897F-7103-2A39-E160-F4F5E54BE583}"/>
              </a:ext>
            </a:extLst>
          </p:cNvPr>
          <p:cNvSpPr txBox="1"/>
          <p:nvPr/>
        </p:nvSpPr>
        <p:spPr>
          <a:xfrm>
            <a:off x="7108133" y="2577749"/>
            <a:ext cx="10435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/>
              <a:t>En términos simples: es un “nodo” clave donde pasa y se distribuye electricidad.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67EA75D-37A3-1812-2D42-B1968484834A}"/>
              </a:ext>
            </a:extLst>
          </p:cNvPr>
          <p:cNvSpPr/>
          <p:nvPr/>
        </p:nvSpPr>
        <p:spPr>
          <a:xfrm>
            <a:off x="4495800" y="4610100"/>
            <a:ext cx="4572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167DBD-9E6C-9B26-076B-EC32EB048496}"/>
              </a:ext>
            </a:extLst>
          </p:cNvPr>
          <p:cNvSpPr txBox="1"/>
          <p:nvPr/>
        </p:nvSpPr>
        <p:spPr>
          <a:xfrm>
            <a:off x="4038600" y="5172661"/>
            <a:ext cx="1371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Barra </a:t>
            </a:r>
            <a:r>
              <a:rPr lang="en-US" sz="1600" dirty="0" err="1"/>
              <a:t>Crucero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31425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0"/>
            <a:ext cx="2546351" cy="2546351"/>
          </a:xfrm>
          <a:custGeom>
            <a:avLst/>
            <a:gdLst/>
            <a:ahLst/>
            <a:cxnLst/>
            <a:rect l="l" t="t" r="r" b="b"/>
            <a:pathLst>
              <a:path w="2546351" h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539707C-D5D9-8D93-7008-69A52DC34A44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Ubicación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la barra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Crucero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4" name="Video ubicacion">
            <a:hlinkClick r:id="" action="ppaction://media"/>
            <a:extLst>
              <a:ext uri="{FF2B5EF4-FFF2-40B4-BE49-F238E27FC236}">
                <a16:creationId xmlns:a16="http://schemas.microsoft.com/office/drawing/2014/main" id="{18C9F111-6E5A-A8F4-6472-93445E0AB2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73737" y="2546351"/>
            <a:ext cx="12177757" cy="686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6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854"/>
    </mc:Choice>
    <mc:Fallback xmlns="">
      <p:transition spd="slow" advTm="45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897158"/>
            <a:ext cx="18288000" cy="3733800"/>
            <a:chOff x="0" y="-38100"/>
            <a:chExt cx="4446725" cy="9122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6725" cy="874186"/>
            </a:xfrm>
            <a:custGeom>
              <a:avLst/>
              <a:gdLst/>
              <a:ahLst/>
              <a:cxnLst/>
              <a:rect l="l" t="t" r="r" b="b"/>
              <a:pathLst>
                <a:path w="4446725" h="874186">
                  <a:moveTo>
                    <a:pt x="16508" y="0"/>
                  </a:moveTo>
                  <a:lnTo>
                    <a:pt x="4430218" y="0"/>
                  </a:lnTo>
                  <a:cubicBezTo>
                    <a:pt x="4434596" y="0"/>
                    <a:pt x="4438794" y="1739"/>
                    <a:pt x="4441890" y="4835"/>
                  </a:cubicBezTo>
                  <a:cubicBezTo>
                    <a:pt x="4444986" y="7931"/>
                    <a:pt x="4446725" y="12130"/>
                    <a:pt x="4446725" y="16508"/>
                  </a:cubicBezTo>
                  <a:lnTo>
                    <a:pt x="4446725" y="857678"/>
                  </a:lnTo>
                  <a:cubicBezTo>
                    <a:pt x="4446725" y="862056"/>
                    <a:pt x="4444986" y="866255"/>
                    <a:pt x="4441890" y="869351"/>
                  </a:cubicBezTo>
                  <a:cubicBezTo>
                    <a:pt x="4438794" y="872447"/>
                    <a:pt x="4434596" y="874186"/>
                    <a:pt x="4430218" y="874186"/>
                  </a:cubicBezTo>
                  <a:lnTo>
                    <a:pt x="16508" y="874186"/>
                  </a:lnTo>
                  <a:cubicBezTo>
                    <a:pt x="12130" y="874186"/>
                    <a:pt x="7931" y="872447"/>
                    <a:pt x="4835" y="869351"/>
                  </a:cubicBezTo>
                  <a:cubicBezTo>
                    <a:pt x="1739" y="866255"/>
                    <a:pt x="0" y="862056"/>
                    <a:pt x="0" y="857678"/>
                  </a:cubicBezTo>
                  <a:lnTo>
                    <a:pt x="0" y="16508"/>
                  </a:lnTo>
                  <a:cubicBezTo>
                    <a:pt x="0" y="12130"/>
                    <a:pt x="1739" y="7931"/>
                    <a:pt x="4835" y="4835"/>
                  </a:cubicBezTo>
                  <a:cubicBezTo>
                    <a:pt x="7931" y="1739"/>
                    <a:pt x="12130" y="0"/>
                    <a:pt x="16508" y="0"/>
                  </a:cubicBezTo>
                  <a:close/>
                </a:path>
              </a:pathLst>
            </a:custGeom>
            <a:solidFill>
              <a:srgbClr val="D1FAE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6725" cy="912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64089" y="4761681"/>
            <a:ext cx="1085511" cy="1036170"/>
          </a:xfrm>
          <a:custGeom>
            <a:avLst/>
            <a:gdLst/>
            <a:ahLst/>
            <a:cxnLst/>
            <a:rect l="l" t="t" r="r" b="b"/>
            <a:pathLst>
              <a:path w="1085511" h="1036170">
                <a:moveTo>
                  <a:pt x="0" y="0"/>
                </a:moveTo>
                <a:lnTo>
                  <a:pt x="1085511" y="0"/>
                </a:lnTo>
                <a:lnTo>
                  <a:pt x="1085511" y="1036170"/>
                </a:lnTo>
                <a:lnTo>
                  <a:pt x="0" y="1036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233021" y="1028700"/>
            <a:ext cx="4026279" cy="1310371"/>
          </a:xfrm>
          <a:custGeom>
            <a:avLst/>
            <a:gdLst/>
            <a:ahLst/>
            <a:cxnLst/>
            <a:rect l="l" t="t" r="r" b="b"/>
            <a:pathLst>
              <a:path w="4026279" h="1310371">
                <a:moveTo>
                  <a:pt x="0" y="0"/>
                </a:moveTo>
                <a:lnTo>
                  <a:pt x="4026279" y="0"/>
                </a:lnTo>
                <a:lnTo>
                  <a:pt x="4026279" y="1310371"/>
                </a:lnTo>
                <a:lnTo>
                  <a:pt x="0" y="1310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47725"/>
            <a:ext cx="8312264" cy="151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  <a:endParaRPr lang="en-US" sz="54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055242" y="6338364"/>
            <a:ext cx="2880989" cy="862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-CL" sz="2499" b="1" dirty="0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Mostrar uso de </a:t>
            </a:r>
            <a:r>
              <a:rPr lang="es-CL" sz="2499" b="1" dirty="0" err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clusters</a:t>
            </a:r>
            <a:endParaRPr lang="es-CL" sz="2499" b="1" dirty="0">
              <a:solidFill>
                <a:srgbClr val="6B728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7875309-EA53-8067-3E9F-1F782B801168}"/>
              </a:ext>
            </a:extLst>
          </p:cNvPr>
          <p:cNvGrpSpPr/>
          <p:nvPr/>
        </p:nvGrpSpPr>
        <p:grpSpPr>
          <a:xfrm>
            <a:off x="4295730" y="4463389"/>
            <a:ext cx="12951995" cy="4490111"/>
            <a:chOff x="2966902" y="4281312"/>
            <a:chExt cx="12951995" cy="4490111"/>
          </a:xfrm>
        </p:grpSpPr>
        <p:sp>
          <p:nvSpPr>
            <p:cNvPr id="5" name="Freeform 5"/>
            <p:cNvSpPr/>
            <p:nvPr/>
          </p:nvSpPr>
          <p:spPr>
            <a:xfrm>
              <a:off x="14666299" y="4281312"/>
              <a:ext cx="1252598" cy="1261775"/>
            </a:xfrm>
            <a:custGeom>
              <a:avLst/>
              <a:gdLst/>
              <a:ahLst/>
              <a:cxnLst/>
              <a:rect l="l" t="t" r="r" b="b"/>
              <a:pathLst>
                <a:path w="1252598" h="1261775">
                  <a:moveTo>
                    <a:pt x="0" y="0"/>
                  </a:moveTo>
                  <a:lnTo>
                    <a:pt x="1252599" y="0"/>
                  </a:lnTo>
                  <a:lnTo>
                    <a:pt x="1252599" y="1261775"/>
                  </a:lnTo>
                  <a:lnTo>
                    <a:pt x="0" y="1261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2966902" y="6338364"/>
              <a:ext cx="3733319" cy="862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s-CL" sz="2499" b="1" dirty="0">
                  <a:solidFill>
                    <a:srgbClr val="6B728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Examinar la estructura del conjunto de datos</a:t>
              </a:r>
              <a:endParaRPr lang="en-US" sz="2499" b="1" dirty="0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66902" y="7460423"/>
              <a:ext cx="3465149" cy="13110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s-CL" sz="2499" dirty="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Entiende el tipo y las características de los datos.</a:t>
              </a:r>
              <a:endParaRPr lang="en-US" sz="2499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B6C5062-9396-C04C-1412-FCF045048735}"/>
              </a:ext>
            </a:extLst>
          </p:cNvPr>
          <p:cNvGrpSpPr/>
          <p:nvPr/>
        </p:nvGrpSpPr>
        <p:grpSpPr>
          <a:xfrm>
            <a:off x="8394412" y="6495425"/>
            <a:ext cx="3064118" cy="1984218"/>
            <a:chOff x="6987873" y="6338364"/>
            <a:chExt cx="3064118" cy="1984218"/>
          </a:xfrm>
        </p:grpSpPr>
        <p:sp>
          <p:nvSpPr>
            <p:cNvPr id="12" name="TextBox 12"/>
            <p:cNvSpPr txBox="1"/>
            <p:nvPr/>
          </p:nvSpPr>
          <p:spPr>
            <a:xfrm>
              <a:off x="6987873" y="6338364"/>
              <a:ext cx="3064118" cy="862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s-CL" sz="2499" b="1" dirty="0">
                  <a:solidFill>
                    <a:srgbClr val="6B728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Seleccionar</a:t>
              </a:r>
              <a:r>
                <a:rPr lang="en-US" sz="2499" b="1" dirty="0">
                  <a:solidFill>
                    <a:srgbClr val="6B728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variables clave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87873" y="7460423"/>
              <a:ext cx="3064118" cy="862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Y </a:t>
              </a:r>
              <a:r>
                <a:rPr lang="en-US" sz="2499" dirty="0" err="1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limpieza</a:t>
              </a:r>
              <a:r>
                <a:rPr lang="en-US" sz="2499" dirty="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del data set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C7FB9BB0-478D-975C-975D-F014CAD170F2}"/>
              </a:ext>
            </a:extLst>
          </p:cNvPr>
          <p:cNvGrpSpPr/>
          <p:nvPr/>
        </p:nvGrpSpPr>
        <p:grpSpPr>
          <a:xfrm>
            <a:off x="11722404" y="4567610"/>
            <a:ext cx="3241326" cy="4354205"/>
            <a:chOff x="10895464" y="4410549"/>
            <a:chExt cx="3241326" cy="4354205"/>
          </a:xfrm>
        </p:grpSpPr>
        <p:sp>
          <p:nvSpPr>
            <p:cNvPr id="7" name="Freeform 7"/>
            <p:cNvSpPr/>
            <p:nvPr/>
          </p:nvSpPr>
          <p:spPr>
            <a:xfrm>
              <a:off x="11721070" y="4410549"/>
              <a:ext cx="1539474" cy="1242776"/>
            </a:xfrm>
            <a:custGeom>
              <a:avLst/>
              <a:gdLst/>
              <a:ahLst/>
              <a:cxnLst/>
              <a:rect l="l" t="t" r="r" b="b"/>
              <a:pathLst>
                <a:path w="1539474" h="1242776">
                  <a:moveTo>
                    <a:pt x="0" y="0"/>
                  </a:moveTo>
                  <a:lnTo>
                    <a:pt x="1539474" y="0"/>
                  </a:lnTo>
                  <a:lnTo>
                    <a:pt x="1539474" y="1242775"/>
                  </a:lnTo>
                  <a:lnTo>
                    <a:pt x="0" y="124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95464" y="6338364"/>
              <a:ext cx="3241326" cy="862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s-CL" sz="2499" b="1">
                  <a:solidFill>
                    <a:srgbClr val="6B728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Predecir el costo de la energía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9853" y="7460423"/>
              <a:ext cx="2652548" cy="1304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3499"/>
                </a:lnSpc>
                <a:spcBef>
                  <a:spcPct val="0"/>
                </a:spcBef>
                <a:tabLst>
                  <a:tab pos="228600" algn="l"/>
                </a:tabLst>
              </a:pPr>
              <a:r>
                <a:rPr lang="es-CL" sz="2499" dirty="0">
                  <a:solidFill>
                    <a:srgbClr val="6B7280"/>
                  </a:solidFill>
                  <a:latin typeface="Inter"/>
                  <a:ea typeface="Inter"/>
                </a:rPr>
                <a:t>A partir de variables meteorológicas.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115309" y="7316647"/>
            <a:ext cx="2652548" cy="1759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-CL" sz="2499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Apoyar decisiones con una visión más anticipada.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0A349664-D0EB-D4A1-CE7B-600CB734B026}"/>
              </a:ext>
            </a:extLst>
          </p:cNvPr>
          <p:cNvSpPr txBox="1"/>
          <p:nvPr/>
        </p:nvSpPr>
        <p:spPr>
          <a:xfrm>
            <a:off x="457200" y="6563581"/>
            <a:ext cx="3733319" cy="413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-CL" sz="2499" b="1" dirty="0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Extracción de datos</a:t>
            </a:r>
            <a:endParaRPr lang="en-US" sz="2499" b="1" dirty="0">
              <a:solidFill>
                <a:srgbClr val="6B728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E57E30FB-D611-27E3-2EB2-3BBF787DD5C8}"/>
              </a:ext>
            </a:extLst>
          </p:cNvPr>
          <p:cNvSpPr txBox="1"/>
          <p:nvPr/>
        </p:nvSpPr>
        <p:spPr>
          <a:xfrm>
            <a:off x="551449" y="7099188"/>
            <a:ext cx="3465149" cy="1759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-CL" sz="2499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Mixta: </a:t>
            </a:r>
            <a:r>
              <a:rPr lang="es-CL" sz="2499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Webscraping</a:t>
            </a:r>
            <a:r>
              <a:rPr lang="es-CL" sz="2499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de y extracción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s-CL" sz="2499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directa de data sets de páginas web</a:t>
            </a:r>
            <a:endParaRPr lang="en-US" sz="2499" dirty="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Freeform 6"/>
          <p:cNvSpPr/>
          <p:nvPr/>
        </p:nvSpPr>
        <p:spPr>
          <a:xfrm>
            <a:off x="5286330" y="4487306"/>
            <a:ext cx="1249592" cy="1242776"/>
          </a:xfrm>
          <a:custGeom>
            <a:avLst/>
            <a:gdLst/>
            <a:ahLst/>
            <a:cxnLst/>
            <a:rect l="l" t="t" r="r" b="b"/>
            <a:pathLst>
              <a:path w="1249592" h="1242776">
                <a:moveTo>
                  <a:pt x="0" y="0"/>
                </a:moveTo>
                <a:lnTo>
                  <a:pt x="1249592" y="0"/>
                </a:lnTo>
                <a:lnTo>
                  <a:pt x="1249592" y="1242776"/>
                </a:lnTo>
                <a:lnTo>
                  <a:pt x="0" y="1242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2EE83214-ABEA-E9FB-FE0A-5794F47DB7D2}"/>
              </a:ext>
            </a:extLst>
          </p:cNvPr>
          <p:cNvSpPr/>
          <p:nvPr/>
        </p:nvSpPr>
        <p:spPr>
          <a:xfrm>
            <a:off x="9293294" y="4726516"/>
            <a:ext cx="1017986" cy="1040692"/>
          </a:xfrm>
          <a:custGeom>
            <a:avLst/>
            <a:gdLst/>
            <a:ahLst/>
            <a:cxnLst/>
            <a:rect l="l" t="t" r="r" b="b"/>
            <a:pathLst>
              <a:path w="1017986" h="1040692">
                <a:moveTo>
                  <a:pt x="0" y="0"/>
                </a:moveTo>
                <a:lnTo>
                  <a:pt x="1017986" y="0"/>
                </a:lnTo>
                <a:lnTo>
                  <a:pt x="1017986" y="1040692"/>
                </a:lnTo>
                <a:lnTo>
                  <a:pt x="0" y="10406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4917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49721" y="3477294"/>
            <a:ext cx="2614487" cy="2614487"/>
          </a:xfrm>
          <a:custGeom>
            <a:avLst/>
            <a:gdLst/>
            <a:ahLst/>
            <a:cxnLst/>
            <a:rect l="l" t="t" r="r" b="b"/>
            <a:pathLst>
              <a:path w="2614487" h="2614487">
                <a:moveTo>
                  <a:pt x="0" y="0"/>
                </a:moveTo>
                <a:lnTo>
                  <a:pt x="2614487" y="0"/>
                </a:lnTo>
                <a:lnTo>
                  <a:pt x="2614487" y="2614486"/>
                </a:lnTo>
                <a:lnTo>
                  <a:pt x="0" y="261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32665" y="4382536"/>
            <a:ext cx="1179232" cy="969114"/>
          </a:xfrm>
          <a:custGeom>
            <a:avLst/>
            <a:gdLst/>
            <a:ahLst/>
            <a:cxnLst/>
            <a:rect l="l" t="t" r="r" b="b"/>
            <a:pathLst>
              <a:path w="1179232" h="969114">
                <a:moveTo>
                  <a:pt x="0" y="0"/>
                </a:moveTo>
                <a:lnTo>
                  <a:pt x="1179233" y="0"/>
                </a:lnTo>
                <a:lnTo>
                  <a:pt x="1179233" y="969114"/>
                </a:lnTo>
                <a:lnTo>
                  <a:pt x="0" y="969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22281" y="1787525"/>
            <a:ext cx="1919435" cy="1661184"/>
          </a:xfrm>
          <a:custGeom>
            <a:avLst/>
            <a:gdLst/>
            <a:ahLst/>
            <a:cxnLst/>
            <a:rect l="l" t="t" r="r" b="b"/>
            <a:pathLst>
              <a:path w="1919435" h="1661184">
                <a:moveTo>
                  <a:pt x="0" y="0"/>
                </a:moveTo>
                <a:lnTo>
                  <a:pt x="1919435" y="0"/>
                </a:lnTo>
                <a:lnTo>
                  <a:pt x="1919435" y="1661184"/>
                </a:lnTo>
                <a:lnTo>
                  <a:pt x="0" y="1661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46658" y="216057"/>
            <a:ext cx="8312264" cy="155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6600" b="1" dirty="0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Fuentes de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77304" y="1173536"/>
            <a:ext cx="7581618" cy="155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6600" b="1" dirty="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47152" y="3487320"/>
            <a:ext cx="9688696" cy="5353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s-CL" sz="2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s-CL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Energía abierta.cl  </a:t>
            </a:r>
          </a:p>
          <a:p>
            <a:r>
              <a:rPr lang="es-CL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 descargan los precios eléctricos marginales por barra, por hora y por mes.  </a:t>
            </a:r>
            <a:endParaRPr lang="es-C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CL" sz="2800" dirty="0">
                <a:solidFill>
                  <a:srgbClr val="000000"/>
                </a:solidFill>
                <a:latin typeface="Consolas" panose="020B0609020204030204" pitchFamily="49" charset="0"/>
              </a:rPr>
              <a:t>Se encuentran listados en </a:t>
            </a:r>
            <a:r>
              <a:rPr lang="es-CL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csv</a:t>
            </a:r>
            <a:r>
              <a:rPr lang="es-CL" sz="2800" dirty="0">
                <a:solidFill>
                  <a:srgbClr val="000000"/>
                </a:solidFill>
                <a:latin typeface="Consolas" panose="020B0609020204030204" pitchFamily="49" charset="0"/>
              </a:rPr>
              <a:t> por mes.    </a:t>
            </a:r>
          </a:p>
          <a:p>
            <a:pPr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2800" dirty="0">
                <a:solidFill>
                  <a:srgbClr val="0451A5"/>
                </a:solidFill>
                <a:latin typeface="Consolas" panose="020B0609020204030204" pitchFamily="49" charset="0"/>
              </a:rPr>
              <a:t>2.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National solar radiation data base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(https://nsrdb.nlr.gov/data-viewer)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Datos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meteorológicos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s-C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Se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combinaron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ambas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fuentes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para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construir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una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base de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análisis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única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es-CL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">
            <a:extLst>
              <a:ext uri="{FF2B5EF4-FFF2-40B4-BE49-F238E27FC236}">
                <a16:creationId xmlns:a16="http://schemas.microsoft.com/office/drawing/2014/main" id="{EEB481C6-0879-9CD7-CDB9-A6F97F4DA75D}"/>
              </a:ext>
            </a:extLst>
          </p:cNvPr>
          <p:cNvSpPr/>
          <p:nvPr/>
        </p:nvSpPr>
        <p:spPr>
          <a:xfrm>
            <a:off x="14423933" y="3035436"/>
            <a:ext cx="3611782" cy="6938830"/>
          </a:xfrm>
          <a:prstGeom prst="roundRect">
            <a:avLst>
              <a:gd name="adj" fmla="val 11275"/>
            </a:avLst>
          </a:prstGeom>
          <a:solidFill>
            <a:srgbClr val="D1FAE5"/>
          </a:solidFill>
          <a:ln w="76200">
            <a:solidFill>
              <a:srgbClr val="243141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E828498-2817-41E4-0789-2D49368CE587}"/>
              </a:ext>
            </a:extLst>
          </p:cNvPr>
          <p:cNvSpPr/>
          <p:nvPr/>
        </p:nvSpPr>
        <p:spPr>
          <a:xfrm>
            <a:off x="10441792" y="3036311"/>
            <a:ext cx="3709491" cy="6937955"/>
          </a:xfrm>
          <a:prstGeom prst="roundRect">
            <a:avLst>
              <a:gd name="adj" fmla="val 11275"/>
            </a:avLst>
          </a:prstGeom>
          <a:solidFill>
            <a:srgbClr val="D1FAE5"/>
          </a:solidFill>
          <a:ln w="76200">
            <a:solidFill>
              <a:srgbClr val="243141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302A29F-2E41-4A0B-3BA3-F7E8EC9B409E}"/>
              </a:ext>
            </a:extLst>
          </p:cNvPr>
          <p:cNvSpPr/>
          <p:nvPr/>
        </p:nvSpPr>
        <p:spPr>
          <a:xfrm>
            <a:off x="6350941" y="3022274"/>
            <a:ext cx="3692107" cy="6937955"/>
          </a:xfrm>
          <a:prstGeom prst="roundRect">
            <a:avLst>
              <a:gd name="adj" fmla="val 11275"/>
            </a:avLst>
          </a:prstGeom>
          <a:solidFill>
            <a:srgbClr val="D1FAE5"/>
          </a:solidFill>
          <a:ln w="76200">
            <a:solidFill>
              <a:srgbClr val="243141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B07F72FE-7E51-C164-16B4-5D5153FBC72C}"/>
              </a:ext>
            </a:extLst>
          </p:cNvPr>
          <p:cNvSpPr/>
          <p:nvPr/>
        </p:nvSpPr>
        <p:spPr>
          <a:xfrm>
            <a:off x="729717" y="2957616"/>
            <a:ext cx="3692107" cy="6937955"/>
          </a:xfrm>
          <a:prstGeom prst="roundRect">
            <a:avLst>
              <a:gd name="adj" fmla="val 11275"/>
            </a:avLst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rgbClr val="243141"/>
            </a:solidFill>
          </a:ln>
          <a:effectLst>
            <a:outerShdw blurRad="285750" dist="133350" dir="5400000" algn="bl" rotWithShape="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94F1F749-F0C5-49F3-EC2E-71DE86CDB78C}"/>
              </a:ext>
            </a:extLst>
          </p:cNvPr>
          <p:cNvSpPr txBox="1"/>
          <p:nvPr/>
        </p:nvSpPr>
        <p:spPr>
          <a:xfrm>
            <a:off x="1174929" y="-674503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Variables del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modelo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3576A46-4B44-19C8-177B-90AD3F0A333B}"/>
              </a:ext>
            </a:extLst>
          </p:cNvPr>
          <p:cNvSpPr txBox="1"/>
          <p:nvPr/>
        </p:nvSpPr>
        <p:spPr>
          <a:xfrm>
            <a:off x="8437232" y="1619830"/>
            <a:ext cx="14041768" cy="54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2800" b="1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 Dataset con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datos</a:t>
            </a:r>
            <a:r>
              <a:rPr lang="en-US" sz="2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meteorológicos</a:t>
            </a:r>
            <a:endParaRPr lang="es-CL" sz="28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BEE5651-2921-F4FB-913D-0BC3173AB50C}"/>
              </a:ext>
            </a:extLst>
          </p:cNvPr>
          <p:cNvSpPr txBox="1"/>
          <p:nvPr/>
        </p:nvSpPr>
        <p:spPr>
          <a:xfrm>
            <a:off x="6595583" y="2303950"/>
            <a:ext cx="3351868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s-CL" sz="2400" b="1" dirty="0">
                <a:solidFill>
                  <a:srgbClr val="243141"/>
                </a:solidFill>
                <a:latin typeface="Inter"/>
                <a:ea typeface="Inter"/>
                <a:cs typeface="Inter"/>
                <a:sym typeface="Inter"/>
              </a:rPr>
              <a:t>Variables temporales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0202210-DD60-5A88-8C7E-220E2F3A5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BB9F851B-EEA7-ABEA-0886-C2EAF1DC4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715" y="3393732"/>
            <a:ext cx="158595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L" altLang="es-CL" sz="2800" b="1" dirty="0" err="1">
                <a:solidFill>
                  <a:srgbClr val="27251E"/>
                </a:solidFill>
              </a:rPr>
              <a:t>Year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Month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Day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Hour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Minute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0C29BFD6-D948-73A6-3003-72C2FE5B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2542" y="3227266"/>
            <a:ext cx="3398741" cy="6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Aerosol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Op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 Depth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Clearsky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 DNI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Clearsky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 GHI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DHI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Clearsky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 DHI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DNI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GHI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Solar Zenith Angle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SSA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Surface Albedo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Ozone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Alpha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Asymmetry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Cloud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Type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Cloud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Fill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</a:rPr>
              <a:t>Flag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D7BDBACD-BF87-3630-656D-D6D463714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782" y="3227266"/>
            <a:ext cx="3237105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Temperature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Dew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 Point</a:t>
            </a: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Relative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Humidity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Pressure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Precipitable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Water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Wind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Direction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Wind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Speed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Fill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 </a:t>
            </a:r>
            <a:r>
              <a:rPr kumimoji="0" lang="es-CL" altLang="es-CL" sz="2800" b="1" i="0" u="none" strike="noStrike" cap="none" normalizeH="0" baseline="0" dirty="0" err="1">
                <a:ln>
                  <a:noFill/>
                </a:ln>
                <a:solidFill>
                  <a:srgbClr val="27251E"/>
                </a:solidFill>
                <a:effectLst/>
                <a:latin typeface="+mj-lt"/>
              </a:rPr>
              <a:t>Flag</a:t>
            </a: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rgbClr val="27251E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183D8CA-9EFD-1421-716D-C2BFE3A4AE5D}"/>
              </a:ext>
            </a:extLst>
          </p:cNvPr>
          <p:cNvSpPr txBox="1"/>
          <p:nvPr/>
        </p:nvSpPr>
        <p:spPr>
          <a:xfrm>
            <a:off x="14561754" y="2378208"/>
            <a:ext cx="533400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s-CL" sz="2400" b="1" dirty="0">
                <a:solidFill>
                  <a:srgbClr val="243141"/>
                </a:solidFill>
                <a:latin typeface="Inter"/>
                <a:ea typeface="Inter"/>
                <a:cs typeface="Inter"/>
                <a:sym typeface="Inter"/>
              </a:rPr>
              <a:t>Variables atmosféricas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183A12D-AA62-55EF-DDBB-2C8BBAF83534}"/>
              </a:ext>
            </a:extLst>
          </p:cNvPr>
          <p:cNvSpPr txBox="1"/>
          <p:nvPr/>
        </p:nvSpPr>
        <p:spPr>
          <a:xfrm>
            <a:off x="10903873" y="2280910"/>
            <a:ext cx="3104376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s-CL" sz="2400" b="1" dirty="0">
                <a:solidFill>
                  <a:srgbClr val="243141"/>
                </a:solidFill>
                <a:latin typeface="Inter"/>
                <a:ea typeface="Inter"/>
                <a:cs typeface="Inter"/>
                <a:sym typeface="Inter"/>
              </a:rPr>
              <a:t>Variables radiación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574FF42-42FD-FAB7-FE47-113AA358926B}"/>
              </a:ext>
            </a:extLst>
          </p:cNvPr>
          <p:cNvSpPr txBox="1"/>
          <p:nvPr/>
        </p:nvSpPr>
        <p:spPr>
          <a:xfrm>
            <a:off x="979597" y="2226592"/>
            <a:ext cx="3351868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s-CL" sz="2400" b="1" dirty="0">
                <a:solidFill>
                  <a:srgbClr val="243141"/>
                </a:solidFill>
                <a:latin typeface="Inter"/>
                <a:ea typeface="Inter"/>
                <a:cs typeface="Inter"/>
                <a:sym typeface="Inter"/>
              </a:rPr>
              <a:t>Variables temporales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9A686455-72A3-6D48-329B-314D35EB3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20" y="3287070"/>
            <a:ext cx="2655666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Fecha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L" altLang="es-CL" sz="2800" b="1" dirty="0">
                <a:solidFill>
                  <a:srgbClr val="27251E"/>
                </a:solidFill>
              </a:rPr>
              <a:t>Año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Mes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L" altLang="es-CL" sz="2800" b="1" dirty="0">
                <a:solidFill>
                  <a:srgbClr val="27251E"/>
                </a:solidFill>
              </a:rPr>
              <a:t>D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ía	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Hora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Barra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Tensión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L" altLang="es-CL" sz="2800" b="1" dirty="0">
                <a:solidFill>
                  <a:srgbClr val="27251E"/>
                </a:solidFill>
              </a:rPr>
              <a:t>V</a:t>
            </a: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rgbClr val="27251E"/>
                </a:solidFill>
                <a:effectLst/>
              </a:rPr>
              <a:t>alor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C1F6363-F409-7C32-795B-C2AF1C1B6577}"/>
              </a:ext>
            </a:extLst>
          </p:cNvPr>
          <p:cNvSpPr txBox="1"/>
          <p:nvPr/>
        </p:nvSpPr>
        <p:spPr>
          <a:xfrm>
            <a:off x="1083597" y="1619830"/>
            <a:ext cx="3962400" cy="54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2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1. Dataset </a:t>
            </a:r>
            <a:r>
              <a:rPr lang="en-US" sz="2800" b="1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precios</a:t>
            </a:r>
            <a:endParaRPr lang="es-CL" sz="28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86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6120806" y="0"/>
            <a:ext cx="2167194" cy="2167194"/>
          </a:xfrm>
          <a:custGeom>
            <a:avLst/>
            <a:gdLst/>
            <a:ahLst/>
            <a:cxnLst/>
            <a:rect l="l" t="t" r="r" b="b"/>
            <a:pathLst>
              <a:path w="2167194" h="2167194">
                <a:moveTo>
                  <a:pt x="0" y="0"/>
                </a:moveTo>
                <a:lnTo>
                  <a:pt x="2167194" y="0"/>
                </a:lnTo>
                <a:lnTo>
                  <a:pt x="2167194" y="2167194"/>
                </a:lnTo>
                <a:lnTo>
                  <a:pt x="0" y="2167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94F1F749-F0C5-49F3-EC2E-71DE86CDB78C}"/>
              </a:ext>
            </a:extLst>
          </p:cNvPr>
          <p:cNvSpPr txBox="1"/>
          <p:nvPr/>
        </p:nvSpPr>
        <p:spPr>
          <a:xfrm>
            <a:off x="1028700" y="85992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Limpieza</a:t>
            </a:r>
            <a:r>
              <a:rPr lang="en-US" sz="48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</a:t>
            </a:r>
            <a:r>
              <a:rPr lang="en-US" sz="48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datos</a:t>
            </a:r>
            <a:endParaRPr lang="en-US" sz="48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D948A0-511F-ADAD-9965-7E64FBE2FE12}"/>
              </a:ext>
            </a:extLst>
          </p:cNvPr>
          <p:cNvSpPr txBox="1"/>
          <p:nvPr/>
        </p:nvSpPr>
        <p:spPr>
          <a:xfrm>
            <a:off x="1631745" y="2224976"/>
            <a:ext cx="14041768" cy="286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unificaron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archivos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mensuales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una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sola base (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precio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corrigieron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fechas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nombres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barras y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formatos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inconsistentes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eliminaron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columnas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no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relevantes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análisis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valores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nulos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filtraron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registros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incompletos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integraron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las variables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meteorológicas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precio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8EB63A-C7AE-0EC4-9FCA-ED46B7B9C1BC}"/>
              </a:ext>
            </a:extLst>
          </p:cNvPr>
          <p:cNvSpPr txBox="1"/>
          <p:nvPr/>
        </p:nvSpPr>
        <p:spPr>
          <a:xfrm>
            <a:off x="12725400" y="5367654"/>
            <a:ext cx="4876800" cy="175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*Este valor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tiene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sentido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porque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cuando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hay </a:t>
            </a:r>
            <a:r>
              <a:rPr lang="en-US" sz="2400" b="1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más</a:t>
            </a:r>
            <a:r>
              <a:rPr lang="en-US" sz="2400" b="1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radiación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se genera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más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precio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2400" b="1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cero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F7501C8-4C38-E141-7ED3-CDB9CC8F2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086016"/>
            <a:ext cx="10363200" cy="5039106"/>
          </a:xfrm>
          <a:prstGeom prst="rect">
            <a:avLst/>
          </a:prstGeom>
        </p:spPr>
      </p:pic>
      <p:sp>
        <p:nvSpPr>
          <p:cNvPr id="15" name="Freeform 8">
            <a:extLst>
              <a:ext uri="{FF2B5EF4-FFF2-40B4-BE49-F238E27FC236}">
                <a16:creationId xmlns:a16="http://schemas.microsoft.com/office/drawing/2014/main" id="{BB2FBD0B-DCE2-A2D4-1957-D68162D2E95C}"/>
              </a:ext>
            </a:extLst>
          </p:cNvPr>
          <p:cNvSpPr/>
          <p:nvPr/>
        </p:nvSpPr>
        <p:spPr>
          <a:xfrm>
            <a:off x="7010400" y="1010176"/>
            <a:ext cx="1085511" cy="1036170"/>
          </a:xfrm>
          <a:custGeom>
            <a:avLst/>
            <a:gdLst/>
            <a:ahLst/>
            <a:cxnLst/>
            <a:rect l="l" t="t" r="r" b="b"/>
            <a:pathLst>
              <a:path w="1085511" h="1036170">
                <a:moveTo>
                  <a:pt x="0" y="0"/>
                </a:moveTo>
                <a:lnTo>
                  <a:pt x="1085511" y="0"/>
                </a:lnTo>
                <a:lnTo>
                  <a:pt x="1085511" y="1036170"/>
                </a:lnTo>
                <a:lnTo>
                  <a:pt x="0" y="1036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94ED7F0-315D-7C22-4187-3EB253C81008}"/>
              </a:ext>
            </a:extLst>
          </p:cNvPr>
          <p:cNvSpPr txBox="1"/>
          <p:nvPr/>
        </p:nvSpPr>
        <p:spPr>
          <a:xfrm rot="16200000">
            <a:off x="11000006" y="6320538"/>
            <a:ext cx="163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0" dirty="0">
                <a:solidFill>
                  <a:srgbClr val="3C8F44"/>
                </a:solidFill>
                <a:effectLst/>
                <a:highlight>
                  <a:srgbClr val="FFFFFF"/>
                </a:highlight>
                <a:latin typeface="Noto Sans" panose="020B0502040204020203" pitchFamily="34" charset="0"/>
              </a:rPr>
              <a:t>USD/MWh</a:t>
            </a:r>
            <a:endParaRPr lang="es-CL" sz="1200" dirty="0">
              <a:solidFill>
                <a:srgbClr val="3C8F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18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8603" y="6210300"/>
            <a:ext cx="8950467" cy="3079848"/>
            <a:chOff x="0" y="0"/>
            <a:chExt cx="2357325" cy="811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811153"/>
            </a:xfrm>
            <a:custGeom>
              <a:avLst/>
              <a:gdLst/>
              <a:ahLst/>
              <a:cxnLst/>
              <a:rect l="l" t="t" r="r" b="b"/>
              <a:pathLst>
                <a:path w="2357325" h="811153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780014"/>
                  </a:lnTo>
                  <a:cubicBezTo>
                    <a:pt x="2357325" y="788273"/>
                    <a:pt x="2354044" y="796193"/>
                    <a:pt x="2348204" y="802033"/>
                  </a:cubicBezTo>
                  <a:cubicBezTo>
                    <a:pt x="2342365" y="807873"/>
                    <a:pt x="2334444" y="811153"/>
                    <a:pt x="2326186" y="811153"/>
                  </a:cubicBezTo>
                  <a:lnTo>
                    <a:pt x="31139" y="811153"/>
                  </a:lnTo>
                  <a:cubicBezTo>
                    <a:pt x="22880" y="811153"/>
                    <a:pt x="14960" y="807873"/>
                    <a:pt x="9120" y="802033"/>
                  </a:cubicBezTo>
                  <a:cubicBezTo>
                    <a:pt x="3281" y="796193"/>
                    <a:pt x="0" y="788273"/>
                    <a:pt x="0" y="780014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849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25557116-38D2-3087-3D43-719D546B2076}"/>
              </a:ext>
            </a:extLst>
          </p:cNvPr>
          <p:cNvSpPr txBox="1"/>
          <p:nvPr/>
        </p:nvSpPr>
        <p:spPr>
          <a:xfrm>
            <a:off x="1219200" y="-438075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0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Análisis</a:t>
            </a:r>
            <a:r>
              <a:rPr lang="en-US" sz="40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variables</a:t>
            </a:r>
            <a:endParaRPr lang="en-US" sz="40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22E6E-5A4F-4191-6613-128A4DB81C4D}"/>
              </a:ext>
            </a:extLst>
          </p:cNvPr>
          <p:cNvSpPr txBox="1"/>
          <p:nvPr/>
        </p:nvSpPr>
        <p:spPr>
          <a:xfrm>
            <a:off x="1524000" y="1683369"/>
            <a:ext cx="15544800" cy="105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GHI - </a:t>
            </a:r>
            <a:r>
              <a:rPr lang="es-CL" sz="2800" b="1" i="0" dirty="0">
                <a:solidFill>
                  <a:srgbClr val="27251E"/>
                </a:solidFill>
                <a:effectLst/>
              </a:rPr>
              <a:t>Global Horizontal </a:t>
            </a:r>
            <a:r>
              <a:rPr lang="es-CL" sz="2800" b="1" i="0" dirty="0" err="1">
                <a:solidFill>
                  <a:srgbClr val="27251E"/>
                </a:solidFill>
                <a:effectLst/>
              </a:rPr>
              <a:t>Irradiance</a:t>
            </a:r>
            <a:r>
              <a:rPr lang="es-CL" sz="2800" dirty="0">
                <a:solidFill>
                  <a:srgbClr val="27251E"/>
                </a:solidFill>
              </a:rPr>
              <a:t> (I</a:t>
            </a:r>
            <a:r>
              <a:rPr lang="es-CL" sz="2800" b="1" i="0" dirty="0">
                <a:solidFill>
                  <a:srgbClr val="27251E"/>
                </a:solidFill>
                <a:effectLst/>
              </a:rPr>
              <a:t>rradiancia horizontal global)</a:t>
            </a:r>
            <a:r>
              <a:rPr lang="es-CL" sz="2800" b="0" i="0" dirty="0">
                <a:solidFill>
                  <a:srgbClr val="27251E"/>
                </a:solidFill>
                <a:effectLst/>
              </a:rPr>
              <a:t> </a:t>
            </a:r>
            <a:r>
              <a:rPr lang="es-CL" sz="2800" dirty="0">
                <a:solidFill>
                  <a:srgbClr val="27251E"/>
                </a:solidFill>
              </a:rPr>
              <a:t>m</a:t>
            </a:r>
            <a:r>
              <a:rPr lang="es-CL" sz="2800" b="0" i="0" dirty="0">
                <a:solidFill>
                  <a:srgbClr val="27251E"/>
                </a:solidFill>
                <a:effectLst/>
              </a:rPr>
              <a:t>ide la cantidad total de radiación solar que recibe una superficie horizontal (</a:t>
            </a:r>
            <a:r>
              <a:rPr lang="es-CL" sz="2800" b="1" i="0" dirty="0">
                <a:solidFill>
                  <a:srgbClr val="27251E"/>
                </a:solidFill>
                <a:effectLst/>
              </a:rPr>
              <a:t>W/m²)</a:t>
            </a:r>
            <a:endParaRPr lang="es-CL" sz="2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66D95B-7212-38C6-E34D-179B5D3FF292}"/>
              </a:ext>
            </a:extLst>
          </p:cNvPr>
          <p:cNvSpPr txBox="1"/>
          <p:nvPr/>
        </p:nvSpPr>
        <p:spPr>
          <a:xfrm>
            <a:off x="1600199" y="8267700"/>
            <a:ext cx="16028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i="0" dirty="0">
                <a:solidFill>
                  <a:srgbClr val="27251E"/>
                </a:solidFill>
                <a:effectLst/>
                <a:latin typeface="+mj-lt"/>
              </a:rPr>
              <a:t>Distribución asimétrica</a:t>
            </a:r>
            <a:r>
              <a:rPr lang="es-CL" sz="2400" b="0" i="0" dirty="0">
                <a:solidFill>
                  <a:srgbClr val="27251E"/>
                </a:solidFill>
                <a:effectLst/>
                <a:latin typeface="+mj-lt"/>
              </a:rPr>
              <a:t>, con una gran concentración de valores bajos y una cola larga hacia valores altos</a:t>
            </a:r>
          </a:p>
          <a:p>
            <a:r>
              <a:rPr lang="es-CL" sz="2400" dirty="0">
                <a:solidFill>
                  <a:srgbClr val="27251E"/>
                </a:solidFill>
                <a:latin typeface="+mj-lt"/>
              </a:rPr>
              <a:t>P</a:t>
            </a:r>
            <a:r>
              <a:rPr lang="es-CL" sz="2400" b="0" i="0" dirty="0">
                <a:solidFill>
                  <a:srgbClr val="27251E"/>
                </a:solidFill>
                <a:effectLst/>
                <a:latin typeface="+mj-lt"/>
              </a:rPr>
              <a:t>or la noche o en condiciones muy bajas, GHI cae cerca de cero, y durante las horas centrales aumenta mucho.</a:t>
            </a:r>
            <a:endParaRPr lang="es-CL" sz="2400" dirty="0"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33C2CA-0B92-E746-81CE-860EC2B1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2910379"/>
            <a:ext cx="12031649" cy="50400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53200" y="6425586"/>
            <a:ext cx="8950467" cy="3079848"/>
            <a:chOff x="0" y="0"/>
            <a:chExt cx="2357325" cy="811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811153"/>
            </a:xfrm>
            <a:custGeom>
              <a:avLst/>
              <a:gdLst/>
              <a:ahLst/>
              <a:cxnLst/>
              <a:rect l="l" t="t" r="r" b="b"/>
              <a:pathLst>
                <a:path w="2357325" h="811153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780014"/>
                  </a:lnTo>
                  <a:cubicBezTo>
                    <a:pt x="2357325" y="788273"/>
                    <a:pt x="2354044" y="796193"/>
                    <a:pt x="2348204" y="802033"/>
                  </a:cubicBezTo>
                  <a:cubicBezTo>
                    <a:pt x="2342365" y="807873"/>
                    <a:pt x="2334444" y="811153"/>
                    <a:pt x="2326186" y="811153"/>
                  </a:cubicBezTo>
                  <a:lnTo>
                    <a:pt x="31139" y="811153"/>
                  </a:lnTo>
                  <a:cubicBezTo>
                    <a:pt x="22880" y="811153"/>
                    <a:pt x="14960" y="807873"/>
                    <a:pt x="9120" y="802033"/>
                  </a:cubicBezTo>
                  <a:cubicBezTo>
                    <a:pt x="3281" y="796193"/>
                    <a:pt x="0" y="788273"/>
                    <a:pt x="0" y="780014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  <a:ln>
              <a:solidFill>
                <a:srgbClr val="D1FAE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849253"/>
            </a:xfrm>
            <a:prstGeom prst="rect">
              <a:avLst/>
            </a:prstGeom>
            <a:ln>
              <a:solidFill>
                <a:srgbClr val="D1FAE5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25557116-38D2-3087-3D43-719D546B2076}"/>
              </a:ext>
            </a:extLst>
          </p:cNvPr>
          <p:cNvSpPr txBox="1"/>
          <p:nvPr/>
        </p:nvSpPr>
        <p:spPr>
          <a:xfrm>
            <a:off x="1219200" y="-438075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0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Análisis</a:t>
            </a:r>
            <a:r>
              <a:rPr lang="en-US" sz="40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variables</a:t>
            </a:r>
            <a:endParaRPr lang="en-US" sz="40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22E6E-5A4F-4191-6613-128A4DB81C4D}"/>
              </a:ext>
            </a:extLst>
          </p:cNvPr>
          <p:cNvSpPr txBox="1"/>
          <p:nvPr/>
        </p:nvSpPr>
        <p:spPr>
          <a:xfrm>
            <a:off x="1524000" y="1683369"/>
            <a:ext cx="155448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Temperatura</a:t>
            </a:r>
            <a:r>
              <a:rPr lang="en-US" sz="2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grados</a:t>
            </a:r>
            <a:r>
              <a:rPr lang="en-US" sz="2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celcius</a:t>
            </a:r>
            <a:r>
              <a:rPr lang="en-US" sz="2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CL" sz="28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66D95B-7212-38C6-E34D-179B5D3FF292}"/>
              </a:ext>
            </a:extLst>
          </p:cNvPr>
          <p:cNvSpPr txBox="1"/>
          <p:nvPr/>
        </p:nvSpPr>
        <p:spPr>
          <a:xfrm>
            <a:off x="1898983" y="8215058"/>
            <a:ext cx="16028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dirty="0">
                <a:solidFill>
                  <a:srgbClr val="27251E"/>
                </a:solidFill>
                <a:effectLst/>
                <a:latin typeface="+mj-lt"/>
              </a:rPr>
              <a:t>La variable temperatura presenta una distribución amplia, con valores más frecuentes entre 16 y 25, y un centro alrededor de 19. Calor </a:t>
            </a:r>
            <a:r>
              <a:rPr lang="es-CL" sz="2400" dirty="0"/>
              <a:t>de día y frío intenso de noche.</a:t>
            </a:r>
            <a:endParaRPr lang="es-CL" sz="2400" dirty="0"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0F952BE-9B2C-073B-8171-681D8C2D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84" y="2321490"/>
            <a:ext cx="13150516" cy="569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71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CEC5B89-D958-0778-0503-65C0630FE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19100"/>
            <a:ext cx="11582400" cy="9672907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5557116-38D2-3087-3D43-719D546B2076}"/>
              </a:ext>
            </a:extLst>
          </p:cNvPr>
          <p:cNvSpPr txBox="1"/>
          <p:nvPr/>
        </p:nvSpPr>
        <p:spPr>
          <a:xfrm>
            <a:off x="1219200" y="-438075"/>
            <a:ext cx="12158866" cy="190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4000" b="1" dirty="0" err="1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Análisis</a:t>
            </a:r>
            <a:r>
              <a:rPr lang="en-US" sz="4000" b="1" dirty="0">
                <a:solidFill>
                  <a:srgbClr val="1F1F1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/>
                <a:sym typeface="Montserrat Bold"/>
              </a:rPr>
              <a:t> de variables</a:t>
            </a:r>
            <a:endParaRPr lang="en-US" sz="40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22E6E-5A4F-4191-6613-128A4DB81C4D}"/>
              </a:ext>
            </a:extLst>
          </p:cNvPr>
          <p:cNvSpPr txBox="1"/>
          <p:nvPr/>
        </p:nvSpPr>
        <p:spPr>
          <a:xfrm>
            <a:off x="2286000" y="1553606"/>
            <a:ext cx="155448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8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Matriz</a:t>
            </a:r>
            <a:r>
              <a:rPr lang="en-US" sz="28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8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correlación</a:t>
            </a:r>
            <a:endParaRPr lang="es-CL" sz="28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23E3AD5-7691-0865-7159-FDA5CB76ACE4}"/>
              </a:ext>
            </a:extLst>
          </p:cNvPr>
          <p:cNvSpPr/>
          <p:nvPr/>
        </p:nvSpPr>
        <p:spPr>
          <a:xfrm>
            <a:off x="15544800" y="433137"/>
            <a:ext cx="914400" cy="990600"/>
          </a:xfrm>
          <a:prstGeom prst="ellipse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1085C90-DE50-AEDE-69E0-59B5258E30B0}"/>
              </a:ext>
            </a:extLst>
          </p:cNvPr>
          <p:cNvSpPr/>
          <p:nvPr/>
        </p:nvSpPr>
        <p:spPr>
          <a:xfrm>
            <a:off x="7499159" y="4001147"/>
            <a:ext cx="882841" cy="685153"/>
          </a:xfrm>
          <a:prstGeom prst="ellipse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12BDD34-1E78-1EA8-81CD-B9B9133EFA4F}"/>
              </a:ext>
            </a:extLst>
          </p:cNvPr>
          <p:cNvSpPr/>
          <p:nvPr/>
        </p:nvSpPr>
        <p:spPr>
          <a:xfrm>
            <a:off x="6858000" y="571500"/>
            <a:ext cx="1752600" cy="990600"/>
          </a:xfrm>
          <a:prstGeom prst="ellipse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13F587B-9738-9A04-B099-F5DA4A50AC6C}"/>
              </a:ext>
            </a:extLst>
          </p:cNvPr>
          <p:cNvSpPr/>
          <p:nvPr/>
        </p:nvSpPr>
        <p:spPr>
          <a:xfrm>
            <a:off x="15544800" y="4076700"/>
            <a:ext cx="882841" cy="685153"/>
          </a:xfrm>
          <a:prstGeom prst="ellipse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11E30AF-4222-7D55-0D09-32C588920BCF}"/>
              </a:ext>
            </a:extLst>
          </p:cNvPr>
          <p:cNvSpPr txBox="1"/>
          <p:nvPr/>
        </p:nvSpPr>
        <p:spPr>
          <a:xfrm>
            <a:off x="762000" y="2688006"/>
            <a:ext cx="16028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dirty="0">
                <a:solidFill>
                  <a:srgbClr val="27251E"/>
                </a:solidFill>
                <a:effectLst/>
                <a:latin typeface="+mj-lt"/>
              </a:rPr>
              <a:t>DNI, GHI son medidas de radiación colineales.</a:t>
            </a:r>
            <a:endParaRPr lang="es-CL" sz="2400" dirty="0">
              <a:latin typeface="+mj-l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FEA18D-BD91-79CA-8203-95D12F3918FC}"/>
              </a:ext>
            </a:extLst>
          </p:cNvPr>
          <p:cNvSpPr txBox="1"/>
          <p:nvPr/>
        </p:nvSpPr>
        <p:spPr>
          <a:xfrm>
            <a:off x="737937" y="3558912"/>
            <a:ext cx="6272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dirty="0">
                <a:effectLst/>
                <a:highlight>
                  <a:srgbClr val="FFFFFF"/>
                </a:highlight>
                <a:latin typeface="+mj-lt"/>
              </a:rPr>
              <a:t> </a:t>
            </a:r>
            <a:r>
              <a:rPr lang="es-CL" sz="2400" b="0" dirty="0" err="1">
                <a:effectLst/>
                <a:highlight>
                  <a:srgbClr val="FFFFFF"/>
                </a:highlight>
                <a:latin typeface="+mj-lt"/>
              </a:rPr>
              <a:t>Pressure</a:t>
            </a:r>
            <a:r>
              <a:rPr lang="es-CL" sz="2400" dirty="0">
                <a:highlight>
                  <a:srgbClr val="FFFFFF"/>
                </a:highlight>
                <a:latin typeface="+mj-lt"/>
              </a:rPr>
              <a:t> y </a:t>
            </a:r>
            <a:r>
              <a:rPr lang="es-CL" sz="2400" b="0" dirty="0">
                <a:effectLst/>
                <a:highlight>
                  <a:srgbClr val="FFFFFF"/>
                </a:highlight>
                <a:latin typeface="+mj-lt"/>
              </a:rPr>
              <a:t>Precipitable </a:t>
            </a:r>
            <a:r>
              <a:rPr lang="es-CL" sz="2400" b="0" dirty="0" err="1">
                <a:effectLst/>
                <a:highlight>
                  <a:srgbClr val="FFFFFF"/>
                </a:highlight>
                <a:latin typeface="+mj-lt"/>
              </a:rPr>
              <a:t>Water</a:t>
            </a:r>
            <a:r>
              <a:rPr lang="es-CL" sz="2400" dirty="0">
                <a:highlight>
                  <a:srgbClr val="FFFFFF"/>
                </a:highlight>
                <a:latin typeface="+mj-lt"/>
              </a:rPr>
              <a:t> </a:t>
            </a:r>
            <a:r>
              <a:rPr lang="es-CL" sz="2400" b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s-CL" sz="2400" dirty="0">
                <a:highlight>
                  <a:srgbClr val="FFFFFF"/>
                </a:highlight>
                <a:latin typeface="+mj-lt"/>
              </a:rPr>
              <a:t>n</a:t>
            </a:r>
            <a:r>
              <a:rPr lang="es-CL" sz="2400" b="0" dirty="0">
                <a:effectLst/>
                <a:highlight>
                  <a:srgbClr val="FFFFFF"/>
                </a:highlight>
                <a:latin typeface="+mj-lt"/>
              </a:rPr>
              <a:t>o parecen ser relevantes para predecir el valor.</a:t>
            </a:r>
          </a:p>
        </p:txBody>
      </p:sp>
    </p:spTree>
    <p:extLst>
      <p:ext uri="{BB962C8B-B14F-4D97-AF65-F5344CB8AC3E}">
        <p14:creationId xmlns:p14="http://schemas.microsoft.com/office/powerpoint/2010/main" val="2804309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3400" y="8548381"/>
            <a:ext cx="19354800" cy="1801769"/>
            <a:chOff x="0" y="0"/>
            <a:chExt cx="2076034" cy="811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6034" cy="811153"/>
            </a:xfrm>
            <a:custGeom>
              <a:avLst/>
              <a:gdLst/>
              <a:ahLst/>
              <a:cxnLst/>
              <a:rect l="l" t="t" r="r" b="b"/>
              <a:pathLst>
                <a:path w="2076034" h="811153">
                  <a:moveTo>
                    <a:pt x="35358" y="0"/>
                  </a:moveTo>
                  <a:lnTo>
                    <a:pt x="2040675" y="0"/>
                  </a:lnTo>
                  <a:cubicBezTo>
                    <a:pt x="2060203" y="0"/>
                    <a:pt x="2076034" y="15830"/>
                    <a:pt x="2076034" y="35358"/>
                  </a:cubicBezTo>
                  <a:lnTo>
                    <a:pt x="2076034" y="775795"/>
                  </a:lnTo>
                  <a:cubicBezTo>
                    <a:pt x="2076034" y="795323"/>
                    <a:pt x="2060203" y="811153"/>
                    <a:pt x="2040675" y="811153"/>
                  </a:cubicBezTo>
                  <a:lnTo>
                    <a:pt x="35358" y="811153"/>
                  </a:lnTo>
                  <a:cubicBezTo>
                    <a:pt x="15830" y="811153"/>
                    <a:pt x="0" y="795323"/>
                    <a:pt x="0" y="775795"/>
                  </a:cubicBezTo>
                  <a:lnTo>
                    <a:pt x="0" y="35358"/>
                  </a:lnTo>
                  <a:cubicBezTo>
                    <a:pt x="0" y="15830"/>
                    <a:pt x="15830" y="0"/>
                    <a:pt x="3535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6034" cy="849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-190500"/>
            <a:ext cx="7882440" cy="151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Modelos</a:t>
            </a:r>
            <a:endParaRPr lang="en-US" sz="54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91479" y="619471"/>
            <a:ext cx="9467121" cy="1517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Supervisados</a:t>
            </a:r>
            <a:endParaRPr lang="en-US" sz="5400" b="1" dirty="0">
              <a:solidFill>
                <a:srgbClr val="10B98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6025" y="2440311"/>
            <a:ext cx="15621000" cy="1593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varios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regresión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endParaRPr lang="en-US" sz="24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Linear Regression, Ridge, Lasso, Random Forest, Gradient Boosting y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XGBoost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probaron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dos sets de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datos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dos dataset, uno con 5000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registros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otro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9500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registros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28779B3-6DD1-3869-E19A-72AE35D50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953" y="4715095"/>
            <a:ext cx="6632423" cy="3674598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AF1E7058-43DE-1133-1B28-9A653E5C49DA}"/>
              </a:ext>
            </a:extLst>
          </p:cNvPr>
          <p:cNvSpPr/>
          <p:nvPr/>
        </p:nvSpPr>
        <p:spPr>
          <a:xfrm>
            <a:off x="9169400" y="6780034"/>
            <a:ext cx="7162800" cy="503776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A03E7F-D111-A6FD-9EAF-B8095C210B7E}"/>
              </a:ext>
            </a:extLst>
          </p:cNvPr>
          <p:cNvSpPr txBox="1"/>
          <p:nvPr/>
        </p:nvSpPr>
        <p:spPr>
          <a:xfrm>
            <a:off x="3158821" y="4152901"/>
            <a:ext cx="3657600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 14 variables</a:t>
            </a:r>
            <a:endParaRPr lang="es-CL" sz="24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184783-FAD5-9899-B377-CF2B11367362}"/>
              </a:ext>
            </a:extLst>
          </p:cNvPr>
          <p:cNvSpPr txBox="1"/>
          <p:nvPr/>
        </p:nvSpPr>
        <p:spPr>
          <a:xfrm>
            <a:off x="11633200" y="4195811"/>
            <a:ext cx="3657600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 7 variables</a:t>
            </a:r>
            <a:endParaRPr lang="es-CL" sz="24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726584F-243E-9439-C15A-1BFDECA33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25" y="4715095"/>
            <a:ext cx="6632423" cy="3625967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A4503DE6-1D93-9113-1991-83E22E18A7C2}"/>
              </a:ext>
            </a:extLst>
          </p:cNvPr>
          <p:cNvSpPr/>
          <p:nvPr/>
        </p:nvSpPr>
        <p:spPr>
          <a:xfrm>
            <a:off x="1016000" y="6780034"/>
            <a:ext cx="6928327" cy="503776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1ACD792-9151-DE21-5CFB-DE54CE6586CF}"/>
              </a:ext>
            </a:extLst>
          </p:cNvPr>
          <p:cNvSpPr txBox="1"/>
          <p:nvPr/>
        </p:nvSpPr>
        <p:spPr>
          <a:xfrm>
            <a:off x="1241425" y="8782825"/>
            <a:ext cx="16690975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Luego se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realizó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un Pipeline con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distintos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distintos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iperparámetros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 luego un Grid Cross Validation.</a:t>
            </a:r>
            <a:endParaRPr lang="en-US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XGBBoost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b="1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MinMaxSc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aler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fue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mejor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desempeño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general, con un r2 de 0.88.</a:t>
            </a:r>
            <a:endParaRPr lang="en-US" sz="2400" b="1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2546351"/>
            <a:ext cx="14706600" cy="3740149"/>
            <a:chOff x="0" y="0"/>
            <a:chExt cx="2076034" cy="811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6034" cy="811153"/>
            </a:xfrm>
            <a:custGeom>
              <a:avLst/>
              <a:gdLst/>
              <a:ahLst/>
              <a:cxnLst/>
              <a:rect l="l" t="t" r="r" b="b"/>
              <a:pathLst>
                <a:path w="2076034" h="811153">
                  <a:moveTo>
                    <a:pt x="35358" y="0"/>
                  </a:moveTo>
                  <a:lnTo>
                    <a:pt x="2040675" y="0"/>
                  </a:lnTo>
                  <a:cubicBezTo>
                    <a:pt x="2060203" y="0"/>
                    <a:pt x="2076034" y="15830"/>
                    <a:pt x="2076034" y="35358"/>
                  </a:cubicBezTo>
                  <a:lnTo>
                    <a:pt x="2076034" y="775795"/>
                  </a:lnTo>
                  <a:cubicBezTo>
                    <a:pt x="2076034" y="795323"/>
                    <a:pt x="2060203" y="811153"/>
                    <a:pt x="2040675" y="811153"/>
                  </a:cubicBezTo>
                  <a:lnTo>
                    <a:pt x="35358" y="811153"/>
                  </a:lnTo>
                  <a:cubicBezTo>
                    <a:pt x="15830" y="811153"/>
                    <a:pt x="0" y="795323"/>
                    <a:pt x="0" y="775795"/>
                  </a:cubicBezTo>
                  <a:lnTo>
                    <a:pt x="0" y="35358"/>
                  </a:lnTo>
                  <a:cubicBezTo>
                    <a:pt x="0" y="15830"/>
                    <a:pt x="15830" y="0"/>
                    <a:pt x="3535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6034" cy="849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-190500"/>
            <a:ext cx="7882440" cy="151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Modelos</a:t>
            </a:r>
            <a:endParaRPr lang="en-US" sz="54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91479" y="619471"/>
            <a:ext cx="9467121" cy="1517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Supervisados</a:t>
            </a:r>
            <a:endParaRPr lang="en-US" sz="5400" b="1" dirty="0">
              <a:solidFill>
                <a:srgbClr val="10B98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2771091"/>
            <a:ext cx="14097000" cy="7627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Ejemplo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Random Forest, para un 1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con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estos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parámetros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sz="24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Temperature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17.20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Hour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'Aerosol 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Optical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Depth'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0.08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Dew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Point'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9.70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'DHI'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'DNI'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'GHI'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'Relative 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Humidity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61.16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'Solar Zenith Angle'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133.50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Pressure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880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'Precipitable 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Water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1.50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Wind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s-CL" sz="2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Direction</a:t>
            </a:r>
            <a:r>
              <a:rPr lang="es-CL" sz="2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s-CL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359</a:t>
            </a:r>
            <a:endParaRPr lang="es-CL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s-CL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s-CL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 precio de la electricidad es de </a:t>
            </a:r>
            <a:r>
              <a:rPr lang="es-CL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67.19 USD/MWh</a:t>
            </a:r>
          </a:p>
          <a:p>
            <a:endParaRPr lang="es-CL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4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400" b="1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4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069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2705100"/>
            <a:ext cx="9067800" cy="3978324"/>
            <a:chOff x="0" y="0"/>
            <a:chExt cx="2076034" cy="811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6034" cy="811153"/>
            </a:xfrm>
            <a:custGeom>
              <a:avLst/>
              <a:gdLst/>
              <a:ahLst/>
              <a:cxnLst/>
              <a:rect l="l" t="t" r="r" b="b"/>
              <a:pathLst>
                <a:path w="2076034" h="811153">
                  <a:moveTo>
                    <a:pt x="35358" y="0"/>
                  </a:moveTo>
                  <a:lnTo>
                    <a:pt x="2040675" y="0"/>
                  </a:lnTo>
                  <a:cubicBezTo>
                    <a:pt x="2060203" y="0"/>
                    <a:pt x="2076034" y="15830"/>
                    <a:pt x="2076034" y="35358"/>
                  </a:cubicBezTo>
                  <a:lnTo>
                    <a:pt x="2076034" y="775795"/>
                  </a:lnTo>
                  <a:cubicBezTo>
                    <a:pt x="2076034" y="795323"/>
                    <a:pt x="2060203" y="811153"/>
                    <a:pt x="2040675" y="811153"/>
                  </a:cubicBezTo>
                  <a:lnTo>
                    <a:pt x="35358" y="811153"/>
                  </a:lnTo>
                  <a:cubicBezTo>
                    <a:pt x="15830" y="811153"/>
                    <a:pt x="0" y="795323"/>
                    <a:pt x="0" y="775795"/>
                  </a:cubicBezTo>
                  <a:lnTo>
                    <a:pt x="0" y="35358"/>
                  </a:lnTo>
                  <a:cubicBezTo>
                    <a:pt x="0" y="15830"/>
                    <a:pt x="15830" y="0"/>
                    <a:pt x="3535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6034" cy="849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860094"/>
            <a:ext cx="8078704" cy="2087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aplicó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Kmeans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explorar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grupos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naturales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dentro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datos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Este paso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ayudó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observar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existían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patrones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similares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entre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observaciones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propósito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fue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principalmente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exploratorio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EA6C2B7-6375-AD4A-D45B-77494BAD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814449"/>
            <a:ext cx="8039100" cy="5943600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8712890A-EE72-5FC3-4C0C-F6ACBF6CF4D7}"/>
              </a:ext>
            </a:extLst>
          </p:cNvPr>
          <p:cNvSpPr txBox="1"/>
          <p:nvPr/>
        </p:nvSpPr>
        <p:spPr>
          <a:xfrm>
            <a:off x="1028700" y="-190500"/>
            <a:ext cx="7882440" cy="151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</a:t>
            </a:r>
            <a:endParaRPr lang="en-US" sz="54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A981613-F069-0305-6EFC-9A350F41A458}"/>
              </a:ext>
            </a:extLst>
          </p:cNvPr>
          <p:cNvSpPr txBox="1"/>
          <p:nvPr/>
        </p:nvSpPr>
        <p:spPr>
          <a:xfrm>
            <a:off x="2191479" y="619471"/>
            <a:ext cx="9467121" cy="1517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</a:t>
            </a:r>
            <a:r>
              <a:rPr lang="en-US" sz="54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supervisado</a:t>
            </a:r>
            <a:endParaRPr lang="en-US" sz="5400" b="1" dirty="0">
              <a:solidFill>
                <a:srgbClr val="10B98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83D2504-FDD9-45C8-B8BE-D66C6A2E7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768763"/>
            <a:ext cx="12194204" cy="18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15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3932E5-ABAE-9F92-B3E9-707F95CB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1" y="2552700"/>
            <a:ext cx="11582400" cy="5663699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465C6DA9-B631-0D86-B3CD-80A8286B717D}"/>
              </a:ext>
            </a:extLst>
          </p:cNvPr>
          <p:cNvSpPr txBox="1"/>
          <p:nvPr/>
        </p:nvSpPr>
        <p:spPr>
          <a:xfrm>
            <a:off x="1028700" y="-190500"/>
            <a:ext cx="7882440" cy="151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</a:t>
            </a:r>
            <a:endParaRPr lang="en-US" sz="54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7C4B44EF-E9FD-02C8-626F-A8E2607C1C89}"/>
              </a:ext>
            </a:extLst>
          </p:cNvPr>
          <p:cNvSpPr txBox="1"/>
          <p:nvPr/>
        </p:nvSpPr>
        <p:spPr>
          <a:xfrm>
            <a:off x="2191479" y="619471"/>
            <a:ext cx="9467121" cy="1517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5400" b="1" dirty="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</a:t>
            </a:r>
            <a:r>
              <a:rPr lang="en-US" sz="54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supervisado</a:t>
            </a:r>
            <a:endParaRPr lang="en-US" sz="5400" b="1" dirty="0">
              <a:solidFill>
                <a:srgbClr val="10B98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DF76FBB-C955-5504-A329-5C2B495E4089}"/>
              </a:ext>
            </a:extLst>
          </p:cNvPr>
          <p:cNvSpPr txBox="1"/>
          <p:nvPr/>
        </p:nvSpPr>
        <p:spPr>
          <a:xfrm>
            <a:off x="1752600" y="8473158"/>
            <a:ext cx="15316200" cy="1673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Se </a:t>
            </a:r>
            <a:r>
              <a:rPr lang="es-CL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modificó</a:t>
            </a:r>
            <a:r>
              <a:rPr lang="en-US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s-CL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s-CL" sz="24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dataset</a:t>
            </a:r>
            <a:r>
              <a:rPr lang="es-CL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, donde cada fila es un día, y las columnas son las 24h del día con su precio </a:t>
            </a:r>
            <a:r>
              <a:rPr lang="en-US" sz="24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s-CL" sz="2400" b="1" i="0" dirty="0">
                <a:solidFill>
                  <a:srgbClr val="27251E"/>
                </a:solidFill>
                <a:effectLst/>
              </a:rPr>
              <a:t>(207, 24)</a:t>
            </a:r>
            <a:r>
              <a:rPr lang="es-CL" sz="2400" b="0" i="0" dirty="0">
                <a:solidFill>
                  <a:srgbClr val="27251E"/>
                </a:solidFill>
                <a:effectLst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400" dirty="0">
                <a:solidFill>
                  <a:srgbClr val="27251E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“Etiqueto” cada mes con su tipo de día más representativo (resume la diversidad de días en un solo patrón).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CL" sz="2400" dirty="0">
                <a:solidFill>
                  <a:srgbClr val="27251E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Ayuda a la toma de decisiones para saber cuándo comprar.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4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45E99BA-B6BC-2BD7-9E52-EB1AB71FBC6F}"/>
              </a:ext>
            </a:extLst>
          </p:cNvPr>
          <p:cNvCxnSpPr>
            <a:cxnSpLocks/>
          </p:cNvCxnSpPr>
          <p:nvPr/>
        </p:nvCxnSpPr>
        <p:spPr>
          <a:xfrm>
            <a:off x="8763000" y="6210300"/>
            <a:ext cx="0" cy="824918"/>
          </a:xfrm>
          <a:prstGeom prst="straightConnector1">
            <a:avLst/>
          </a:prstGeom>
          <a:ln w="57150">
            <a:solidFill>
              <a:srgbClr val="4A7E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D917D17-FBF7-A73E-8D00-0B0EC9E7C41F}"/>
              </a:ext>
            </a:extLst>
          </p:cNvPr>
          <p:cNvSpPr txBox="1"/>
          <p:nvPr/>
        </p:nvSpPr>
        <p:spPr>
          <a:xfrm>
            <a:off x="7391400" y="5540850"/>
            <a:ext cx="2743199" cy="461665"/>
          </a:xfrm>
          <a:prstGeom prst="rect">
            <a:avLst/>
          </a:prstGeom>
          <a:ln>
            <a:solidFill>
              <a:srgbClr val="4A7EB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4A7EBB"/>
                </a:solidFill>
              </a:rPr>
              <a:t>Compro</a:t>
            </a:r>
            <a:r>
              <a:rPr lang="en-US" sz="2400" b="1" dirty="0">
                <a:solidFill>
                  <a:srgbClr val="4A7EBB"/>
                </a:solidFill>
              </a:rPr>
              <a:t> y </a:t>
            </a:r>
            <a:r>
              <a:rPr lang="en-US" sz="2400" b="1" dirty="0" err="1">
                <a:solidFill>
                  <a:srgbClr val="4A7EBB"/>
                </a:solidFill>
              </a:rPr>
              <a:t>almaceno</a:t>
            </a:r>
            <a:endParaRPr lang="es-CL" sz="2400" b="1" dirty="0">
              <a:solidFill>
                <a:srgbClr val="4A7EBB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49862AE-D8C7-F43A-3B49-BD0B65C5B00F}"/>
              </a:ext>
            </a:extLst>
          </p:cNvPr>
          <p:cNvCxnSpPr>
            <a:cxnSpLocks/>
          </p:cNvCxnSpPr>
          <p:nvPr/>
        </p:nvCxnSpPr>
        <p:spPr>
          <a:xfrm flipH="1">
            <a:off x="6858000" y="4229100"/>
            <a:ext cx="533400" cy="609600"/>
          </a:xfrm>
          <a:prstGeom prst="straightConnector1">
            <a:avLst/>
          </a:prstGeom>
          <a:ln w="57150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0E8E9EE-2085-AEBB-77EA-DEA85B8F0310}"/>
              </a:ext>
            </a:extLst>
          </p:cNvPr>
          <p:cNvSpPr txBox="1"/>
          <p:nvPr/>
        </p:nvSpPr>
        <p:spPr>
          <a:xfrm>
            <a:off x="7467600" y="3573173"/>
            <a:ext cx="3352800" cy="461665"/>
          </a:xfrm>
          <a:prstGeom prst="rect">
            <a:avLst/>
          </a:prstGeom>
          <a:ln>
            <a:solidFill>
              <a:srgbClr val="10B98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r>
              <a:rPr lang="en-US" sz="2400" b="1" dirty="0" err="1">
                <a:solidFill>
                  <a:srgbClr val="10B981"/>
                </a:solidFill>
              </a:rPr>
              <a:t>Uso</a:t>
            </a:r>
            <a:r>
              <a:rPr lang="en-US" sz="2400" b="1" dirty="0">
                <a:solidFill>
                  <a:srgbClr val="10B981"/>
                </a:solidFill>
              </a:rPr>
              <a:t> </a:t>
            </a:r>
            <a:r>
              <a:rPr lang="en-US" sz="2400" b="1" dirty="0" err="1">
                <a:solidFill>
                  <a:srgbClr val="10B981"/>
                </a:solidFill>
              </a:rPr>
              <a:t>energía</a:t>
            </a:r>
            <a:r>
              <a:rPr lang="en-US" sz="2400" b="1" dirty="0">
                <a:solidFill>
                  <a:srgbClr val="10B981"/>
                </a:solidFill>
              </a:rPr>
              <a:t> </a:t>
            </a:r>
            <a:r>
              <a:rPr lang="en-US" sz="2400" b="1" dirty="0" err="1">
                <a:solidFill>
                  <a:srgbClr val="10B981"/>
                </a:solidFill>
              </a:rPr>
              <a:t>almacenada</a:t>
            </a:r>
            <a:endParaRPr lang="es-CL" sz="2400" b="1" dirty="0">
              <a:solidFill>
                <a:srgbClr val="10B981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D904411-5ABA-BCE6-3E69-D87A3C32236A}"/>
              </a:ext>
            </a:extLst>
          </p:cNvPr>
          <p:cNvCxnSpPr>
            <a:cxnSpLocks/>
          </p:cNvCxnSpPr>
          <p:nvPr/>
        </p:nvCxnSpPr>
        <p:spPr>
          <a:xfrm>
            <a:off x="10654214" y="4219575"/>
            <a:ext cx="762000" cy="609600"/>
          </a:xfrm>
          <a:prstGeom prst="straightConnector1">
            <a:avLst/>
          </a:prstGeom>
          <a:ln w="57150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99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71712" y="342590"/>
            <a:ext cx="1604666" cy="1604666"/>
          </a:xfrm>
          <a:custGeom>
            <a:avLst/>
            <a:gdLst/>
            <a:ahLst/>
            <a:cxnLst/>
            <a:rect l="l" t="t" r="r" b="b"/>
            <a:pathLst>
              <a:path w="1604666" h="1604666">
                <a:moveTo>
                  <a:pt x="0" y="0"/>
                </a:moveTo>
                <a:lnTo>
                  <a:pt x="1604666" y="0"/>
                </a:lnTo>
                <a:lnTo>
                  <a:pt x="1604666" y="1604666"/>
                </a:lnTo>
                <a:lnTo>
                  <a:pt x="0" y="1604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26334" y="1018524"/>
            <a:ext cx="7882440" cy="1536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6000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  <a:endParaRPr lang="en-US" sz="6000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8383" y="3567052"/>
            <a:ext cx="15383217" cy="5772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 Forest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obtuvo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menor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error entre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evaluados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forma simple. Los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lineales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quedaron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debajo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capacidad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predictiva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en-US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Luego con Pipeline y CV,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mejor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fue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XGBoost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un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MinMax</a:t>
            </a:r>
            <a:r>
              <a:rPr lang="en-US" sz="2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Scaler,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fue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final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elegido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un R2 de 0.88.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resultados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muestran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clima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aporta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señal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útil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explicar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costo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sí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es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posible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construir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un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útil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anticipar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costo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sz="24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análisis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Kmeans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nos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obtener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una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curva ‘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tipo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’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cada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sirva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apoyo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la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toma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decisiones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cuándo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es un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buen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momento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comprar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/vender </a:t>
            </a:r>
            <a:r>
              <a:rPr lang="en-US" sz="2400" dirty="0" err="1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energía</a:t>
            </a: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es-CL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CL" sz="18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30A494B1-7890-DC82-6C3D-8566E74CCF3B}"/>
              </a:ext>
            </a:extLst>
          </p:cNvPr>
          <p:cNvSpPr/>
          <p:nvPr/>
        </p:nvSpPr>
        <p:spPr>
          <a:xfrm>
            <a:off x="519707" y="704681"/>
            <a:ext cx="708676" cy="880484"/>
          </a:xfrm>
          <a:custGeom>
            <a:avLst/>
            <a:gdLst/>
            <a:ahLst/>
            <a:cxnLst/>
            <a:rect l="l" t="t" r="r" b="b"/>
            <a:pathLst>
              <a:path w="1017986" h="1040692">
                <a:moveTo>
                  <a:pt x="0" y="0"/>
                </a:moveTo>
                <a:lnTo>
                  <a:pt x="1017986" y="0"/>
                </a:lnTo>
                <a:lnTo>
                  <a:pt x="1017986" y="1040692"/>
                </a:lnTo>
                <a:lnTo>
                  <a:pt x="0" y="1040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0639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905007" y="1028700"/>
            <a:ext cx="3776383" cy="3055437"/>
          </a:xfrm>
          <a:custGeom>
            <a:avLst/>
            <a:gdLst/>
            <a:ahLst/>
            <a:cxnLst/>
            <a:rect l="l" t="t" r="r" b="b"/>
            <a:pathLst>
              <a:path w="3776383" h="3055437">
                <a:moveTo>
                  <a:pt x="0" y="0"/>
                </a:moveTo>
                <a:lnTo>
                  <a:pt x="3776383" y="0"/>
                </a:lnTo>
                <a:lnTo>
                  <a:pt x="3776383" y="3055437"/>
                </a:lnTo>
                <a:lnTo>
                  <a:pt x="0" y="3055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805793"/>
            <a:ext cx="8312264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1" dirty="0" err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Muchas</a:t>
            </a:r>
            <a:endParaRPr lang="en-US" sz="12999" b="1" dirty="0">
              <a:solidFill>
                <a:srgbClr val="1F1F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4383458"/>
            <a:ext cx="9389750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1" dirty="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E8D476E2-9171-322D-23F0-D252F91580C9}"/>
              </a:ext>
            </a:extLst>
          </p:cNvPr>
          <p:cNvGrpSpPr/>
          <p:nvPr/>
        </p:nvGrpSpPr>
        <p:grpSpPr>
          <a:xfrm>
            <a:off x="9369038" y="1759239"/>
            <a:ext cx="6533216" cy="6347969"/>
            <a:chOff x="0" y="0"/>
            <a:chExt cx="836519" cy="8128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4EB20E6-5F8D-BC00-FF5E-90C60360E1DE}"/>
                </a:ext>
              </a:extLst>
            </p:cNvPr>
            <p:cNvSpPr/>
            <p:nvPr/>
          </p:nvSpPr>
          <p:spPr>
            <a:xfrm>
              <a:off x="0" y="0"/>
              <a:ext cx="836519" cy="812800"/>
            </a:xfrm>
            <a:custGeom>
              <a:avLst/>
              <a:gdLst/>
              <a:ahLst/>
              <a:cxnLst/>
              <a:rect l="l" t="t" r="r" b="b"/>
              <a:pathLst>
                <a:path w="836519" h="812800">
                  <a:moveTo>
                    <a:pt x="418260" y="0"/>
                  </a:moveTo>
                  <a:cubicBezTo>
                    <a:pt x="187261" y="0"/>
                    <a:pt x="0" y="181951"/>
                    <a:pt x="0" y="406400"/>
                  </a:cubicBezTo>
                  <a:cubicBezTo>
                    <a:pt x="0" y="630849"/>
                    <a:pt x="187261" y="812800"/>
                    <a:pt x="418260" y="812800"/>
                  </a:cubicBezTo>
                  <a:cubicBezTo>
                    <a:pt x="649258" y="812800"/>
                    <a:pt x="836519" y="630849"/>
                    <a:pt x="836519" y="406400"/>
                  </a:cubicBezTo>
                  <a:cubicBezTo>
                    <a:pt x="836519" y="181951"/>
                    <a:pt x="649258" y="0"/>
                    <a:pt x="418260" y="0"/>
                  </a:cubicBezTo>
                  <a:close/>
                </a:path>
              </a:pathLst>
            </a:custGeom>
            <a:blipFill>
              <a:blip r:embed="rId4"/>
              <a:stretch>
                <a:fillRect l="-15763" r="-4550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806DBC08-5AD8-9E8E-84DE-1C7F57AE951C}"/>
              </a:ext>
            </a:extLst>
          </p:cNvPr>
          <p:cNvSpPr/>
          <p:nvPr/>
        </p:nvSpPr>
        <p:spPr>
          <a:xfrm>
            <a:off x="13868400" y="5338372"/>
            <a:ext cx="4529875" cy="3187384"/>
          </a:xfrm>
          <a:custGeom>
            <a:avLst/>
            <a:gdLst/>
            <a:ahLst/>
            <a:cxnLst/>
            <a:rect l="l" t="t" r="r" b="b"/>
            <a:pathLst>
              <a:path w="4529875" h="3187384">
                <a:moveTo>
                  <a:pt x="0" y="0"/>
                </a:moveTo>
                <a:lnTo>
                  <a:pt x="4529874" y="0"/>
                </a:lnTo>
                <a:lnTo>
                  <a:pt x="4529874" y="3187384"/>
                </a:lnTo>
                <a:lnTo>
                  <a:pt x="0" y="318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1412</Words>
  <Application>Microsoft Office PowerPoint</Application>
  <PresentationFormat>Personalizado</PresentationFormat>
  <Paragraphs>205</Paragraphs>
  <Slides>20</Slides>
  <Notes>5</Notes>
  <HiddenSlides>0</HiddenSlides>
  <MMClips>1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4" baseType="lpstr">
      <vt:lpstr>MS Mincho</vt:lpstr>
      <vt:lpstr>Trebuchet MS</vt:lpstr>
      <vt:lpstr>Inter</vt:lpstr>
      <vt:lpstr>Noto Sans</vt:lpstr>
      <vt:lpstr>Arial</vt:lpstr>
      <vt:lpstr>Inter Bold</vt:lpstr>
      <vt:lpstr>Symbol</vt:lpstr>
      <vt:lpstr>Montserrat Bold</vt:lpstr>
      <vt:lpstr>Consolas</vt:lpstr>
      <vt:lpstr>Calibri</vt:lpstr>
      <vt:lpstr>Bahnschrift SemiLight SemiConde</vt:lpstr>
      <vt:lpstr>Inter Italics</vt:lpstr>
      <vt:lpstr>Microsoft YaHei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Modern Data Analysis Presentation</dc:title>
  <cp:lastModifiedBy>Alan Pino</cp:lastModifiedBy>
  <cp:revision>51</cp:revision>
  <dcterms:created xsi:type="dcterms:W3CDTF">2006-08-16T00:00:00Z</dcterms:created>
  <dcterms:modified xsi:type="dcterms:W3CDTF">2026-05-05T07:15:23Z</dcterms:modified>
  <dc:identifier>DAHIhHRYU_w</dc:identifier>
</cp:coreProperties>
</file>